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89" r:id="rId3"/>
    <p:sldId id="257" r:id="rId4"/>
    <p:sldId id="258" r:id="rId5"/>
    <p:sldId id="259" r:id="rId6"/>
    <p:sldId id="265" r:id="rId7"/>
    <p:sldId id="261" r:id="rId8"/>
    <p:sldId id="290" r:id="rId9"/>
    <p:sldId id="291" r:id="rId10"/>
    <p:sldId id="263" r:id="rId11"/>
    <p:sldId id="264" r:id="rId12"/>
    <p:sldId id="292" r:id="rId13"/>
    <p:sldId id="266" r:id="rId14"/>
    <p:sldId id="267" r:id="rId15"/>
    <p:sldId id="268" r:id="rId16"/>
    <p:sldId id="269" r:id="rId17"/>
    <p:sldId id="270" r:id="rId18"/>
    <p:sldId id="271" r:id="rId19"/>
    <p:sldId id="273" r:id="rId20"/>
    <p:sldId id="274" r:id="rId21"/>
    <p:sldId id="276" r:id="rId22"/>
    <p:sldId id="260" r:id="rId23"/>
    <p:sldId id="277" r:id="rId24"/>
    <p:sldId id="278" r:id="rId25"/>
    <p:sldId id="280" r:id="rId26"/>
    <p:sldId id="281" r:id="rId27"/>
    <p:sldId id="283" r:id="rId28"/>
    <p:sldId id="284" r:id="rId29"/>
    <p:sldId id="286" r:id="rId30"/>
    <p:sldId id="287" r:id="rId31"/>
    <p:sldId id="288"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784"/>
    <p:restoredTop sz="76599"/>
  </p:normalViewPr>
  <p:slideViewPr>
    <p:cSldViewPr snapToGrid="0" snapToObjects="1">
      <p:cViewPr varScale="1">
        <p:scale>
          <a:sx n="96" d="100"/>
          <a:sy n="96" d="100"/>
        </p:scale>
        <p:origin x="1016" y="176"/>
      </p:cViewPr>
      <p:guideLst>
        <p:guide orient="horz" pos="2160"/>
        <p:guide pos="2880"/>
      </p:guideLst>
    </p:cSldViewPr>
  </p:slideViewPr>
  <p:notesTextViewPr>
    <p:cViewPr>
      <p:scale>
        <a:sx n="100" d="100"/>
        <a:sy n="100" d="100"/>
      </p:scale>
      <p:origin x="0" y="-592"/>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631281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[Constraints] Global Rules &amp; Color System</a:t>
            </a:r>
          </a:p>
          <a:p>
            <a:endParaRPr lang="en-US" dirty="0">
              <a:solidFill>
                <a:srgbClr val="FFFFFF"/>
              </a:solidFill>
              <a:latin typeface="Calibri"/>
            </a:endParaRPr>
          </a:p>
          <a:p>
            <a:r>
              <a:rPr lang="en-US" dirty="0">
                <a:solidFill>
                  <a:srgbClr val="FFFFFF"/>
                </a:solidFill>
                <a:latin typeface="Calibri"/>
              </a:rPr>
              <a:t>Primitive component catalog. Always load.</a:t>
            </a:r>
          </a:p>
          <a:p>
            <a:endParaRPr lang="en-US" dirty="0">
              <a:solidFill>
                <a:srgbClr val="FFFFFF"/>
              </a:solidFill>
              <a:latin typeface="Calibri"/>
            </a:endParaRPr>
          </a:p>
          <a:p>
            <a:r>
              <a:rPr lang="en-US" dirty="0">
                <a:solidFill>
                  <a:srgbClr val="FFFFFF"/>
                </a:solidFill>
                <a:latin typeface="Calibri"/>
              </a:rPr>
              <a:t>Always start from the slide's purpose — what should the viewer understand or feel? Choose components and styles that serve that purpose.</a:t>
            </a:r>
          </a:p>
          <a:p>
            <a:endParaRPr lang="en-US" dirty="0">
              <a:solidFill>
                <a:srgbClr val="FFFFFF"/>
              </a:solidFill>
              <a:latin typeface="Calibri"/>
            </a:endParaRPr>
          </a:p>
          <a:p>
            <a:r>
              <a:rPr lang="en-US" dirty="0">
                <a:solidFill>
                  <a:srgbClr val="FFFFFF"/>
                </a:solidFill>
                <a:latin typeface="Calibri"/>
              </a:rPr>
              <a:t>Each component starts with its essence, then "Let's build this." — a walkthrough of the thinking behind the sample. Follow the reasoning, not the specific values.</a:t>
            </a:r>
          </a:p>
          <a:p>
            <a:endParaRPr lang="en-US" dirty="0">
              <a:solidFill>
                <a:srgbClr val="FFFFFF"/>
              </a:solidFill>
              <a:latin typeface="Calibri"/>
            </a:endParaRPr>
          </a:p>
          <a:p>
            <a:r>
              <a:rPr lang="en-US" dirty="0">
                <a:solidFill>
                  <a:srgbClr val="FFFFFF"/>
                </a:solidFill>
                <a:latin typeface="Calibri"/>
              </a:rPr>
              <a:t>Constraints:</a:t>
            </a:r>
          </a:p>
          <a:p>
            <a:r>
              <a:rPr lang="en-US" dirty="0">
                <a:solidFill>
                  <a:srgbClr val="FFFFFF"/>
                </a:solidFill>
                <a:latin typeface="Calibri"/>
              </a:rPr>
              <a:t>- You SHOULD vary component styles across slides — do NOT reuse the same design repeatedly</a:t>
            </a:r>
          </a:p>
          <a:p>
            <a:r>
              <a:rPr lang="en-US" dirty="0">
                <a:solidFill>
                  <a:srgbClr val="FFFFFF"/>
                </a:solidFill>
                <a:latin typeface="Calibri"/>
              </a:rPr>
              <a:t>- You MUST adjust colors for light/dark theme</a:t>
            </a:r>
          </a:p>
          <a:p>
            <a:r>
              <a:rPr lang="en-US" dirty="0">
                <a:solidFill>
                  <a:srgbClr val="FFFFFF"/>
                </a:solidFill>
                <a:latin typeface="Calibri"/>
              </a:rPr>
              <a:t>- You MUST NOT use textbox </a:t>
            </a:r>
            <a:r>
              <a:rPr lang="en-US" dirty="0" err="1">
                <a:solidFill>
                  <a:srgbClr val="FFFFFF"/>
                </a:solidFill>
                <a:latin typeface="Calibri"/>
              </a:rPr>
              <a:t>verticalAlign</a:t>
            </a:r>
            <a:r>
              <a:rPr lang="en-US" dirty="0">
                <a:solidFill>
                  <a:srgbClr val="FFFFFF"/>
                </a:solidFill>
                <a:latin typeface="Calibri"/>
              </a:rPr>
              <a:t> for vertical centering — use shape text + </a:t>
            </a:r>
            <a:r>
              <a:rPr lang="en-US" dirty="0" err="1">
                <a:solidFill>
                  <a:srgbClr val="FFFFFF"/>
                </a:solidFill>
                <a:latin typeface="Calibri"/>
              </a:rPr>
              <a:t>verticalAlign</a:t>
            </a:r>
            <a:r>
              <a:rPr lang="en-US" dirty="0">
                <a:solidFill>
                  <a:srgbClr val="FFFFFF"/>
                </a:solidFill>
                <a:latin typeface="Calibri"/>
              </a:rPr>
              <a:t>: "middle" or manual y calculation instead</a:t>
            </a:r>
          </a:p>
          <a:p>
            <a:r>
              <a:rPr lang="en-US" dirty="0">
                <a:solidFill>
                  <a:srgbClr val="FFFFFF"/>
                </a:solidFill>
                <a:latin typeface="Calibri"/>
              </a:rPr>
              <a:t>- You MUST specify height on textboxes — text auto-shrinks to fit. Guide: 1 line = </a:t>
            </a:r>
            <a:r>
              <a:rPr lang="en-US" dirty="0" err="1">
                <a:solidFill>
                  <a:srgbClr val="FFFFFF"/>
                </a:solidFill>
                <a:latin typeface="Calibri"/>
              </a:rPr>
              <a:t>fontSize</a:t>
            </a:r>
            <a:r>
              <a:rPr lang="en-US" dirty="0">
                <a:solidFill>
                  <a:srgbClr val="FFFFFF"/>
                </a:solidFill>
                <a:latin typeface="Calibri"/>
              </a:rPr>
              <a:t> × 3.5, multi-line = lines × </a:t>
            </a:r>
            <a:r>
              <a:rPr lang="en-US" dirty="0" err="1">
                <a:solidFill>
                  <a:srgbClr val="FFFFFF"/>
                </a:solidFill>
                <a:latin typeface="Calibri"/>
              </a:rPr>
              <a:t>fontSize</a:t>
            </a:r>
            <a:r>
              <a:rPr lang="en-US" dirty="0">
                <a:solidFill>
                  <a:srgbClr val="FFFFFF"/>
                </a:solidFill>
                <a:latin typeface="Calibri"/>
              </a:rPr>
              <a:t> × 2.7</a:t>
            </a:r>
          </a:p>
          <a:p>
            <a:r>
              <a:rPr lang="en-US" dirty="0">
                <a:solidFill>
                  <a:srgbClr val="FFFFFF"/>
                </a:solidFill>
                <a:latin typeface="Calibri"/>
              </a:rPr>
              <a:t>- You SHOULD set </a:t>
            </a:r>
            <a:r>
              <a:rPr lang="en-US" dirty="0" err="1">
                <a:solidFill>
                  <a:srgbClr val="FFFFFF"/>
                </a:solidFill>
                <a:latin typeface="Calibri"/>
              </a:rPr>
              <a:t>marginTop</a:t>
            </a:r>
            <a:r>
              <a:rPr lang="en-US" dirty="0">
                <a:solidFill>
                  <a:srgbClr val="FFFFFF"/>
                </a:solidFill>
                <a:latin typeface="Calibri"/>
              </a:rPr>
              <a:t>: 0 on textboxes when precise positioning is needed</a:t>
            </a:r>
          </a:p>
          <a:p>
            <a:endParaRPr lang="en-US" dirty="0">
              <a:solidFill>
                <a:srgbClr val="FFFFFF"/>
              </a:solidFill>
              <a:latin typeface="Calibri"/>
            </a:endParaRPr>
          </a:p>
          <a:p>
            <a:r>
              <a:rPr lang="en-US" dirty="0">
                <a:solidFill>
                  <a:srgbClr val="FFFFFF"/>
                </a:solidFill>
                <a:latin typeface="Calibri"/>
              </a:rPr>
              <a:t>Icons:</a:t>
            </a:r>
          </a:p>
          <a:p>
            <a:r>
              <a:rPr lang="en-US" dirty="0">
                <a:solidFill>
                  <a:srgbClr val="FFFFFF"/>
                </a:solidFill>
                <a:latin typeface="Calibri"/>
              </a:rPr>
              <a:t>Icons anchor the eye — viewers grasp "what this is about" before reading text. Actively search icons with icon-search and combine with components.</a:t>
            </a:r>
          </a:p>
          <a:p>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rPr lang="en-US" dirty="0">
                <a:solidFill>
                  <a:srgbClr val="FFFFFF"/>
                </a:solidFill>
                <a:latin typeface="Calibri"/>
              </a:rPr>
              <a:t>[Section] Containers — Grouping elements into visual units</a:t>
            </a:r>
          </a:p>
          <a:p>
            <a:r>
              <a:rPr lang="en-US" dirty="0">
                <a:solidFill>
                  <a:srgbClr val="FFFFFF"/>
                </a:solidFill>
                <a:latin typeface="Calibri"/>
              </a:rPr>
              <a:t>A container signals "these belong together." The strength of that signal comes from structural elements; modifiers add tone and meaning on top.</a:t>
            </a:r>
          </a:p>
          <a:p>
            <a:endParaRPr lang="en-US" dirty="0">
              <a:solidFill>
                <a:srgbClr val="FFFFFF"/>
              </a:solidFill>
              <a:latin typeface="Calibri"/>
            </a:endParaRPr>
          </a:p>
          <a:p>
            <a:r>
              <a:rPr lang="en-US" dirty="0">
                <a:solidFill>
                  <a:srgbClr val="FFFFFF"/>
                </a:solidFill>
                <a:latin typeface="Calibri"/>
              </a:rPr>
              <a:t>Structural elements — fill, border, depth (shadow/glow). Their presence or absence changes separation strength.</a:t>
            </a:r>
          </a:p>
          <a:p>
            <a:endParaRPr lang="en-US" dirty="0">
              <a:solidFill>
                <a:srgbClr val="FFFFFF"/>
              </a:solidFill>
              <a:latin typeface="Calibri"/>
            </a:endParaRPr>
          </a:p>
          <a:p>
            <a:r>
              <a:rPr lang="en-US" dirty="0">
                <a:solidFill>
                  <a:srgbClr val="FFFFFF"/>
                </a:solidFill>
                <a:latin typeface="Calibri"/>
              </a:rPr>
              <a:t>Modifiers — intensity, shape, color, gradient, dash. They ride on structural elements to shift the impression.</a:t>
            </a:r>
          </a:p>
          <a:p>
            <a:r>
              <a:rPr lang="en-US" dirty="0">
                <a:solidFill>
                  <a:srgbClr val="FFFFFF"/>
                </a:solidFill>
                <a:latin typeface="Calibri"/>
              </a:rPr>
              <a:t>These are independent axes — combine them freely. </a:t>
            </a:r>
          </a:p>
          <a:p>
            <a:endParaRPr lang="en-US" dirty="0">
              <a:solidFill>
                <a:srgbClr val="FFFFFF"/>
              </a:solidFill>
              <a:latin typeface="Calibri"/>
            </a:endParaRPr>
          </a:p>
          <a:p>
            <a:r>
              <a:rPr lang="en-US" dirty="0">
                <a:solidFill>
                  <a:srgbClr val="FFFFFF"/>
                </a:solidFill>
                <a:latin typeface="Calibri"/>
              </a:rPr>
              <a:t>Three more axes define a container: outer style (structural elements + modifiers), inner layout (how content is arranged inside), and aspect ratio. Any combination works.</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fill — Filled surface with optional shadow for cards, panels, and content regions</a:t>
            </a:r>
          </a:p>
          <a:p>
            <a:r>
              <a:rPr lang="en-US" dirty="0">
                <a:solidFill>
                  <a:srgbClr val="FFFFFF"/>
                </a:solidFill>
                <a:latin typeface="Calibri"/>
              </a:rPr>
              <a:t>Fill creates a surface — inside and outside, without drawing a line.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Independent items that each need their own space. Fill alone creates the region. Each item should feel self-contained — shadow lifts the</a:t>
            </a:r>
          </a:p>
          <a:p>
            <a:r>
              <a:rPr lang="en-US" dirty="0">
                <a:solidFill>
                  <a:srgbClr val="FFFFFF"/>
                </a:solidFill>
                <a:latin typeface="Calibri"/>
              </a:rPr>
              <a:t>card off the background, so the eye reads it as its own unit. Without shadow, fill groups without isolating.</a:t>
            </a:r>
          </a:p>
          <a:p>
            <a:endParaRPr lang="en-US" dirty="0">
              <a:solidFill>
                <a:srgbClr val="FFFFFF"/>
              </a:solidFill>
              <a:latin typeface="Calibri"/>
            </a:endParaRPr>
          </a:p>
          <a:p>
            <a:r>
              <a:rPr lang="en-US" dirty="0">
                <a:solidFill>
                  <a:srgbClr val="FFFFFF"/>
                </a:solidFill>
                <a:latin typeface="Calibri"/>
              </a:rPr>
              <a:t>Fill + shadow is already doing the separation here — border would just add noise.</a:t>
            </a:r>
          </a:p>
          <a:p>
            <a:endParaRPr lang="en-US" dirty="0">
              <a:solidFill>
                <a:srgbClr val="FFFFFF"/>
              </a:solidFill>
              <a:latin typeface="Calibri"/>
            </a:endParaRPr>
          </a:p>
          <a:p>
            <a:r>
              <a:rPr lang="en-US" dirty="0">
                <a:solidFill>
                  <a:srgbClr val="FFFFFF"/>
                </a:solidFill>
                <a:latin typeface="Calibri"/>
              </a:rPr>
              <a:t>Color on fill is the fastest category signal. These cards are the same category, so no color. Colors multiply fast — too many and the eye</a:t>
            </a:r>
          </a:p>
          <a:p>
            <a:r>
              <a:rPr lang="en-US" dirty="0">
                <a:solidFill>
                  <a:srgbClr val="FFFFFF"/>
                </a:solidFill>
                <a:latin typeface="Calibri"/>
              </a:rPr>
              <a:t>stops distinguishing categories.</a:t>
            </a:r>
          </a:p>
          <a:p>
            <a:endParaRPr lang="en-US" dirty="0">
              <a:solidFill>
                <a:srgbClr val="FFFFFF"/>
              </a:solidFill>
              <a:latin typeface="Calibri"/>
            </a:endParaRPr>
          </a:p>
          <a:p>
            <a:r>
              <a:rPr lang="en-US" dirty="0">
                <a:solidFill>
                  <a:srgbClr val="FFFFFF"/>
                </a:solidFill>
                <a:latin typeface="Calibri"/>
              </a:rPr>
              <a:t>Gradient instead of solid — gradient adds movement that solid fill lacks, the eye follows the color shift. No shadow — the gradient</a:t>
            </a:r>
          </a:p>
          <a:p>
            <a:r>
              <a:rPr lang="en-US" dirty="0">
                <a:solidFill>
                  <a:srgbClr val="FFFFFF"/>
                </a:solidFill>
                <a:latin typeface="Calibri"/>
              </a:rPr>
              <a:t>itself creates enough visual interest.</a:t>
            </a:r>
          </a:p>
          <a:p>
            <a:endParaRPr lang="en-US" dirty="0">
              <a:solidFill>
                <a:srgbClr val="FFFFFF"/>
              </a:solidFill>
              <a:latin typeface="Calibri"/>
            </a:endParaRPr>
          </a:p>
          <a:p>
            <a:r>
              <a:rPr lang="en-US" dirty="0">
                <a:solidFill>
                  <a:srgbClr val="FFFFFF"/>
                </a:solidFill>
                <a:latin typeface="Calibri"/>
              </a:rPr>
              <a:t>Raising opacity makes the card more prominent. Too high and the card competes with its own content. Extending fill to full slide width</a:t>
            </a:r>
          </a:p>
          <a:p>
            <a:r>
              <a:rPr lang="en-US" dirty="0">
                <a:solidFill>
                  <a:srgbClr val="FFFFFF"/>
                </a:solidFill>
                <a:latin typeface="Calibri"/>
              </a:rPr>
              <a:t>turns a card into a background band — page-level zone separation.</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border — Explicit boundary line. Solid, dash, or gradient</a:t>
            </a:r>
          </a:p>
          <a:p>
            <a:r>
              <a:rPr lang="en-US" dirty="0">
                <a:solidFill>
                  <a:srgbClr val="FFFFFF"/>
                </a:solidFill>
                <a:latin typeface="Calibri"/>
              </a:rPr>
              <a:t>Border draws an explicit line between inside and outside. Stronger separation than fill — the boundary is visible, not implied.</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Content that needs a clear boundary without a filled surface — border alone defines the region, inside stays transparent. Shadow would</a:t>
            </a:r>
          </a:p>
          <a:p>
            <a:r>
              <a:rPr lang="en-US" dirty="0">
                <a:solidFill>
                  <a:srgbClr val="FFFFFF"/>
                </a:solidFill>
                <a:latin typeface="Calibri"/>
              </a:rPr>
              <a:t>lift it into an independent card — here it's just a boundary marker, so no shadow.</a:t>
            </a:r>
          </a:p>
          <a:p>
            <a:endParaRPr lang="en-US" dirty="0">
              <a:solidFill>
                <a:srgbClr val="FFFFFF"/>
              </a:solidFill>
              <a:latin typeface="Calibri"/>
            </a:endParaRPr>
          </a:p>
          <a:p>
            <a:r>
              <a:rPr lang="en-US" dirty="0">
                <a:solidFill>
                  <a:srgbClr val="FFFFFF"/>
                </a:solidFill>
                <a:latin typeface="Calibri"/>
              </a:rPr>
              <a:t>Dash breaks the line and breaks the certainty — the eye reads gaps as "not final." Useful for drafts, placeholders, optional paths. On</a:t>
            </a:r>
          </a:p>
          <a:p>
            <a:r>
              <a:rPr lang="en-US" dirty="0">
                <a:solidFill>
                  <a:srgbClr val="FFFFFF"/>
                </a:solidFill>
                <a:latin typeface="Calibri"/>
              </a:rPr>
              <a:t>confirmed information, dash undermines trust.</a:t>
            </a:r>
          </a:p>
          <a:p>
            <a:endParaRPr lang="en-US" dirty="0">
              <a:solidFill>
                <a:srgbClr val="FFFFFF"/>
              </a:solidFill>
              <a:latin typeface="Calibri"/>
            </a:endParaRPr>
          </a:p>
          <a:p>
            <a:r>
              <a:rPr lang="en-US" dirty="0">
                <a:solidFill>
                  <a:srgbClr val="FFFFFF"/>
                </a:solidFill>
                <a:latin typeface="Calibri"/>
              </a:rPr>
              <a:t>Gradient border — color shift adds movement along the edge without changing the structural role.</a:t>
            </a:r>
          </a:p>
          <a:p>
            <a:endParaRPr lang="en-US" dirty="0">
              <a:solidFill>
                <a:srgbClr val="FFFFFF"/>
              </a:solidFill>
              <a:latin typeface="Calibri"/>
            </a:endParaRPr>
          </a:p>
          <a:p>
            <a:r>
              <a:rPr lang="en-US" dirty="0">
                <a:solidFill>
                  <a:srgbClr val="FFFFFF"/>
                </a:solidFill>
                <a:latin typeface="Calibri"/>
              </a:rPr>
              <a:t>Border has a strength spectrum. Alone it's light. Add fill inside and it strengthens. Add shadow on top and it becomes the strongest</a:t>
            </a:r>
          </a:p>
          <a:p>
            <a:r>
              <a:rPr lang="en-US" dirty="0">
                <a:solidFill>
                  <a:srgbClr val="FFFFFF"/>
                </a:solidFill>
                <a:latin typeface="Calibri"/>
              </a:rPr>
              <a:t>card. Thicker borders feel heavier and structural, thinner ones recede. Coloring the border creates category coding — same color across</a:t>
            </a:r>
          </a:p>
          <a:p>
            <a:r>
              <a:rPr lang="en-US" dirty="0">
                <a:solidFill>
                  <a:srgbClr val="FFFFFF"/>
                </a:solidFill>
                <a:latin typeface="Calibri"/>
              </a:rPr>
              <a:t>border, title, and keywords unifies a category.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accent-line — Single line on one edge. Anchors reading start without enclosing</a:t>
            </a:r>
          </a:p>
          <a:p>
            <a:r>
              <a:rPr lang="en-US" dirty="0">
                <a:solidFill>
                  <a:srgbClr val="FFFFFF"/>
                </a:solidFill>
                <a:latin typeface="Calibri"/>
              </a:rPr>
              <a:t>One line on one edge — the minimum mark to say "this is a unit." Open on three sides, the content breathes.</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Supplementary content that needs a visual anchor without enclosure. Full border would make it a box — boxes feel independent. This</a:t>
            </a:r>
          </a:p>
          <a:p>
            <a:r>
              <a:rPr lang="en-US" dirty="0">
                <a:solidFill>
                  <a:srgbClr val="FFFFFF"/>
                </a:solidFill>
                <a:latin typeface="Calibri"/>
              </a:rPr>
              <a:t>content is part of the surrounding narrative, just set apart. One line is enough.</a:t>
            </a:r>
          </a:p>
          <a:p>
            <a:endParaRPr lang="en-US" dirty="0">
              <a:solidFill>
                <a:srgbClr val="FFFFFF"/>
              </a:solidFill>
              <a:latin typeface="Calibri"/>
            </a:endParaRPr>
          </a:p>
          <a:p>
            <a:r>
              <a:rPr lang="en-US" dirty="0">
                <a:solidFill>
                  <a:srgbClr val="FFFFFF"/>
                </a:solidFill>
                <a:latin typeface="Calibri"/>
              </a:rPr>
              <a:t>Where the line sits changes the signal. Left accent says "start reading here." Top accent says "section header" or "category marker."</a:t>
            </a:r>
          </a:p>
          <a:p>
            <a:endParaRPr lang="en-US" dirty="0">
              <a:solidFill>
                <a:srgbClr val="FFFFFF"/>
              </a:solidFill>
              <a:latin typeface="Calibri"/>
            </a:endParaRPr>
          </a:p>
          <a:p>
            <a:r>
              <a:rPr lang="en-US" dirty="0">
                <a:solidFill>
                  <a:srgbClr val="FFFFFF"/>
                </a:solidFill>
                <a:latin typeface="Calibri"/>
              </a:rPr>
              <a:t>Thicker lines make bolder statements — push far enough and the accent line becomes a color bar. Accent color draws attention, subdued</a:t>
            </a:r>
          </a:p>
          <a:p>
            <a:r>
              <a:rPr lang="en-US" dirty="0">
                <a:solidFill>
                  <a:srgbClr val="FFFFFF"/>
                </a:solidFill>
                <a:latin typeface="Calibri"/>
              </a:rPr>
              <a:t>color marks supplementary content. Adding fill behind turns it into an accent-bordered card — the fill provides surface, the line</a:t>
            </a:r>
          </a:p>
          <a:p>
            <a:r>
              <a:rPr lang="en-US" dirty="0">
                <a:solidFill>
                  <a:srgbClr val="FFFFFF"/>
                </a:solidFill>
                <a:latin typeface="Calibri"/>
              </a:rPr>
              <a:t>provides entry point.</a:t>
            </a:r>
          </a:p>
          <a:p>
            <a:endParaRPr lang="en-US" dirty="0">
              <a:solidFill>
                <a:srgbClr val="FFFFFF"/>
              </a:solidFill>
              <a:latin typeface="Calibri"/>
            </a:endParaRPr>
          </a:p>
          <a:p>
            <a:r>
              <a:rPr lang="en-US" dirty="0">
                <a:solidFill>
                  <a:srgbClr val="FFFFFF"/>
                </a:solidFill>
                <a:latin typeface="Calibri"/>
              </a:rPr>
              <a:t>Accent line is a straight edge — pairs naturally with flat surfaces. Rounded corners curve away from the line, creating a visible gap.</a:t>
            </a:r>
          </a:p>
          <a:p>
            <a:r>
              <a:rPr lang="en-US" dirty="0">
                <a:solidFill>
                  <a:srgbClr val="FFFFFF"/>
                </a:solidFill>
                <a:latin typeface="Calibri"/>
              </a:rPr>
              <a:t>Use the shape's own border color for accent on rounded cards instead.</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brace — Curly brace for grouping. Classic consulting pattern: group items on left, conclusion on right</a:t>
            </a:r>
          </a:p>
          <a:p>
            <a:r>
              <a:rPr lang="en-US" dirty="0">
                <a:solidFill>
                  <a:srgbClr val="FFFFFF"/>
                </a:solidFill>
                <a:latin typeface="Calibri"/>
              </a:rPr>
              <a:t>Brace gathers multiple items into one conclusion — "all of these mean this."</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Multiple items that converge to a single takeaway. Brace's organic curve feels approachable. When the content is more technical, bracket</a:t>
            </a:r>
          </a:p>
          <a:p>
            <a:r>
              <a:rPr lang="en-US" dirty="0">
                <a:solidFill>
                  <a:srgbClr val="FFFFFF"/>
                </a:solidFill>
                <a:latin typeface="Calibri"/>
              </a:rPr>
              <a:t>gives a sharper edge. When even bracket feels too heavy, a simple vertical line does the grouping with minimal weight.</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whitespace — No shape, no line, no fill. Grouping through proximity alone</a:t>
            </a:r>
          </a:p>
          <a:p>
            <a:r>
              <a:rPr lang="en-US" dirty="0">
                <a:solidFill>
                  <a:srgbClr val="FFFFFF"/>
                </a:solidFill>
                <a:latin typeface="Calibri"/>
              </a:rPr>
              <a:t>The lightest container — no structural element at all. Items close together are a group, items far apart are separate. The container</a:t>
            </a:r>
          </a:p>
          <a:p>
            <a:r>
              <a:rPr lang="en-US" dirty="0">
                <a:solidFill>
                  <a:srgbClr val="FFFFFF"/>
                </a:solidFill>
                <a:latin typeface="Calibri"/>
              </a:rPr>
              <a:t>exists only in the viewer's mind.</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Key-value pairs — the relationship within each pair is obvious. Fill would imply "this is special." Border would cage the content. Even</a:t>
            </a:r>
          </a:p>
          <a:p>
            <a:r>
              <a:rPr lang="en-US" dirty="0">
                <a:solidFill>
                  <a:srgbClr val="FFFFFF"/>
                </a:solidFill>
                <a:latin typeface="Calibri"/>
              </a:rPr>
              <a:t>an accent line would add a signal that isn't needed. Proximity is enough.</a:t>
            </a:r>
          </a:p>
          <a:p>
            <a:endParaRPr lang="en-US" dirty="0">
              <a:solidFill>
                <a:srgbClr val="FFFFFF"/>
              </a:solidFill>
              <a:latin typeface="Calibri"/>
            </a:endParaRPr>
          </a:p>
          <a:p>
            <a:r>
              <a:rPr lang="en-US" dirty="0">
                <a:solidFill>
                  <a:srgbClr val="FFFFFF"/>
                </a:solidFill>
                <a:latin typeface="Calibri"/>
              </a:rPr>
              <a:t>The eye reads spacing relatively — what matters is the contrast between tight and loose, not the numbers. Too close and groups merge</a:t>
            </a:r>
          </a:p>
          <a:p>
            <a:r>
              <a:rPr lang="en-US" dirty="0">
                <a:solidFill>
                  <a:srgbClr val="FFFFFF"/>
                </a:solidFill>
                <a:latin typeface="Calibri"/>
              </a:rPr>
              <a:t>visually. Without any visual boundary, misalignment breaks the grouping fast.</a:t>
            </a:r>
          </a:p>
          <a:p>
            <a:endParaRPr lang="en-US" dirty="0">
              <a:solidFill>
                <a:srgbClr val="FFFFFF"/>
              </a:solidFill>
              <a:latin typeface="Calibri"/>
            </a:endParaRPr>
          </a:p>
          <a:p>
            <a:r>
              <a:rPr lang="en-US" dirty="0">
                <a:solidFill>
                  <a:srgbClr val="FFFFFF"/>
                </a:solidFill>
                <a:latin typeface="Calibri"/>
              </a:rPr>
              <a:t>Whitespace has its own strength dial. Spacing ratio alone is the lightest. Color contrast between label and value reinforces grouping</a:t>
            </a:r>
          </a:p>
          <a:p>
            <a:r>
              <a:rPr lang="en-US" dirty="0">
                <a:solidFill>
                  <a:srgbClr val="FFFFFF"/>
                </a:solidFill>
                <a:latin typeface="Calibri"/>
              </a:rPr>
              <a:t>without adding structure. A divider line makes separation unmistakable — still no container shape, but explicit.</a:t>
            </a:r>
          </a:p>
          <a:p>
            <a:endParaRPr lang="en-US" dirty="0">
              <a:solidFill>
                <a:srgbClr val="FFFFFF"/>
              </a:solidFill>
              <a:latin typeface="Calibri"/>
            </a:endParaRPr>
          </a:p>
          <a:p>
            <a:r>
              <a:rPr lang="en-US" dirty="0">
                <a:solidFill>
                  <a:srgbClr val="FFFFFF"/>
                </a:solidFill>
                <a:latin typeface="Calibri"/>
              </a:rPr>
              <a:t>When whitespace stops working: too many groups without any visual anchor. The eye needs a reference point — a divider or accent line.</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438150" y="457200"/>
            <a:ext cx="5981700" cy="3363913"/>
          </a:xfrm>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nested — Containers inside containers. Hierarchy through layered grouping</a:t>
            </a:r>
          </a:p>
          <a:p>
            <a:r>
              <a:rPr lang="en-US" dirty="0">
                <a:solidFill>
                  <a:srgbClr val="FFFFFF"/>
                </a:solidFill>
                <a:latin typeface="Calibri"/>
              </a:rPr>
              <a:t>Content inside a container can be another container. When information has hierarchy, a single level makes everything look flat. Outer</a:t>
            </a:r>
          </a:p>
          <a:p>
            <a:r>
              <a:rPr lang="en-US" dirty="0">
                <a:solidFill>
                  <a:srgbClr val="FFFFFF"/>
                </a:solidFill>
                <a:latin typeface="Calibri"/>
              </a:rPr>
              <a:t>creates the group, inner creates units within it.</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A category with individual items inside. The outer needs to say "zone" — fill is the most natural choice. Items inside should feel</a:t>
            </a:r>
          </a:p>
          <a:p>
            <a:r>
              <a:rPr lang="en-US" dirty="0">
                <a:solidFill>
                  <a:srgbClr val="FFFFFF"/>
                </a:solidFill>
                <a:latin typeface="Calibri"/>
              </a:rPr>
              <a:t>independent within that zone — fill + shadow to float them. Both use fill, but shadow on the inner creates the distinction.</a:t>
            </a:r>
          </a:p>
          <a:p>
            <a:endParaRPr lang="en-US" dirty="0">
              <a:solidFill>
                <a:srgbClr val="FFFFFF"/>
              </a:solidFill>
              <a:latin typeface="Calibri"/>
            </a:endParaRPr>
          </a:p>
          <a:p>
            <a:r>
              <a:rPr lang="en-US" dirty="0">
                <a:solidFill>
                  <a:srgbClr val="FFFFFF"/>
                </a:solidFill>
                <a:latin typeface="Calibri"/>
              </a:rPr>
              <a:t>For hierarchy to read, outer and inner need to look different. Same structural element with same modifiers and the levels collapse. The</a:t>
            </a:r>
          </a:p>
          <a:p>
            <a:r>
              <a:rPr lang="en-US" dirty="0">
                <a:solidFill>
                  <a:srgbClr val="FFFFFF"/>
                </a:solidFill>
                <a:latin typeface="Calibri"/>
              </a:rPr>
              <a:t>distinction can come from different elements, different modifiers, or different intensity — whatever the situation calls for.</a:t>
            </a:r>
          </a:p>
          <a:p>
            <a:endParaRPr lang="en-US" dirty="0">
              <a:solidFill>
                <a:srgbClr val="FFFFFF"/>
              </a:solidFill>
              <a:latin typeface="Calibri"/>
            </a:endParaRPr>
          </a:p>
          <a:p>
            <a:r>
              <a:rPr lang="en-US" dirty="0">
                <a:solidFill>
                  <a:srgbClr val="FFFFFF"/>
                </a:solidFill>
                <a:latin typeface="Calibri"/>
              </a:rPr>
              <a:t>Three levels of nesting and a slide starts looking like a wireframe. Two levels is usually enough.</a:t>
            </a:r>
          </a:p>
          <a:p>
            <a:endParaRPr lang="en-US" dirty="0">
              <a:solidFill>
                <a:srgbClr val="FFFFFF"/>
              </a:solidFill>
              <a:latin typeface="Calibri"/>
            </a:endParaRPr>
          </a:p>
          <a:p>
            <a:r>
              <a:rPr lang="en-US" dirty="0">
                <a:solidFill>
                  <a:srgbClr val="FFFFFF"/>
                </a:solidFill>
                <a:latin typeface="Calibri"/>
              </a:rPr>
              <a:t>Every container is already nested — icon, title, and description inside a fill card are grouped by whitespace. Nesting isn't a special</a:t>
            </a:r>
          </a:p>
          <a:p>
            <a:r>
              <a:rPr lang="en-US" dirty="0">
                <a:solidFill>
                  <a:srgbClr val="FFFFFF"/>
                </a:solidFill>
                <a:latin typeface="Calibri"/>
              </a:rPr>
              <a:t>pattern. The outer container can be whitespace itself — no shape at all, just alignment implying the group.</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compose — Invent new containers from the building blocks above</a:t>
            </a:r>
          </a:p>
          <a:p>
            <a:r>
              <a:rPr lang="en-US" dirty="0">
                <a:solidFill>
                  <a:srgbClr val="FFFFFF"/>
                </a:solidFill>
                <a:latin typeface="Calibri"/>
              </a:rPr>
              <a:t>The building blocks are always the same — fill, border, accent-line, shadow, whitespace. Intensity and combination determine the</a:t>
            </a:r>
          </a:p>
          <a:p>
            <a:r>
              <a:rPr lang="en-US" dirty="0">
                <a:solidFill>
                  <a:srgbClr val="FFFFFF"/>
                </a:solidFill>
                <a:latin typeface="Calibri"/>
              </a:rPr>
              <a:t>impression.</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Start with fill + accent-line — both familiar. Now push the accent line thicker, much thicker, and add gradient. The line stops being a</a:t>
            </a:r>
          </a:p>
          <a:p>
            <a:r>
              <a:rPr lang="en-US" dirty="0">
                <a:solidFill>
                  <a:srgbClr val="FFFFFF"/>
                </a:solidFill>
                <a:latin typeface="Calibri"/>
              </a:rPr>
              <a:t>subtle anchor and becomes a bold color bar. A thin accent line and a thick color bar are the same structural element at different</a:t>
            </a:r>
          </a:p>
          <a:p>
            <a:r>
              <a:rPr lang="en-US" dirty="0">
                <a:solidFill>
                  <a:srgbClr val="FFFFFF"/>
                </a:solidFill>
                <a:latin typeface="Calibri"/>
              </a:rPr>
              <a:t>intensities. Add shadow to float the whole thing. Same building blocks, but intensity turns them into something that feels completely</a:t>
            </a:r>
          </a:p>
          <a:p>
            <a:r>
              <a:rPr lang="en-US" dirty="0">
                <a:solidFill>
                  <a:srgbClr val="FFFFFF"/>
                </a:solidFill>
                <a:latin typeface="Calibri"/>
              </a:rPr>
              <a:t>different.</a:t>
            </a:r>
          </a:p>
          <a:p>
            <a:endParaRPr lang="en-US" dirty="0">
              <a:solidFill>
                <a:srgbClr val="FFFFFF"/>
              </a:solidFill>
              <a:latin typeface="Calibri"/>
            </a:endParaRPr>
          </a:p>
          <a:p>
            <a:r>
              <a:rPr lang="en-US" dirty="0">
                <a:solidFill>
                  <a:srgbClr val="FFFFFF"/>
                </a:solidFill>
                <a:latin typeface="Calibri"/>
              </a:rPr>
              <a:t>Now push further. Dark opaque fill to absorb light. Gradient border for color movement. Glow to make the border bleed outward. Shadow</a:t>
            </a:r>
          </a:p>
          <a:p>
            <a:r>
              <a:rPr lang="en-US" dirty="0">
                <a:solidFill>
                  <a:srgbClr val="FFFFFF"/>
                </a:solidFill>
                <a:latin typeface="Calibri"/>
              </a:rPr>
              <a:t>floats a card off the surface; glow radiates from it — depth pushed to an extreme. Lower the glow and it becomes subtle tech. Remove the</a:t>
            </a:r>
          </a:p>
          <a:p>
            <a:r>
              <a:rPr lang="en-US" dirty="0">
                <a:solidFill>
                  <a:srgbClr val="FFFFFF"/>
                </a:solidFill>
                <a:latin typeface="Calibri"/>
              </a:rPr>
              <a:t>gradient and it becomes a simple bordered card. Every modifier is a dial.</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Calibri"/>
              </a:rPr>
              <a:t>[Section] Connectors &amp; Flow — Connections, processes, and flow headers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arrow variants — Three ways to point: line ending, block shape, and geometric symbol</a:t>
            </a:r>
          </a:p>
          <a:p>
            <a:endParaRPr lang="en-US" dirty="0">
              <a:solidFill>
                <a:srgbClr val="FFFFFF"/>
              </a:solidFill>
              <a:latin typeface="Calibri"/>
            </a:endParaRPr>
          </a:p>
          <a:p>
            <a:r>
              <a:rPr lang="en-US" dirty="0">
                <a:solidFill>
                  <a:srgbClr val="FFFFFF"/>
                </a:solidFill>
                <a:latin typeface="Calibri"/>
              </a:rPr>
              <a:t>Direction needs a vehicle. Line ending rides an existing connection — it's part of the structure, not the message. Block arrow and triangle stand alone — they are the message.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Three approaches to "point from here to there," each with a different weight.</a:t>
            </a:r>
          </a:p>
          <a:p>
            <a:endParaRPr lang="en-US" dirty="0">
              <a:solidFill>
                <a:srgbClr val="FFFFFF"/>
              </a:solidFill>
              <a:latin typeface="Calibri"/>
            </a:endParaRPr>
          </a:p>
          <a:p>
            <a:r>
              <a:rPr lang="en-US" dirty="0">
                <a:solidFill>
                  <a:srgbClr val="FFFFFF"/>
                </a:solidFill>
                <a:latin typeface="Calibri"/>
              </a:rPr>
              <a:t>Line with an arrow ending — the lightest. It connects two things. The eye follows the path, not the arrow. Flow diagrams, architecture diagrams, any place where the arrow serves the structure. Straight line for direct paths, elbow when you need to route around things. Need a label? Place text above or below — the line itself carries no words.</a:t>
            </a:r>
          </a:p>
          <a:p>
            <a:endParaRPr lang="en-US" dirty="0">
              <a:solidFill>
                <a:srgbClr val="FFFFFF"/>
              </a:solidFill>
              <a:latin typeface="Calibri"/>
            </a:endParaRPr>
          </a:p>
          <a:p>
            <a:r>
              <a:rPr lang="en-US" dirty="0">
                <a:solidFill>
                  <a:srgbClr val="FFFFFF"/>
                </a:solidFill>
                <a:latin typeface="Calibri"/>
              </a:rPr>
              <a:t>Block arrow (right=0°; clockwise) — the heaviest. It has surface area, so it demands attention. Place it between Before and After, and it says "change happened here." The arrow itself carries meaning. Use it when direction is the message, not just the plumbing. Text goes right inside — "Transform," "Migrate," "Scale" — the arrow becomes a self-contained statement. Adjustments control the shaft-to-head ratio — thin shaft with wide head feels decisive, thick shaft feels like a pipeline. Curved variants bend the path, circular variants loop back — these exist for specific diagrams, not general use.</a:t>
            </a:r>
          </a:p>
          <a:p>
            <a:endParaRPr lang="en-US" dirty="0">
              <a:solidFill>
                <a:srgbClr val="FFFFFF"/>
              </a:solidFill>
              <a:latin typeface="Calibri"/>
            </a:endParaRPr>
          </a:p>
          <a:p>
            <a:r>
              <a:rPr lang="en-US" dirty="0">
                <a:solidFill>
                  <a:srgbClr val="FFFFFF"/>
                </a:solidFill>
                <a:latin typeface="Calibri"/>
              </a:rPr>
              <a:t>Triangle (top=0°; clockwise) — same job as block arrow, quieter delivery. No shaft, no bulk, just a point. Feels like a hint rather than a statement. Pick triangle over block arrow when the slide should stay clean. Labels sit beside it as separate text, like line endings. Chevron and pentagon belong here too — shapes that imply direction through their geometry rather than spelling it out.</a:t>
            </a:r>
          </a:p>
          <a:p>
            <a:endParaRPr lang="en-US" dirty="0">
              <a:solidFill>
                <a:srgbClr val="FFFFFF"/>
              </a:solidFill>
              <a:latin typeface="Calibri"/>
            </a:endParaRPr>
          </a:p>
          <a:p>
            <a:r>
              <a:rPr lang="en-US" dirty="0">
                <a:solidFill>
                  <a:srgbClr val="FFFFFF"/>
                </a:solidFill>
                <a:latin typeface="Calibri"/>
              </a:rPr>
              <a:t>Block arrow and triangle compete for the same role — "standalone direction signal." The choice is tone: bold and explicit, or minimal and subtle. Line ending doesn't compete. It belongs to a different job entirely.</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62A78-7C53-D7A0-DF29-D9A5E05374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8A088-5036-22AA-C8DD-BE9C2FA401F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3416443-D86F-22C3-F9C6-06BFBBB6ADCB}"/>
              </a:ext>
            </a:extLst>
          </p:cNvPr>
          <p:cNvSpPr>
            <a:spLocks noGrp="1"/>
          </p:cNvSpPr>
          <p:nvPr>
            <p:ph type="body" sz="quarter" idx="3"/>
          </p:nvPr>
        </p:nvSpPr>
        <p:spPr/>
        <p:txBody>
          <a:bodyPr/>
          <a:lstStyle/>
          <a:p>
            <a:r>
              <a:rPr dirty="0">
                <a:solidFill>
                  <a:srgbClr val="FFFFFF"/>
                </a:solidFill>
                <a:latin typeface="Calibri"/>
              </a:rPr>
              <a:t>[Component] flow-step — Flow connectors for processes, timelines, and cycles</a:t>
            </a:r>
            <a:endParaRPr lang="en-US" dirty="0">
              <a:solidFill>
                <a:srgbClr val="FFFFFF"/>
              </a:solidFill>
              <a:latin typeface="Calibri"/>
            </a:endParaRPr>
          </a:p>
          <a:p>
            <a:endParaRPr lang="en-US" dirty="0">
              <a:solidFill>
                <a:srgbClr val="FFFFFF"/>
              </a:solidFill>
              <a:latin typeface="Calibri"/>
            </a:endParaRPr>
          </a:p>
          <a:p>
            <a:r>
              <a:rPr lang="en-US" dirty="0">
                <a:solidFill>
                  <a:srgbClr val="FFFFFF"/>
                </a:solidFill>
                <a:latin typeface="Calibri"/>
              </a:rPr>
              <a:t>Flow shows sequence and direction. Cards are the what, connectors are the where-to.</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Cyclic process — four steps looping back. Need something to show direction between cards. Arrows, triangles, chevrons, numbering, even a color gradient — anything that implies "from here to there." Arrows are the most explicit, so arrows here.</a:t>
            </a:r>
          </a:p>
          <a:p>
            <a:endParaRPr lang="en-US" dirty="0">
              <a:solidFill>
                <a:srgbClr val="FFFFFF"/>
              </a:solidFill>
              <a:latin typeface="Calibri"/>
            </a:endParaRPr>
          </a:p>
          <a:p>
            <a:r>
              <a:rPr lang="en-US" dirty="0">
                <a:solidFill>
                  <a:srgbClr val="FFFFFF"/>
                </a:solidFill>
                <a:latin typeface="Calibri"/>
              </a:rPr>
              <a:t>Need four directions. Left-going and up-going point against the default — </a:t>
            </a:r>
            <a:r>
              <a:rPr lang="en-US" dirty="0" err="1">
                <a:solidFill>
                  <a:srgbClr val="FFFFFF"/>
                </a:solidFill>
                <a:latin typeface="Calibri"/>
              </a:rPr>
              <a:t>flipH</a:t>
            </a:r>
            <a:r>
              <a:rPr lang="en-US" dirty="0">
                <a:solidFill>
                  <a:srgbClr val="FFFFFF"/>
                </a:solidFill>
                <a:latin typeface="Calibri"/>
              </a:rPr>
              <a:t>/</a:t>
            </a:r>
            <a:r>
              <a:rPr lang="en-US" dirty="0" err="1">
                <a:solidFill>
                  <a:srgbClr val="FFFFFF"/>
                </a:solidFill>
                <a:latin typeface="Calibri"/>
              </a:rPr>
              <a:t>flipV</a:t>
            </a:r>
            <a:r>
              <a:rPr lang="en-US" dirty="0">
                <a:solidFill>
                  <a:srgbClr val="FFFFFF"/>
                </a:solidFill>
                <a:latin typeface="Calibri"/>
              </a:rPr>
              <a:t> reverses them. Without flips, all arrows face one way and the loop can't close.</a:t>
            </a:r>
          </a:p>
          <a:p>
            <a:endParaRPr lang="en-US" dirty="0">
              <a:solidFill>
                <a:srgbClr val="FFFFFF"/>
              </a:solidFill>
              <a:latin typeface="Calibri"/>
            </a:endParaRPr>
          </a:p>
          <a:p>
            <a:r>
              <a:rPr lang="en-US" dirty="0">
                <a:solidFill>
                  <a:srgbClr val="FFFFFF"/>
                </a:solidFill>
                <a:latin typeface="Calibri"/>
              </a:rPr>
              <a:t>Solid line feels certain. Dashed line feels broken, tentative — the eye reads gaps as doubt. All paths here are confirmed, so solid. Dash one when it's optional or uncertain.</a:t>
            </a:r>
            <a:endParaRPr dirty="0">
              <a:solidFill>
                <a:srgbClr val="FFFFFF"/>
              </a:solidFill>
              <a:latin typeface="Calibri"/>
            </a:endParaRPr>
          </a:p>
        </p:txBody>
      </p:sp>
      <p:sp>
        <p:nvSpPr>
          <p:cNvPr id="4" name="Slide Number Placeholder 3">
            <a:extLst>
              <a:ext uri="{FF2B5EF4-FFF2-40B4-BE49-F238E27FC236}">
                <a16:creationId xmlns:a16="http://schemas.microsoft.com/office/drawing/2014/main" id="{436154D1-7872-651F-2FB7-7D4DC7EDA61F}"/>
              </a:ext>
            </a:extLst>
          </p:cNvPr>
          <p:cNvSpPr>
            <a:spLocks noGrp="1"/>
          </p:cNvSpPr>
          <p:nvPr>
            <p:ph type="sldNum" sz="quarter" idx="5"/>
          </p:nvPr>
        </p:nvSpPr>
        <p:spPr/>
      </p:sp>
    </p:spTree>
    <p:extLst>
      <p:ext uri="{BB962C8B-B14F-4D97-AF65-F5344CB8AC3E}">
        <p14:creationId xmlns:p14="http://schemas.microsoft.com/office/powerpoint/2010/main" val="3746494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phase-bar — Pentagon (first) + chevron (subsequent) phase header. For process flows and workflows</a:t>
            </a:r>
          </a:p>
          <a:p>
            <a:r>
              <a:rPr lang="en-US" dirty="0">
                <a:solidFill>
                  <a:srgbClr val="FFFFFF"/>
                </a:solidFill>
                <a:latin typeface="Calibri"/>
              </a:rPr>
              <a:t>Phase progression in a horizontal chain. Pentagon starts, chevrons continue.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Need a clear starting point — pentagon's flat left edge says "begins here." Each subsequent phase should interlock with the previous —</a:t>
            </a:r>
          </a:p>
          <a:p>
            <a:r>
              <a:rPr lang="en-US" dirty="0">
                <a:solidFill>
                  <a:srgbClr val="FFFFFF"/>
                </a:solidFill>
                <a:latin typeface="Calibri"/>
              </a:rPr>
              <a:t>chevron's notch fits into what came before. Phases should feel like one continuous chain — overlap the shapes so gaps don't break it.</a:t>
            </a:r>
          </a:p>
          <a:p>
            <a:endParaRPr lang="en-US" dirty="0">
              <a:solidFill>
                <a:srgbClr val="FFFFFF"/>
              </a:solidFill>
              <a:latin typeface="Calibri"/>
            </a:endParaRPr>
          </a:p>
          <a:p>
            <a:r>
              <a:rPr lang="en-US" dirty="0">
                <a:solidFill>
                  <a:srgbClr val="FFFFFF"/>
                </a:solidFill>
                <a:latin typeface="Calibri"/>
              </a:rPr>
              <a:t>Need to show which phases are done and which aren't. Filled shape feels complete. Border only feels pending — the emptiness reads as "not</a:t>
            </a:r>
          </a:p>
          <a:p>
            <a:r>
              <a:rPr lang="en-US" dirty="0">
                <a:solidFill>
                  <a:srgbClr val="FFFFFF"/>
                </a:solidFill>
                <a:latin typeface="Calibri"/>
              </a:rPr>
              <a:t>yet." Fill the completed ones, leave pending as border only.</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Calibri"/>
              </a:rPr>
              <a:t>[Section] Indicators — Status, numbers, and progress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number-marker — Numbered marker for step or list sequencing</a:t>
            </a:r>
          </a:p>
          <a:p>
            <a:r>
              <a:rPr lang="en-US" dirty="0">
                <a:solidFill>
                  <a:srgbClr val="FFFFFF"/>
                </a:solidFill>
                <a:latin typeface="Calibri"/>
              </a:rPr>
              <a:t>A mark that says "this is step N." The number itself carries the sequence — the shape around it controls how much it stands out.</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Steps that need a clear order. A number alone works. Wrapping it in a shape — circle, square, hexagon — gives it visual weight. Circle is</a:t>
            </a:r>
          </a:p>
          <a:p>
            <a:r>
              <a:rPr lang="en-US" dirty="0">
                <a:solidFill>
                  <a:srgbClr val="FFFFFF"/>
                </a:solidFill>
                <a:latin typeface="Calibri"/>
              </a:rPr>
              <a:t>the most neutral and compact. Pick what fits the tone.</a:t>
            </a:r>
          </a:p>
          <a:p>
            <a:endParaRPr lang="en-US" dirty="0">
              <a:solidFill>
                <a:srgbClr val="FFFFFF"/>
              </a:solidFill>
              <a:latin typeface="Calibri"/>
            </a:endParaRPr>
          </a:p>
          <a:p>
            <a:r>
              <a:rPr lang="en-US" dirty="0">
                <a:solidFill>
                  <a:srgbClr val="FFFFFF"/>
                </a:solidFill>
                <a:latin typeface="Calibri"/>
              </a:rPr>
              <a:t>How much the marker should stand out depends on the context. Filled shape pulls the eye to the number — the number leads. Border only</a:t>
            </a:r>
          </a:p>
          <a:p>
            <a:r>
              <a:rPr lang="en-US" dirty="0">
                <a:solidFill>
                  <a:srgbClr val="FFFFFF"/>
                </a:solidFill>
                <a:latin typeface="Calibri"/>
              </a:rPr>
              <a:t>lets the marker recede so the content next to it dominates. Gradient adds weight beyond solid fill.</a:t>
            </a:r>
          </a:p>
          <a:p>
            <a:endParaRPr lang="en-US" dirty="0">
              <a:solidFill>
                <a:srgbClr val="FFFFFF"/>
              </a:solidFill>
              <a:latin typeface="Calibri"/>
            </a:endParaRPr>
          </a:p>
          <a:p>
            <a:r>
              <a:rPr lang="en-US" dirty="0">
                <a:solidFill>
                  <a:srgbClr val="FFFFFF"/>
                </a:solidFill>
                <a:latin typeface="Calibri"/>
              </a:rPr>
              <a:t>Size shifts the role. Small markers sit inline as list numbering. Large markers anchor a section — the number becomes a heading.</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badge — Status pill for labels like Preview, GA, New</a:t>
            </a:r>
          </a:p>
          <a:p>
            <a:r>
              <a:rPr lang="en-US" dirty="0">
                <a:solidFill>
                  <a:srgbClr val="FFFFFF"/>
                </a:solidFill>
                <a:latin typeface="Calibri"/>
              </a:rPr>
              <a:t>A short label in a pill shape — small but meant to catch the eye. Tags status or category onto something.</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A status label that needs to stand out without dominating. Filled badge makes a strong claim — the color speaks first. Border only is</a:t>
            </a:r>
          </a:p>
          <a:p>
            <a:r>
              <a:rPr lang="en-US" dirty="0">
                <a:solidFill>
                  <a:srgbClr val="FFFFFF"/>
                </a:solidFill>
                <a:latin typeface="Calibri"/>
              </a:rPr>
              <a:t>subtler — the label is there but doesn't compete with surrounding content. Match the weight to the context.</a:t>
            </a:r>
          </a:p>
          <a:p>
            <a:endParaRPr lang="en-US" dirty="0">
              <a:solidFill>
                <a:srgbClr val="FFFFFF"/>
              </a:solidFill>
              <a:latin typeface="Calibri"/>
            </a:endParaRPr>
          </a:p>
          <a:p>
            <a:r>
              <a:rPr lang="en-US" dirty="0">
                <a:solidFill>
                  <a:srgbClr val="FFFFFF"/>
                </a:solidFill>
                <a:latin typeface="Calibri"/>
              </a:rPr>
              <a:t>On dark backgrounds, glow makes the badge radiate — effective for emphasis. On light backgrounds, glow washes out and adds nothing.</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progress-bar — Progress bar for completion rate or score display</a:t>
            </a:r>
          </a:p>
          <a:p>
            <a:r>
              <a:rPr lang="en-US" dirty="0">
                <a:solidFill>
                  <a:srgbClr val="FFFFFF"/>
                </a:solidFill>
                <a:latin typeface="Calibri"/>
              </a:rPr>
              <a:t>Two bars stacked — background track shows the whole, foreground bar shows how far. Width ratio is the message.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Want to show a completion rate. Background track spans the full range, foreground bar fills to the current value — the ratio between them is the progress.</a:t>
            </a:r>
          </a:p>
          <a:p>
            <a:endParaRPr lang="en-US" dirty="0">
              <a:solidFill>
                <a:srgbClr val="FFFFFF"/>
              </a:solidFill>
              <a:latin typeface="Calibri"/>
            </a:endParaRPr>
          </a:p>
          <a:p>
            <a:r>
              <a:rPr lang="en-US" dirty="0">
                <a:solidFill>
                  <a:srgbClr val="FFFFFF"/>
                </a:solidFill>
                <a:latin typeface="Calibri"/>
              </a:rPr>
              <a:t>The eye needs to instantly separate foreground from background. Low contrast between the two and the progress becomes hard to read.</a:t>
            </a:r>
          </a:p>
          <a:p>
            <a:r>
              <a:rPr lang="en-US" dirty="0">
                <a:solidFill>
                  <a:srgbClr val="FFFFFF"/>
                </a:solidFill>
                <a:latin typeface="Calibri"/>
              </a:rPr>
              <a:t>Gradient on the foreground adds movement along the direction of progress.</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spectrum-axis — Gradient axis with opposing end labels. For comparison or spectrum display</a:t>
            </a:r>
          </a:p>
          <a:p>
            <a:r>
              <a:rPr lang="en-US" dirty="0">
                <a:solidFill>
                  <a:srgbClr val="FFFFFF"/>
                </a:solidFill>
                <a:latin typeface="Calibri"/>
              </a:rPr>
              <a:t>A single axis with two extremes — position along it is the message.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Two opposing concepts that live on a continuum. A gradient line between them — color shifts along the axis, so position carries meaning.</a:t>
            </a:r>
          </a:p>
          <a:p>
            <a:r>
              <a:rPr lang="en-US" dirty="0">
                <a:solidFill>
                  <a:srgbClr val="FFFFFF"/>
                </a:solidFill>
                <a:latin typeface="Calibri"/>
              </a:rPr>
              <a:t>Labels at each end name the extremes.</a:t>
            </a:r>
          </a:p>
          <a:p>
            <a:endParaRPr lang="en-US" dirty="0">
              <a:solidFill>
                <a:srgbClr val="FFFFFF"/>
              </a:solidFill>
              <a:latin typeface="Calibri"/>
            </a:endParaRPr>
          </a:p>
          <a:p>
            <a:r>
              <a:rPr lang="en-US" dirty="0">
                <a:solidFill>
                  <a:srgbClr val="FFFFFF"/>
                </a:solidFill>
                <a:latin typeface="Calibri"/>
              </a:rPr>
              <a:t>Place items along the axis to show where they fall on the spectrum. Matching an item's accent color to the gradient color at that</a:t>
            </a:r>
          </a:p>
          <a:p>
            <a:r>
              <a:rPr lang="en-US" dirty="0">
                <a:solidFill>
                  <a:srgbClr val="FFFFFF"/>
                </a:solidFill>
                <a:latin typeface="Calibri"/>
              </a:rPr>
              <a:t>position reinforces the relationship — the eye connects them instantly.</a:t>
            </a:r>
          </a:p>
          <a:p>
            <a:endParaRPr lang="en-US" dirty="0">
              <a:solidFill>
                <a:srgbClr val="FFFFFF"/>
              </a:solidFill>
              <a:latin typeface="Calibri"/>
            </a:endParaRPr>
          </a:p>
          <a:p>
            <a:r>
              <a:rPr lang="en-US" dirty="0">
                <a:solidFill>
                  <a:srgbClr val="FFFFFF"/>
                </a:solidFill>
                <a:latin typeface="Calibri"/>
              </a:rPr>
              <a:t>To place a label in the middle of the axis, the line needs to break. PPTX has no clipping — lay a rectangle filled with the slide</a:t>
            </a:r>
          </a:p>
          <a:p>
            <a:r>
              <a:rPr lang="en-US" dirty="0">
                <a:solidFill>
                  <a:srgbClr val="FFFFFF"/>
                </a:solidFill>
                <a:latin typeface="Calibri"/>
              </a:rPr>
              <a:t>background color over the line, then place text on top. The rectangle fill must match the background exactly or the seam shows.</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progress-circle — Circular progress indicator. For KPI dashboards and score displays</a:t>
            </a:r>
          </a:p>
          <a:p>
            <a:r>
              <a:rPr lang="en-US" dirty="0">
                <a:solidFill>
                  <a:srgbClr val="FFFFFF"/>
                </a:solidFill>
                <a:latin typeface="Calibri"/>
              </a:rPr>
              <a:t>Circular progress — the arc shows how far, the center shows the number. Compact and self-contained.</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A single KPI that needs to stand on its own. Progress bar works for side-by-side comparison — circle draws the eye to one value. Three layers: background donut as the track, arc filling the progress, text in the center.</a:t>
            </a:r>
          </a:p>
          <a:p>
            <a:endParaRPr lang="en-US" dirty="0">
              <a:solidFill>
                <a:srgbClr val="FFFFFF"/>
              </a:solidFill>
              <a:latin typeface="Calibri"/>
            </a:endParaRPr>
          </a:p>
          <a:p>
            <a:r>
              <a:rPr lang="en-US" dirty="0">
                <a:solidFill>
                  <a:srgbClr val="FFFFFF"/>
                </a:solidFill>
                <a:latin typeface="Calibri"/>
              </a:rPr>
              <a:t>Same principle as progress bar — the track and the arc need enough contrast or the progress disappears. Thinner arcs feel refined and</a:t>
            </a:r>
          </a:p>
          <a:p>
            <a:r>
              <a:rPr lang="en-US" dirty="0">
                <a:solidFill>
                  <a:srgbClr val="FFFFFF"/>
                </a:solidFill>
                <a:latin typeface="Calibri"/>
              </a:rPr>
              <a:t>light. Thicker arcs feel bolder and fill more visual space.</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Calibri"/>
              </a:rPr>
              <a:t>[Section] Text &amp; Dividers — Text decoration and content separation</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divider — Separator line for sections and content separation</a:t>
            </a:r>
          </a:p>
          <a:p>
            <a:r>
              <a:rPr lang="en-US" dirty="0">
                <a:solidFill>
                  <a:srgbClr val="FFFFFF"/>
                </a:solidFill>
                <a:latin typeface="Calibri"/>
              </a:rPr>
              <a:t>A line that says "here ends one thing, here begins another." The simplest boundary.</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Sections that need separation. A solid line draws a clear cut. Dash softens it — the separation is there but lighter. Fade both ends to zero opacity and the line dissolves into the space — useful inside cards where a hard line would feel too heavy.</a:t>
            </a:r>
          </a:p>
          <a:p>
            <a:endParaRPr lang="en-US" dirty="0">
              <a:solidFill>
                <a:srgbClr val="FFFFFF"/>
              </a:solidFill>
              <a:latin typeface="Calibri"/>
            </a:endParaRPr>
          </a:p>
          <a:p>
            <a:r>
              <a:rPr lang="en-US" dirty="0">
                <a:solidFill>
                  <a:srgbClr val="FFFFFF"/>
                </a:solidFill>
                <a:latin typeface="Calibri"/>
              </a:rPr>
              <a:t>Works vertically too — a vertical divider between columns separates without enclosing either side.</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content-banner — Wide band with structured text overlay. For section headers and category bars</a:t>
            </a:r>
          </a:p>
          <a:p>
            <a:r>
              <a:rPr lang="en-US" dirty="0">
                <a:solidFill>
                  <a:srgbClr val="FFFFFF"/>
                </a:solidFill>
                <a:latin typeface="Calibri"/>
              </a:rPr>
              <a:t>A band that carries information — labels, titles, categories laid out in columns across it. Not just a separator but a surface with content.</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Three categories at the same level — need to show they're parallel. A single band across the slide groups them as peers. Each category gets a column within the band — label and title stacked — so they share the surface without losing their identity.</a:t>
            </a:r>
          </a:p>
          <a:p>
            <a:endParaRPr lang="en-US" dirty="0">
              <a:solidFill>
                <a:srgbClr val="FFFFFF"/>
              </a:solidFill>
              <a:latin typeface="Calibri"/>
            </a:endParaRPr>
          </a:p>
          <a:p>
            <a:r>
              <a:rPr lang="en-US" dirty="0">
                <a:solidFill>
                  <a:srgbClr val="FFFFFF"/>
                </a:solidFill>
                <a:latin typeface="Calibri"/>
              </a:rPr>
              <a:t>The band spans the full width — the ends need to go somewhere. These categories sit on a continuum, so the band should feel continuous too. Pill shape dissolves the edges, gradient flows across the columns — both reinforce the connection. If the categories were independent buckets, sharp edges and solid fill would keep them more contained.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95113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Calibri"/>
              </a:rPr>
              <a:t>[Section] Icons &amp; Markers — Icon decorations, markers, and visual lists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icon-frame — Decorative shape behind an icon for visual weight</a:t>
            </a:r>
          </a:p>
          <a:p>
            <a:r>
              <a:rPr lang="en-US" dirty="0">
                <a:solidFill>
                  <a:srgbClr val="FFFFFF"/>
                </a:solidFill>
                <a:latin typeface="Calibri"/>
              </a:rPr>
              <a:t>A decorative shape behind an icon — any shape, any style. Gives the icon visual weight and a place on the slide.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Icons alone can feel small and lost. A shape behind the icon gives it presence. The shape is a stage, not the performer — its fill should blend with the slide background. Too prominent and the shape competes with the icon.</a:t>
            </a:r>
          </a:p>
          <a:p>
            <a:endParaRPr lang="en-US" dirty="0">
              <a:solidFill>
                <a:srgbClr val="FFFFFF"/>
              </a:solidFill>
              <a:latin typeface="Calibri"/>
            </a:endParaRPr>
          </a:p>
          <a:p>
            <a:r>
              <a:rPr lang="en-US" dirty="0">
                <a:solidFill>
                  <a:srgbClr val="FFFFFF"/>
                </a:solidFill>
                <a:latin typeface="Calibri"/>
              </a:rPr>
              <a:t>Need a frame shape — circle keeps it neutral and compact. A more angular slide might call for a rounded square or hexagon instead. In a row of icons, varying the frame color gives each one its own identity.</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dot-bullet-list — Gradient vertical line + dots + text. Rich bullet list</a:t>
            </a:r>
          </a:p>
          <a:p>
            <a:r>
              <a:rPr lang="en-US" dirty="0">
                <a:solidFill>
                  <a:srgbClr val="FFFFFF"/>
                </a:solidFill>
                <a:latin typeface="Calibri"/>
              </a:rPr>
              <a:t>A vertical line with dots marking each item — the line gives flow, the dots give position.</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List items that should feel connected in sequence. Run a vertical line through them to show they flow from top to bottom. Mark each item's position with a dot on the line.</a:t>
            </a:r>
          </a:p>
          <a:p>
            <a:endParaRPr lang="en-US" dirty="0">
              <a:solidFill>
                <a:srgbClr val="FFFFFF"/>
              </a:solidFill>
              <a:latin typeface="Calibri"/>
            </a:endParaRPr>
          </a:p>
          <a:p>
            <a:r>
              <a:rPr lang="en-US" dirty="0">
                <a:solidFill>
                  <a:srgbClr val="FFFFFF"/>
                </a:solidFill>
                <a:latin typeface="Calibri"/>
              </a:rPr>
              <a:t>Dots tend to merge into the line — give each dot a border in the slide's background color so it floats above. The border color must match the background exactly or the gap shows as a colored ring.</a:t>
            </a:r>
          </a:p>
          <a:p>
            <a:endParaRPr lang="en-US" dirty="0">
              <a:solidFill>
                <a:srgbClr val="FFFFFF"/>
              </a:solidFill>
              <a:latin typeface="Calibri"/>
            </a:endParaRPr>
          </a:p>
          <a:p>
            <a:r>
              <a:rPr lang="en-US" dirty="0">
                <a:solidFill>
                  <a:srgbClr val="FFFFFF"/>
                </a:solidFill>
                <a:latin typeface="Calibri"/>
              </a:rPr>
              <a:t>Want a sense of progression down the list — gradient on the line so the color shifts as the eye moves down. Keep it single color for a quieter feel.</a:t>
            </a:r>
          </a:p>
          <a:p>
            <a:endParaRPr lang="en-US" dirty="0">
              <a:solidFill>
                <a:srgbClr val="FFFFFF"/>
              </a:solidFill>
              <a:latin typeface="Calibri"/>
            </a:endParaRPr>
          </a:p>
          <a:p>
            <a:r>
              <a:rPr lang="en-US" dirty="0">
                <a:solidFill>
                  <a:srgbClr val="FFFFFF"/>
                </a:solidFill>
                <a:latin typeface="Calibri"/>
              </a:rPr>
              <a:t>Content can sit on one side or alternate left and right. Alternating creates visual rhythm but forces the eye to zigzag. One side is easier to scan but more monotonous.</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double-ring-marker — Double ring on gradient line. For timelines and milestones</a:t>
            </a:r>
          </a:p>
          <a:p>
            <a:r>
              <a:rPr lang="en-US" dirty="0">
                <a:solidFill>
                  <a:srgbClr val="FFFFFF"/>
                </a:solidFill>
                <a:latin typeface="Calibri"/>
              </a:rPr>
              <a:t>A double ring — more visual weight than a single dot. Marks key moments on a timeline.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Milestones on a timeline that need to stand out. A single dot marks a point, but key milestones need more weight — double ring gives them presence. Use single dots for intermediate points so the hierarchy is clear.</a:t>
            </a:r>
          </a:p>
          <a:p>
            <a:endParaRPr lang="en-US" dirty="0">
              <a:solidFill>
                <a:srgbClr val="FFFFFF"/>
              </a:solidFill>
              <a:latin typeface="Calibri"/>
            </a:endParaRPr>
          </a:p>
          <a:p>
            <a:r>
              <a:rPr lang="en-US" dirty="0">
                <a:solidFill>
                  <a:srgbClr val="FFFFFF"/>
                </a:solidFill>
                <a:latin typeface="Calibri"/>
              </a:rPr>
              <a:t>The marker should feel part of the line, not dropped on top of it — match the ring color to the gradient at that position. Mismatched color and the marker looks disconnected.</a:t>
            </a:r>
          </a:p>
          <a:p>
            <a:endParaRPr lang="en-US" dirty="0">
              <a:solidFill>
                <a:srgbClr val="FFFFFF"/>
              </a:solidFill>
              <a:latin typeface="Calibri"/>
            </a:endParaRPr>
          </a:p>
          <a:p>
            <a:r>
              <a:rPr lang="en-US" dirty="0">
                <a:solidFill>
                  <a:srgbClr val="FFFFFF"/>
                </a:solidFill>
                <a:latin typeface="Calibri"/>
              </a:rPr>
              <a:t>Want the line to emerge from nothing — start the gradient at zero opacity for a fade-in.</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a:solidFill>
                  <a:srgbClr val="FFFFFF"/>
                </a:solidFill>
                <a:latin typeface="Calibri"/>
              </a:rPr>
              <a:t>[Section] Techniques &amp; Effects — Overlay, callout, tables, and modern visual effects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progressive-overlay — Semi-transparent overlay + refocused element. For step-by-step explanation</a:t>
            </a:r>
          </a:p>
          <a:p>
            <a:r>
              <a:rPr lang="en-US" dirty="0">
                <a:solidFill>
                  <a:srgbClr val="FFFFFF"/>
                </a:solidFill>
                <a:latin typeface="Calibri"/>
              </a:rPr>
              <a:t>Dim everything, then bring one element back into focus. The eye goes exactly where you want it.</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A complex slide that needs to be explained piece by piece. Build the full slide first — this becomes the base with an `id`. Then create derived slides with `override` that each highlight one part.</a:t>
            </a:r>
          </a:p>
          <a:p>
            <a:endParaRPr lang="en-US" dirty="0">
              <a:solidFill>
                <a:srgbClr val="FFFFFF"/>
              </a:solidFill>
              <a:latin typeface="Calibri"/>
            </a:endParaRPr>
          </a:p>
          <a:p>
            <a:r>
              <a:rPr lang="en-US" dirty="0">
                <a:solidFill>
                  <a:srgbClr val="FFFFFF"/>
                </a:solidFill>
                <a:latin typeface="Calibri"/>
              </a:rPr>
              <a:t>On each derived slide, lay a semi-transparent overlay to dim the base content, then redraw the element you want to highlight on top. The highlighted element pops back into full clarity while everything else recedes.</a:t>
            </a:r>
          </a:p>
          <a:p>
            <a:endParaRPr lang="en-US" dirty="0">
              <a:solidFill>
                <a:srgbClr val="FFFFFF"/>
              </a:solidFill>
              <a:latin typeface="Calibri"/>
            </a:endParaRPr>
          </a:p>
          <a:p>
            <a:r>
              <a:rPr lang="en-US" dirty="0">
                <a:solidFill>
                  <a:srgbClr val="FFFFFF"/>
                </a:solidFill>
                <a:latin typeface="Calibri"/>
              </a:rPr>
              <a:t>The overlay color must match the slide background — a mismatch shifts the tint and the dimmed area looks wrong. Make the overlay larger than what it covers — borders and edges can peek through if it's too tight.</a:t>
            </a:r>
          </a:p>
          <a:p>
            <a:endParaRPr lang="en-US" dirty="0">
              <a:solidFill>
                <a:srgbClr val="FFFFFF"/>
              </a:solidFill>
              <a:latin typeface="Calibri"/>
            </a:endParaRPr>
          </a:p>
          <a:p>
            <a:r>
              <a:rPr lang="en-US" dirty="0">
                <a:solidFill>
                  <a:srgbClr val="FFFFFF"/>
                </a:solidFill>
                <a:latin typeface="Calibri"/>
              </a:rPr>
              <a:t>An accent border on the refocused element makes the highlight unmistakable. Higher overlay opacity dims harder — push too far and the context disappears entirely.</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[Component] table — Native PPTX table for structured data display.</a:t>
            </a:r>
            <a:endParaRPr lang="en-US" dirty="0">
              <a:solidFill>
                <a:srgbClr val="FFFFFF"/>
              </a:solidFill>
              <a:latin typeface="Calibri"/>
            </a:endParaRPr>
          </a:p>
          <a:p>
            <a:endParaRPr lang="en-US" dirty="0">
              <a:solidFill>
                <a:srgbClr val="FFFFFF"/>
              </a:solidFill>
              <a:latin typeface="Calibri"/>
            </a:endParaRPr>
          </a:p>
          <a:p>
            <a:r>
              <a:t>A grid of cells with shared structure — headers, rows, column widths. The table element handles alignment, banding, and merging as a unit.</a:t>
            </a:r>
          </a:p>
          <a:p>
            <a:endParaRPr/>
          </a:p>
          <a:p>
            <a:r>
              <a:t>Let's build this.</a:t>
            </a:r>
          </a:p>
          <a:p>
            <a:endParaRPr/>
          </a:p>
          <a:p>
            <a:r>
              <a:t>tableStyle sets the visual tone — header color, banding, borders — without touching individual cells. Use style names from analyze-template, or omit to use the template default. Setting explicit cell fill overrides the style for that cell — useful for highlighting specific rows or cells.</a:t>
            </a:r>
          </a:p>
          <a:p>
            <a:endParaRPr/>
          </a:p>
          <a:p>
            <a:r>
              <a:t>Cell merging: rowSpan/gridSpan on the anchor cell. Every absorbed cell must have "merged": true as a placeholder — omit it and the table structure corrupts. The anchor cell spans visually, but the grid still expects every position filled.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[Component] label-grid — Border-only rectangles for key-value display. Lightweight alternative to table (component)</a:t>
            </a:r>
          </a:p>
          <a:p>
            <a:endParaRPr/>
          </a:p>
          <a:p>
            <a:r>
              <a:t>Independent shapes arranged as a grid — each cell is its own element. Lighter and more flexible than a native table.</a:t>
            </a:r>
          </a:p>
          <a:p>
            <a:endParaRPr/>
          </a:p>
          <a:p>
            <a:r>
              <a:t>Let's build this.</a:t>
            </a:r>
          </a:p>
          <a:p>
            <a:endParaRPr/>
          </a:p>
          <a:p>
            <a:r>
              <a:t>Key-value pairs that need a grid layout. A native table would work, but the cells pack tight and the style applies uniformly. Want breathing room between cells and the freedom to style each one differently — use independent shapes instead.</a:t>
            </a:r>
          </a:p>
          <a:p>
            <a:endParaRPr/>
          </a:p>
          <a:p>
            <a:r>
              <a:t>Each cell is its own shape, so fill, gradient, shadow, rounded corners are all available per cell. The trade-off — element count grows with rows × columns. Too many rows and table (component) becomes more practical.</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solidFill>
                  <a:srgbClr val="FFFFFF"/>
                </a:solidFill>
                <a:latin typeface="Calibri"/>
              </a:rPr>
              <a:t>[Component] floating-screenshot — Image presentation techniques for product demos and atmosphere</a:t>
            </a:r>
          </a:p>
          <a:p>
            <a:r>
              <a:rPr lang="en-US" dirty="0">
                <a:solidFill>
                  <a:srgbClr val="FFFFFF"/>
                </a:solidFill>
                <a:latin typeface="Calibri"/>
              </a:rPr>
              <a:t>How an image sits on the slide — foreground showcase or background atmosphere. The same image, different treatment, different role.</a:t>
            </a:r>
          </a:p>
          <a:p>
            <a:endParaRPr lang="en-US" dirty="0">
              <a:solidFill>
                <a:srgbClr val="FFFFFF"/>
              </a:solidFill>
              <a:latin typeface="Calibri"/>
            </a:endParaRPr>
          </a:p>
          <a:p>
            <a:r>
              <a:rPr lang="en-US" dirty="0">
                <a:solidFill>
                  <a:srgbClr val="FFFFFF"/>
                </a:solidFill>
                <a:latin typeface="Calibri"/>
              </a:rPr>
              <a:t>Let's build this.</a:t>
            </a:r>
          </a:p>
          <a:p>
            <a:endParaRPr lang="en-US" dirty="0">
              <a:solidFill>
                <a:srgbClr val="FFFFFF"/>
              </a:solidFill>
              <a:latin typeface="Calibri"/>
            </a:endParaRPr>
          </a:p>
          <a:p>
            <a:r>
              <a:rPr lang="en-US" dirty="0">
                <a:solidFill>
                  <a:srgbClr val="FFFFFF"/>
                </a:solidFill>
                <a:latin typeface="Calibri"/>
              </a:rPr>
              <a:t>A product screenshot that needs to feel tangible — mask it to rounded rectangle and add shadow so it floats as a card.</a:t>
            </a:r>
          </a:p>
          <a:p>
            <a:endParaRPr lang="en-US" dirty="0">
              <a:solidFill>
                <a:srgbClr val="FFFFFF"/>
              </a:solidFill>
              <a:latin typeface="Calibri"/>
            </a:endParaRPr>
          </a:p>
          <a:p>
            <a:r>
              <a:rPr lang="en-US" dirty="0">
                <a:solidFill>
                  <a:srgbClr val="FFFFFF"/>
                </a:solidFill>
                <a:latin typeface="Calibri"/>
              </a:rPr>
              <a:t>An image that should set mood without competing with text — soften the edges to dissolve it into the background. Need text to stay readable over the image — lower brightness and desaturate so the image recedes. Want brand consistency — duotone maps the image to two brand colors.</a:t>
            </a:r>
            <a:endParaRPr dirty="0">
              <a:solidFill>
                <a:srgbClr val="FFFFFF"/>
              </a:solidFill>
              <a:latin typeface="Calibri"/>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0A1628"/>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Constraints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988" y="301169"/>
            <a:ext cx="11449050" cy="606882"/>
          </a:xfrm>
        </p:spPr>
        <p:txBody>
          <a:bodyPr>
            <a:normAutofit fontScale="90000"/>
          </a:bodyPr>
          <a:lstStyle/>
          <a:p>
            <a:r>
              <a:t>Containers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fill</a:t>
            </a:r>
          </a:p>
        </p:txBody>
      </p:sp>
      <p:sp>
        <p:nvSpPr>
          <p:cNvPr id="3" name="Rounded Rectangle 2"/>
          <p:cNvSpPr/>
          <p:nvPr/>
        </p:nvSpPr>
        <p:spPr>
          <a:xfrm>
            <a:off x="1320800" y="1333500"/>
            <a:ext cx="3175000" cy="3937000"/>
          </a:xfrm>
          <a:prstGeom prst="roundRect">
            <a:avLst>
              <a:gd name="adj" fmla="val 5000"/>
            </a:avLst>
          </a:prstGeom>
          <a:solidFill>
            <a:srgbClr val="FFFFFF">
              <a:alpha val="8000"/>
            </a:srgbClr>
          </a:solidFill>
          <a:ln>
            <a:noFill/>
          </a:ln>
          <a:effectLst>
            <a:outerShdw blurRad="50800" dist="25400" dir="8100000" algn="b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pic>
        <p:nvPicPr>
          <p:cNvPr id="4" name="SVG 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49286" y="1922236"/>
            <a:ext cx="918028" cy="918028"/>
          </a:xfrm>
          <a:prstGeom prst="rect">
            <a:avLst/>
          </a:prstGeom>
        </p:spPr>
      </p:pic>
      <p:sp>
        <p:nvSpPr>
          <p:cNvPr id="5" name="TextBox 4"/>
          <p:cNvSpPr txBox="1"/>
          <p:nvPr/>
        </p:nvSpPr>
        <p:spPr>
          <a:xfrm>
            <a:off x="1701800" y="3016250"/>
            <a:ext cx="2413000" cy="444500"/>
          </a:xfrm>
          <a:prstGeom prst="rect">
            <a:avLst/>
          </a:prstGeom>
          <a:noFill/>
        </p:spPr>
        <p:txBody>
          <a:bodyPr wrap="square" tIns="0">
            <a:noAutofit/>
          </a:bodyPr>
          <a:lstStyle/>
          <a:p>
            <a:pPr algn="ctr"/>
            <a:r>
              <a:rPr sz="2200" b="1">
                <a:solidFill>
                  <a:srgbClr val="FFFFFF"/>
                </a:solidFill>
                <a:latin typeface="Calibri"/>
              </a:rPr>
              <a:t>Title</a:t>
            </a:r>
          </a:p>
        </p:txBody>
      </p:sp>
      <p:sp>
        <p:nvSpPr>
          <p:cNvPr id="6" name="TextBox 5"/>
          <p:cNvSpPr txBox="1"/>
          <p:nvPr/>
        </p:nvSpPr>
        <p:spPr>
          <a:xfrm>
            <a:off x="1701800" y="3524250"/>
            <a:ext cx="2413000" cy="635000"/>
          </a:xfrm>
          <a:prstGeom prst="rect">
            <a:avLst/>
          </a:prstGeom>
          <a:noFill/>
        </p:spPr>
        <p:txBody>
          <a:bodyPr wrap="square" tIns="0">
            <a:noAutofit/>
          </a:bodyPr>
          <a:lstStyle/>
          <a:p>
            <a:pPr algn="ctr"/>
            <a:r>
              <a:rPr sz="1400" dirty="0">
                <a:solidFill>
                  <a:srgbClr val="8FA7C4"/>
                </a:solidFill>
                <a:latin typeface="Calibri"/>
              </a:rPr>
              <a:t>Description</a:t>
            </a:r>
          </a:p>
        </p:txBody>
      </p:sp>
      <p:sp>
        <p:nvSpPr>
          <p:cNvPr id="7" name="Rectangle 6"/>
          <p:cNvSpPr/>
          <p:nvPr/>
        </p:nvSpPr>
        <p:spPr>
          <a:xfrm>
            <a:off x="6096000" y="2413000"/>
            <a:ext cx="4953000" cy="1524000"/>
          </a:xfrm>
          <a:prstGeom prst="rect">
            <a:avLst/>
          </a:prstGeom>
          <a:gradFill rotWithShape="1">
            <a:gsLst>
              <a:gs pos="0">
                <a:srgbClr val="FF9900"/>
              </a:gs>
              <a:gs pos="100000">
                <a:srgbClr val="FBD332"/>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border</a:t>
            </a:r>
          </a:p>
        </p:txBody>
      </p:sp>
      <p:sp>
        <p:nvSpPr>
          <p:cNvPr id="3" name="Rounded Rectangle 2"/>
          <p:cNvSpPr/>
          <p:nvPr/>
        </p:nvSpPr>
        <p:spPr>
          <a:xfrm>
            <a:off x="609600" y="1333500"/>
            <a:ext cx="3175000" cy="3937000"/>
          </a:xfrm>
          <a:prstGeom prst="roundRect">
            <a:avLst>
              <a:gd name="adj" fmla="val 5000"/>
            </a:avLst>
          </a:prstGeom>
          <a:noFill/>
          <a:ln w="19050">
            <a:solidFill>
              <a:srgbClr val="8FA7C4"/>
            </a:solidFill>
            <a:prstDash val="solid"/>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4" name="TextBox 3"/>
          <p:cNvSpPr txBox="1"/>
          <p:nvPr/>
        </p:nvSpPr>
        <p:spPr>
          <a:xfrm>
            <a:off x="889000" y="1841500"/>
            <a:ext cx="2603500" cy="444500"/>
          </a:xfrm>
          <a:prstGeom prst="rect">
            <a:avLst/>
          </a:prstGeom>
          <a:noFill/>
        </p:spPr>
        <p:txBody>
          <a:bodyPr wrap="square" tIns="0">
            <a:noAutofit/>
          </a:bodyPr>
          <a:lstStyle/>
          <a:p>
            <a:pPr algn="l"/>
            <a:r>
              <a:rPr sz="2800" b="1">
                <a:solidFill>
                  <a:srgbClr val="FFFFFF"/>
                </a:solidFill>
                <a:latin typeface="Calibri"/>
              </a:rPr>
              <a:t>Title</a:t>
            </a:r>
          </a:p>
        </p:txBody>
      </p:sp>
      <p:sp>
        <p:nvSpPr>
          <p:cNvPr id="5" name="TextBox 4"/>
          <p:cNvSpPr txBox="1"/>
          <p:nvPr/>
        </p:nvSpPr>
        <p:spPr>
          <a:xfrm>
            <a:off x="889000" y="2413000"/>
            <a:ext cx="2603500" cy="1270000"/>
          </a:xfrm>
          <a:prstGeom prst="rect">
            <a:avLst/>
          </a:prstGeom>
          <a:noFill/>
        </p:spPr>
        <p:txBody>
          <a:bodyPr wrap="square" tIns="0">
            <a:noAutofit/>
          </a:bodyPr>
          <a:lstStyle/>
          <a:p>
            <a:pPr algn="l"/>
            <a:r>
              <a:rPr sz="1600" dirty="0">
                <a:solidFill>
                  <a:srgbClr val="8FA7C4"/>
                </a:solidFill>
                <a:latin typeface="Calibri"/>
              </a:rPr>
              <a:t>• point</a:t>
            </a:r>
          </a:p>
        </p:txBody>
      </p:sp>
      <p:sp>
        <p:nvSpPr>
          <p:cNvPr id="6" name="Rectangle 5"/>
          <p:cNvSpPr/>
          <p:nvPr/>
        </p:nvSpPr>
        <p:spPr>
          <a:xfrm>
            <a:off x="4508500" y="2413000"/>
            <a:ext cx="3175000" cy="1524000"/>
          </a:xfrm>
          <a:prstGeom prst="rect">
            <a:avLst/>
          </a:prstGeom>
          <a:noFill/>
          <a:ln w="19050">
            <a:solidFill>
              <a:srgbClr val="8FA7C4"/>
            </a:solidFill>
            <a:prstDash val="dash"/>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7" name="Rounded Rectangle 6"/>
          <p:cNvSpPr/>
          <p:nvPr/>
        </p:nvSpPr>
        <p:spPr>
          <a:xfrm>
            <a:off x="8407400" y="1778000"/>
            <a:ext cx="2540000" cy="2540000"/>
          </a:xfrm>
          <a:prstGeom prst="roundRect">
            <a:avLst>
              <a:gd name="adj" fmla="val 5000"/>
            </a:avLst>
          </a:prstGeom>
          <a:noFill/>
          <a:ln w="19050" cap="flat">
            <a:gradFill rotWithShape="1">
              <a:gsLst>
                <a:gs pos="0">
                  <a:srgbClr val="FF9900"/>
                </a:gs>
                <a:gs pos="100000">
                  <a:srgbClr val="FBD332"/>
                </a:gs>
              </a:gsLst>
              <a:lin ang="0" scaled="1"/>
            </a:gra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accent-line</a:t>
            </a:r>
          </a:p>
        </p:txBody>
      </p:sp>
      <p:cxnSp>
        <p:nvCxnSpPr>
          <p:cNvPr id="3" name="Connector 2"/>
          <p:cNvCxnSpPr/>
          <p:nvPr/>
        </p:nvCxnSpPr>
        <p:spPr>
          <a:xfrm>
            <a:off x="1270000" y="1651000"/>
            <a:ext cx="0" cy="254000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460500" y="2222500"/>
            <a:ext cx="3175000" cy="444500"/>
          </a:xfrm>
          <a:prstGeom prst="rect">
            <a:avLst/>
          </a:prstGeom>
          <a:noFill/>
        </p:spPr>
        <p:txBody>
          <a:bodyPr wrap="square" tIns="0">
            <a:noAutofit/>
          </a:bodyPr>
          <a:lstStyle/>
          <a:p>
            <a:pPr algn="l"/>
            <a:r>
              <a:rPr sz="2200" b="1">
                <a:solidFill>
                  <a:srgbClr val="FFFFFF"/>
                </a:solidFill>
                <a:latin typeface="Calibri"/>
              </a:rPr>
              <a:t>Title</a:t>
            </a:r>
          </a:p>
        </p:txBody>
      </p:sp>
      <p:sp>
        <p:nvSpPr>
          <p:cNvPr id="5" name="TextBox 4"/>
          <p:cNvSpPr txBox="1"/>
          <p:nvPr/>
        </p:nvSpPr>
        <p:spPr>
          <a:xfrm>
            <a:off x="1460500" y="2730500"/>
            <a:ext cx="3175000" cy="762000"/>
          </a:xfrm>
          <a:prstGeom prst="rect">
            <a:avLst/>
          </a:prstGeom>
          <a:noFill/>
        </p:spPr>
        <p:txBody>
          <a:bodyPr wrap="square" tIns="0">
            <a:noAutofit/>
          </a:bodyPr>
          <a:lstStyle/>
          <a:p>
            <a:pPr algn="l"/>
            <a:r>
              <a:rPr sz="1400" dirty="0">
                <a:solidFill>
                  <a:srgbClr val="8FA7C4"/>
                </a:solidFill>
                <a:latin typeface="Calibri"/>
              </a:rPr>
              <a:t>Descriptio</a:t>
            </a:r>
            <a:r>
              <a:rPr lang="en-US" sz="1400" dirty="0">
                <a:solidFill>
                  <a:srgbClr val="8FA7C4"/>
                </a:solidFill>
                <a:latin typeface="Calibri"/>
              </a:rPr>
              <a:t>n </a:t>
            </a:r>
          </a:p>
        </p:txBody>
      </p:sp>
      <p:cxnSp>
        <p:nvCxnSpPr>
          <p:cNvPr id="6" name="Connector 5"/>
          <p:cNvCxnSpPr/>
          <p:nvPr/>
        </p:nvCxnSpPr>
        <p:spPr>
          <a:xfrm>
            <a:off x="6096000" y="2222500"/>
            <a:ext cx="5080000" cy="0"/>
          </a:xfrm>
          <a:prstGeom prst="line">
            <a:avLst/>
          </a:prstGeom>
          <a:ln w="38100">
            <a:solidFill>
              <a:srgbClr val="FF9900"/>
            </a:solidFill>
          </a:ln>
        </p:spPr>
        <p:style>
          <a:lnRef idx="2">
            <a:schemeClr val="accent1"/>
          </a:lnRef>
          <a:fillRef idx="0">
            <a:schemeClr val="accent1"/>
          </a:fillRef>
          <a:effectRef idx="1">
            <a:schemeClr val="accent1"/>
          </a:effectRef>
          <a:fontRef idx="minor">
            <a:schemeClr val="tx1"/>
          </a:fontRef>
        </p:style>
      </p:cxnSp>
      <p:pic>
        <p:nvPicPr>
          <p:cNvPr id="7" name="SVG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37300" y="2476500"/>
            <a:ext cx="381000" cy="381000"/>
          </a:xfrm>
          <a:prstGeom prst="rect">
            <a:avLst/>
          </a:prstGeom>
        </p:spPr>
      </p:pic>
      <p:sp>
        <p:nvSpPr>
          <p:cNvPr id="8" name="TextBox 7"/>
          <p:cNvSpPr txBox="1"/>
          <p:nvPr/>
        </p:nvSpPr>
        <p:spPr>
          <a:xfrm>
            <a:off x="6921500" y="2444750"/>
            <a:ext cx="3937000" cy="444500"/>
          </a:xfrm>
          <a:prstGeom prst="rect">
            <a:avLst/>
          </a:prstGeom>
          <a:noFill/>
        </p:spPr>
        <p:txBody>
          <a:bodyPr wrap="square" tIns="0">
            <a:noAutofit/>
          </a:bodyPr>
          <a:lstStyle/>
          <a:p>
            <a:pPr algn="l"/>
            <a:r>
              <a:rPr sz="2000" b="1">
                <a:solidFill>
                  <a:srgbClr val="FFFFFF"/>
                </a:solidFill>
                <a:latin typeface="Calibri"/>
              </a:rPr>
              <a:t>Title</a:t>
            </a:r>
          </a:p>
        </p:txBody>
      </p:sp>
      <p:sp>
        <p:nvSpPr>
          <p:cNvPr id="9" name="TextBox 8"/>
          <p:cNvSpPr txBox="1"/>
          <p:nvPr/>
        </p:nvSpPr>
        <p:spPr>
          <a:xfrm>
            <a:off x="6921500" y="2857500"/>
            <a:ext cx="3937000" cy="317500"/>
          </a:xfrm>
          <a:prstGeom prst="rect">
            <a:avLst/>
          </a:prstGeom>
          <a:noFill/>
        </p:spPr>
        <p:txBody>
          <a:bodyPr wrap="square" tIns="0">
            <a:noAutofit/>
          </a:bodyPr>
          <a:lstStyle/>
          <a:p>
            <a:pPr algn="l"/>
            <a:r>
              <a:rPr sz="1400" dirty="0">
                <a:solidFill>
                  <a:srgbClr val="8FA7C4"/>
                </a:solidFill>
                <a:latin typeface="Calibri"/>
              </a:rPr>
              <a:t>Description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brace</a:t>
            </a:r>
          </a:p>
        </p:txBody>
      </p:sp>
      <p:sp>
        <p:nvSpPr>
          <p:cNvPr id="3" name="Rounded Rectangle 2"/>
          <p:cNvSpPr/>
          <p:nvPr/>
        </p:nvSpPr>
        <p:spPr>
          <a:xfrm>
            <a:off x="952500" y="1778000"/>
            <a:ext cx="3175000" cy="508000"/>
          </a:xfrm>
          <a:prstGeom prst="roundRect">
            <a:avLst>
              <a:gd name="adj" fmla="val 30000"/>
            </a:avLst>
          </a:prstGeom>
          <a:solidFill>
            <a:srgbClr val="FFFFFF">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9500" y="1841500"/>
            <a:ext cx="2921000" cy="355600"/>
          </a:xfrm>
          <a:prstGeom prst="rect">
            <a:avLst/>
          </a:prstGeom>
          <a:noFill/>
        </p:spPr>
        <p:txBody>
          <a:bodyPr wrap="square" tIns="0">
            <a:normAutofit/>
          </a:bodyPr>
          <a:lstStyle/>
          <a:p>
            <a:pPr algn="l"/>
            <a:r>
              <a:rPr sz="1600">
                <a:solidFill>
                  <a:srgbClr val="FFFFFF"/>
                </a:solidFill>
                <a:latin typeface="Calibri"/>
              </a:rPr>
              <a:t>Item A</a:t>
            </a:r>
          </a:p>
        </p:txBody>
      </p:sp>
      <p:sp>
        <p:nvSpPr>
          <p:cNvPr id="5" name="Rounded Rectangle 4"/>
          <p:cNvSpPr/>
          <p:nvPr/>
        </p:nvSpPr>
        <p:spPr>
          <a:xfrm>
            <a:off x="952500" y="2540000"/>
            <a:ext cx="3175000" cy="508000"/>
          </a:xfrm>
          <a:prstGeom prst="roundRect">
            <a:avLst>
              <a:gd name="adj" fmla="val 30000"/>
            </a:avLst>
          </a:prstGeom>
          <a:solidFill>
            <a:srgbClr val="FFFFFF">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79500" y="2603500"/>
            <a:ext cx="2921000" cy="355600"/>
          </a:xfrm>
          <a:prstGeom prst="rect">
            <a:avLst/>
          </a:prstGeom>
          <a:noFill/>
        </p:spPr>
        <p:txBody>
          <a:bodyPr wrap="square" tIns="0">
            <a:normAutofit/>
          </a:bodyPr>
          <a:lstStyle/>
          <a:p>
            <a:pPr algn="l"/>
            <a:r>
              <a:rPr sz="1600">
                <a:solidFill>
                  <a:srgbClr val="FFFFFF"/>
                </a:solidFill>
                <a:latin typeface="Calibri"/>
              </a:rPr>
              <a:t>Item B</a:t>
            </a:r>
          </a:p>
        </p:txBody>
      </p:sp>
      <p:sp>
        <p:nvSpPr>
          <p:cNvPr id="7" name="Rounded Rectangle 6"/>
          <p:cNvSpPr/>
          <p:nvPr/>
        </p:nvSpPr>
        <p:spPr>
          <a:xfrm>
            <a:off x="952500" y="3302000"/>
            <a:ext cx="3175000" cy="508000"/>
          </a:xfrm>
          <a:prstGeom prst="roundRect">
            <a:avLst>
              <a:gd name="adj" fmla="val 30000"/>
            </a:avLst>
          </a:prstGeom>
          <a:solidFill>
            <a:srgbClr val="FFFFFF">
              <a:alpha val="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79500" y="3365500"/>
            <a:ext cx="2921000" cy="355600"/>
          </a:xfrm>
          <a:prstGeom prst="rect">
            <a:avLst/>
          </a:prstGeom>
          <a:noFill/>
        </p:spPr>
        <p:txBody>
          <a:bodyPr wrap="square" tIns="0">
            <a:normAutofit/>
          </a:bodyPr>
          <a:lstStyle/>
          <a:p>
            <a:pPr algn="l"/>
            <a:r>
              <a:rPr sz="1600">
                <a:solidFill>
                  <a:srgbClr val="FFFFFF"/>
                </a:solidFill>
                <a:latin typeface="Calibri"/>
              </a:rPr>
              <a:t>Item C</a:t>
            </a:r>
          </a:p>
        </p:txBody>
      </p:sp>
      <p:sp>
        <p:nvSpPr>
          <p:cNvPr id="9" name="Right Brace 8"/>
          <p:cNvSpPr/>
          <p:nvPr/>
        </p:nvSpPr>
        <p:spPr>
          <a:xfrm>
            <a:off x="4445000" y="1778000"/>
            <a:ext cx="317500" cy="2032000"/>
          </a:xfrm>
          <a:prstGeom prst="rightBrace">
            <a:avLst/>
          </a:prstGeom>
          <a:noFill/>
          <a:ln w="19050">
            <a:solidFill>
              <a:srgbClr val="8FA7C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80000" y="2540000"/>
            <a:ext cx="3175000" cy="444500"/>
          </a:xfrm>
          <a:prstGeom prst="rect">
            <a:avLst/>
          </a:prstGeom>
          <a:noFill/>
        </p:spPr>
        <p:txBody>
          <a:bodyPr wrap="square">
            <a:normAutofit/>
          </a:bodyPr>
          <a:lstStyle/>
          <a:p>
            <a:pPr algn="l"/>
            <a:r>
              <a:rPr sz="2000" b="1">
                <a:solidFill>
                  <a:srgbClr val="FF9900"/>
                </a:solidFill>
                <a:latin typeface="Calibri"/>
              </a:rPr>
              <a:t>Conclusion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whitespace</a:t>
            </a:r>
          </a:p>
        </p:txBody>
      </p:sp>
      <p:sp>
        <p:nvSpPr>
          <p:cNvPr id="3" name="TextBox 2"/>
          <p:cNvSpPr txBox="1"/>
          <p:nvPr/>
        </p:nvSpPr>
        <p:spPr>
          <a:xfrm>
            <a:off x="1016000" y="1651000"/>
            <a:ext cx="3175000" cy="285750"/>
          </a:xfrm>
          <a:prstGeom prst="rect">
            <a:avLst/>
          </a:prstGeom>
          <a:noFill/>
        </p:spPr>
        <p:txBody>
          <a:bodyPr wrap="square" tIns="0">
            <a:noAutofit/>
          </a:bodyPr>
          <a:lstStyle/>
          <a:p>
            <a:pPr algn="l"/>
            <a:r>
              <a:rPr sz="1400">
                <a:solidFill>
                  <a:srgbClr val="8FA7C4"/>
                </a:solidFill>
                <a:latin typeface="Calibri"/>
              </a:rPr>
              <a:t>Label</a:t>
            </a:r>
          </a:p>
        </p:txBody>
      </p:sp>
      <p:sp>
        <p:nvSpPr>
          <p:cNvPr id="4" name="TextBox 3"/>
          <p:cNvSpPr txBox="1"/>
          <p:nvPr/>
        </p:nvSpPr>
        <p:spPr>
          <a:xfrm>
            <a:off x="1016000" y="1905000"/>
            <a:ext cx="3175000" cy="444500"/>
          </a:xfrm>
          <a:prstGeom prst="rect">
            <a:avLst/>
          </a:prstGeom>
          <a:noFill/>
        </p:spPr>
        <p:txBody>
          <a:bodyPr wrap="square" tIns="0">
            <a:noAutofit/>
          </a:bodyPr>
          <a:lstStyle/>
          <a:p>
            <a:pPr algn="l"/>
            <a:r>
              <a:rPr sz="2400" b="1">
                <a:solidFill>
                  <a:srgbClr val="FFFFFF"/>
                </a:solidFill>
                <a:latin typeface="Calibri"/>
              </a:rPr>
              <a:t>Value</a:t>
            </a:r>
          </a:p>
        </p:txBody>
      </p:sp>
      <p:sp>
        <p:nvSpPr>
          <p:cNvPr id="5" name="TextBox 4"/>
          <p:cNvSpPr txBox="1"/>
          <p:nvPr/>
        </p:nvSpPr>
        <p:spPr>
          <a:xfrm>
            <a:off x="1016000" y="2857500"/>
            <a:ext cx="3175000" cy="285750"/>
          </a:xfrm>
          <a:prstGeom prst="rect">
            <a:avLst/>
          </a:prstGeom>
          <a:noFill/>
        </p:spPr>
        <p:txBody>
          <a:bodyPr wrap="square" tIns="0">
            <a:noAutofit/>
          </a:bodyPr>
          <a:lstStyle/>
          <a:p>
            <a:pPr algn="l"/>
            <a:r>
              <a:rPr sz="1400">
                <a:solidFill>
                  <a:srgbClr val="8FA7C4"/>
                </a:solidFill>
                <a:latin typeface="Calibri"/>
              </a:rPr>
              <a:t>Label</a:t>
            </a:r>
          </a:p>
        </p:txBody>
      </p:sp>
      <p:sp>
        <p:nvSpPr>
          <p:cNvPr id="6" name="TextBox 5"/>
          <p:cNvSpPr txBox="1"/>
          <p:nvPr/>
        </p:nvSpPr>
        <p:spPr>
          <a:xfrm>
            <a:off x="1016000" y="3111500"/>
            <a:ext cx="3175000" cy="444500"/>
          </a:xfrm>
          <a:prstGeom prst="rect">
            <a:avLst/>
          </a:prstGeom>
          <a:noFill/>
        </p:spPr>
        <p:txBody>
          <a:bodyPr wrap="square" tIns="0">
            <a:noAutofit/>
          </a:bodyPr>
          <a:lstStyle/>
          <a:p>
            <a:pPr algn="l"/>
            <a:r>
              <a:rPr sz="2400" b="1">
                <a:solidFill>
                  <a:srgbClr val="FFFFFF"/>
                </a:solidFill>
                <a:latin typeface="Calibri"/>
              </a:rPr>
              <a:t>Value</a:t>
            </a:r>
          </a:p>
        </p:txBody>
      </p:sp>
      <p:sp>
        <p:nvSpPr>
          <p:cNvPr id="9" name="TextBox 8"/>
          <p:cNvSpPr txBox="1"/>
          <p:nvPr/>
        </p:nvSpPr>
        <p:spPr>
          <a:xfrm>
            <a:off x="7366000" y="1651000"/>
            <a:ext cx="3175000" cy="285750"/>
          </a:xfrm>
          <a:prstGeom prst="rect">
            <a:avLst/>
          </a:prstGeom>
          <a:noFill/>
        </p:spPr>
        <p:txBody>
          <a:bodyPr wrap="square" tIns="0">
            <a:noAutofit/>
          </a:bodyPr>
          <a:lstStyle/>
          <a:p>
            <a:pPr algn="l"/>
            <a:r>
              <a:rPr sz="1400">
                <a:solidFill>
                  <a:srgbClr val="8FA7C4"/>
                </a:solidFill>
                <a:latin typeface="Calibri"/>
              </a:rPr>
              <a:t>Label</a:t>
            </a:r>
          </a:p>
        </p:txBody>
      </p:sp>
      <p:sp>
        <p:nvSpPr>
          <p:cNvPr id="10" name="TextBox 9"/>
          <p:cNvSpPr txBox="1"/>
          <p:nvPr/>
        </p:nvSpPr>
        <p:spPr>
          <a:xfrm>
            <a:off x="7366000" y="1905000"/>
            <a:ext cx="3175000" cy="444500"/>
          </a:xfrm>
          <a:prstGeom prst="rect">
            <a:avLst/>
          </a:prstGeom>
          <a:noFill/>
        </p:spPr>
        <p:txBody>
          <a:bodyPr wrap="square" tIns="0">
            <a:noAutofit/>
          </a:bodyPr>
          <a:lstStyle/>
          <a:p>
            <a:pPr algn="l"/>
            <a:r>
              <a:rPr sz="2400" b="1">
                <a:solidFill>
                  <a:srgbClr val="FFFFFF"/>
                </a:solidFill>
                <a:latin typeface="Calibri"/>
              </a:rPr>
              <a:t>Value</a:t>
            </a:r>
          </a:p>
        </p:txBody>
      </p:sp>
      <p:cxnSp>
        <p:nvCxnSpPr>
          <p:cNvPr id="11" name="Connector 10"/>
          <p:cNvCxnSpPr/>
          <p:nvPr/>
        </p:nvCxnSpPr>
        <p:spPr>
          <a:xfrm>
            <a:off x="7366000" y="2667000"/>
            <a:ext cx="3175000" cy="0"/>
          </a:xfrm>
          <a:prstGeom prst="line">
            <a:avLst/>
          </a:prstGeom>
          <a:ln w="12700">
            <a:solidFill>
              <a:srgbClr val="8FA7C4"/>
            </a:solidFill>
            <a:prstDash val="dash"/>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66000" y="2857500"/>
            <a:ext cx="3175000" cy="285750"/>
          </a:xfrm>
          <a:prstGeom prst="rect">
            <a:avLst/>
          </a:prstGeom>
          <a:noFill/>
        </p:spPr>
        <p:txBody>
          <a:bodyPr wrap="square" tIns="0">
            <a:noAutofit/>
          </a:bodyPr>
          <a:lstStyle/>
          <a:p>
            <a:pPr algn="l"/>
            <a:r>
              <a:rPr sz="1400">
                <a:solidFill>
                  <a:srgbClr val="8FA7C4"/>
                </a:solidFill>
                <a:latin typeface="Calibri"/>
              </a:rPr>
              <a:t>Label</a:t>
            </a:r>
          </a:p>
        </p:txBody>
      </p:sp>
      <p:sp>
        <p:nvSpPr>
          <p:cNvPr id="13" name="TextBox 12"/>
          <p:cNvSpPr txBox="1"/>
          <p:nvPr/>
        </p:nvSpPr>
        <p:spPr>
          <a:xfrm>
            <a:off x="7366000" y="3111500"/>
            <a:ext cx="3175000" cy="444500"/>
          </a:xfrm>
          <a:prstGeom prst="rect">
            <a:avLst/>
          </a:prstGeom>
          <a:noFill/>
        </p:spPr>
        <p:txBody>
          <a:bodyPr wrap="square" tIns="0">
            <a:noAutofit/>
          </a:bodyPr>
          <a:lstStyle/>
          <a:p>
            <a:pPr algn="l"/>
            <a:r>
              <a:rPr sz="2400" b="1">
                <a:solidFill>
                  <a:srgbClr val="FFFFFF"/>
                </a:solidFill>
                <a:latin typeface="Calibri"/>
              </a:rPr>
              <a:t>Value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nested</a:t>
            </a:r>
          </a:p>
        </p:txBody>
      </p:sp>
      <p:sp>
        <p:nvSpPr>
          <p:cNvPr id="3" name="Rectangle 2"/>
          <p:cNvSpPr/>
          <p:nvPr/>
        </p:nvSpPr>
        <p:spPr>
          <a:xfrm>
            <a:off x="609600" y="1333500"/>
            <a:ext cx="5022574" cy="3937000"/>
          </a:xfrm>
          <a:prstGeom prst="rect">
            <a:avLst/>
          </a:prstGeom>
          <a:solidFill>
            <a:srgbClr val="FFFFFF">
              <a:alpha val="6000"/>
            </a:srgbClr>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4" name="Rounded Rectangle 3"/>
          <p:cNvSpPr/>
          <p:nvPr/>
        </p:nvSpPr>
        <p:spPr>
          <a:xfrm>
            <a:off x="1057137" y="1778000"/>
            <a:ext cx="1905000" cy="3048000"/>
          </a:xfrm>
          <a:prstGeom prst="roundRect">
            <a:avLst>
              <a:gd name="adj" fmla="val 5000"/>
            </a:avLst>
          </a:prstGeom>
          <a:solidFill>
            <a:srgbClr val="FFFFFF">
              <a:alpha val="8000"/>
            </a:srgbClr>
          </a:solidFill>
          <a:ln>
            <a:noFill/>
          </a:ln>
          <a:effectLst>
            <a:outerShdw blurRad="38100" dist="19050" dir="8100000" algn="b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pic>
        <p:nvPicPr>
          <p:cNvPr id="5" name="SVG 5"/>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79438" y="2082801"/>
            <a:ext cx="660398" cy="660398"/>
          </a:xfrm>
          <a:prstGeom prst="rect">
            <a:avLst/>
          </a:prstGeom>
        </p:spPr>
      </p:pic>
      <p:sp>
        <p:nvSpPr>
          <p:cNvPr id="6" name="TextBox 5"/>
          <p:cNvSpPr txBox="1"/>
          <p:nvPr/>
        </p:nvSpPr>
        <p:spPr>
          <a:xfrm>
            <a:off x="1311137" y="2952750"/>
            <a:ext cx="1397000" cy="317500"/>
          </a:xfrm>
          <a:prstGeom prst="rect">
            <a:avLst/>
          </a:prstGeom>
          <a:noFill/>
        </p:spPr>
        <p:txBody>
          <a:bodyPr wrap="square" tIns="0">
            <a:noAutofit/>
          </a:bodyPr>
          <a:lstStyle/>
          <a:p>
            <a:pPr algn="ctr"/>
            <a:r>
              <a:rPr sz="2000" b="1">
                <a:solidFill>
                  <a:srgbClr val="FFFFFF"/>
                </a:solidFill>
                <a:latin typeface="Calibri"/>
              </a:rPr>
              <a:t>Label</a:t>
            </a:r>
          </a:p>
        </p:txBody>
      </p:sp>
      <p:sp>
        <p:nvSpPr>
          <p:cNvPr id="7" name="Rounded Rectangle 6"/>
          <p:cNvSpPr/>
          <p:nvPr/>
        </p:nvSpPr>
        <p:spPr>
          <a:xfrm>
            <a:off x="3279637" y="1778000"/>
            <a:ext cx="1905000" cy="3048000"/>
          </a:xfrm>
          <a:prstGeom prst="roundRect">
            <a:avLst>
              <a:gd name="adj" fmla="val 5000"/>
            </a:avLst>
          </a:prstGeom>
          <a:solidFill>
            <a:srgbClr val="FFFFFF">
              <a:alpha val="8000"/>
            </a:srgbClr>
          </a:solidFill>
          <a:ln>
            <a:noFill/>
          </a:ln>
          <a:effectLst>
            <a:outerShdw blurRad="38100" dist="19050" dir="8100000" algn="b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13" name="Rounded Rectangle 12"/>
          <p:cNvSpPr/>
          <p:nvPr/>
        </p:nvSpPr>
        <p:spPr>
          <a:xfrm>
            <a:off x="8509000" y="1524000"/>
            <a:ext cx="3048000" cy="3048000"/>
          </a:xfrm>
          <a:prstGeom prst="roundRect">
            <a:avLst>
              <a:gd name="adj" fmla="val 4000"/>
            </a:avLst>
          </a:prstGeom>
          <a:noFill/>
          <a:ln w="19050">
            <a:solidFill>
              <a:srgbClr val="8FA7C4"/>
            </a:solidFill>
            <a:prstDash val="solid"/>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14" name="TextBox 13"/>
          <p:cNvSpPr txBox="1"/>
          <p:nvPr/>
        </p:nvSpPr>
        <p:spPr>
          <a:xfrm>
            <a:off x="9017000" y="1968500"/>
            <a:ext cx="2159000" cy="317500"/>
          </a:xfrm>
          <a:prstGeom prst="rect">
            <a:avLst/>
          </a:prstGeom>
          <a:noFill/>
        </p:spPr>
        <p:txBody>
          <a:bodyPr wrap="square" tIns="0">
            <a:noAutofit/>
          </a:bodyPr>
          <a:lstStyle/>
          <a:p>
            <a:pPr algn="r">
              <a:lnSpc>
                <a:spcPct val="90000"/>
              </a:lnSpc>
            </a:pPr>
            <a:r>
              <a:rPr sz="1850" b="1">
                <a:solidFill>
                  <a:srgbClr val="FFFFFF"/>
                </a:solidFill>
                <a:latin typeface="Calibri"/>
              </a:rPr>
              <a:t>Title</a:t>
            </a:r>
          </a:p>
        </p:txBody>
      </p:sp>
      <p:sp>
        <p:nvSpPr>
          <p:cNvPr id="15" name="TextBox 14"/>
          <p:cNvSpPr txBox="1"/>
          <p:nvPr/>
        </p:nvSpPr>
        <p:spPr>
          <a:xfrm>
            <a:off x="9017000" y="2317750"/>
            <a:ext cx="2159000" cy="317500"/>
          </a:xfrm>
          <a:prstGeom prst="rect">
            <a:avLst/>
          </a:prstGeom>
          <a:noFill/>
        </p:spPr>
        <p:txBody>
          <a:bodyPr wrap="square" tIns="0">
            <a:noAutofit/>
          </a:bodyPr>
          <a:lstStyle/>
          <a:p>
            <a:pPr algn="r"/>
            <a:r>
              <a:rPr sz="1400">
                <a:solidFill>
                  <a:srgbClr val="8FA7C4"/>
                </a:solidFill>
                <a:latin typeface="Calibri"/>
              </a:rPr>
              <a:t>Description</a:t>
            </a:r>
          </a:p>
        </p:txBody>
      </p:sp>
      <p:sp>
        <p:nvSpPr>
          <p:cNvPr id="16" name="TextBox 15"/>
          <p:cNvSpPr txBox="1"/>
          <p:nvPr/>
        </p:nvSpPr>
        <p:spPr>
          <a:xfrm>
            <a:off x="9017000" y="2921000"/>
            <a:ext cx="2159000" cy="317500"/>
          </a:xfrm>
          <a:prstGeom prst="rect">
            <a:avLst/>
          </a:prstGeom>
          <a:noFill/>
        </p:spPr>
        <p:txBody>
          <a:bodyPr wrap="square" tIns="0">
            <a:noAutofit/>
          </a:bodyPr>
          <a:lstStyle/>
          <a:p>
            <a:pPr algn="r">
              <a:lnSpc>
                <a:spcPct val="90000"/>
              </a:lnSpc>
            </a:pPr>
            <a:r>
              <a:rPr sz="1850" b="1">
                <a:solidFill>
                  <a:srgbClr val="FFFFFF"/>
                </a:solidFill>
                <a:latin typeface="Calibri"/>
              </a:rPr>
              <a:t>Title</a:t>
            </a:r>
          </a:p>
        </p:txBody>
      </p:sp>
      <p:sp>
        <p:nvSpPr>
          <p:cNvPr id="17" name="TextBox 16"/>
          <p:cNvSpPr txBox="1"/>
          <p:nvPr/>
        </p:nvSpPr>
        <p:spPr>
          <a:xfrm>
            <a:off x="9017000" y="3270250"/>
            <a:ext cx="2159000" cy="317500"/>
          </a:xfrm>
          <a:prstGeom prst="rect">
            <a:avLst/>
          </a:prstGeom>
          <a:noFill/>
        </p:spPr>
        <p:txBody>
          <a:bodyPr wrap="square" tIns="0">
            <a:noAutofit/>
          </a:bodyPr>
          <a:lstStyle/>
          <a:p>
            <a:pPr algn="r"/>
            <a:r>
              <a:rPr sz="1400">
                <a:solidFill>
                  <a:srgbClr val="8FA7C4"/>
                </a:solidFill>
                <a:latin typeface="Calibri"/>
              </a:rPr>
              <a:t>Description</a:t>
            </a:r>
          </a:p>
        </p:txBody>
      </p:sp>
      <p:cxnSp>
        <p:nvCxnSpPr>
          <p:cNvPr id="18" name="Connector 17"/>
          <p:cNvCxnSpPr/>
          <p:nvPr/>
        </p:nvCxnSpPr>
        <p:spPr>
          <a:xfrm>
            <a:off x="8890000" y="3746500"/>
            <a:ext cx="2286000" cy="0"/>
          </a:xfrm>
          <a:prstGeom prst="line">
            <a:avLst/>
          </a:prstGeom>
          <a:ln w="12700">
            <a:solidFill>
              <a:srgbClr val="8FA7C4"/>
            </a:solidFill>
            <a:prstDash val="dash"/>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017000" y="3937000"/>
            <a:ext cx="2159000" cy="317500"/>
          </a:xfrm>
          <a:prstGeom prst="rect">
            <a:avLst/>
          </a:prstGeom>
          <a:noFill/>
        </p:spPr>
        <p:txBody>
          <a:bodyPr wrap="square" tIns="0">
            <a:noAutofit/>
          </a:bodyPr>
          <a:lstStyle/>
          <a:p>
            <a:pPr algn="r"/>
            <a:r>
              <a:rPr sz="1200">
                <a:solidFill>
                  <a:srgbClr val="8FA7C4"/>
                </a:solidFill>
                <a:latin typeface="Calibri"/>
              </a:rPr>
              <a:t>Small label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compose</a:t>
            </a:r>
          </a:p>
        </p:txBody>
      </p:sp>
      <p:sp>
        <p:nvSpPr>
          <p:cNvPr id="3" name="Rectangle 2"/>
          <p:cNvSpPr/>
          <p:nvPr/>
        </p:nvSpPr>
        <p:spPr>
          <a:xfrm>
            <a:off x="762000" y="1333500"/>
            <a:ext cx="3302000" cy="3937000"/>
          </a:xfrm>
          <a:prstGeom prst="rect">
            <a:avLst/>
          </a:prstGeom>
          <a:solidFill>
            <a:srgbClr val="FFFFFF">
              <a:alpha val="7000"/>
            </a:srgbClr>
          </a:solidFill>
          <a:ln>
            <a:noFill/>
          </a:ln>
          <a:effectLst>
            <a:outerShdw blurRad="50800" dist="25400" dir="8100000" algn="bl" rotWithShape="0">
              <a:srgbClr val="000000">
                <a:alpha val="30000"/>
              </a:srgbClr>
            </a:outerShdw>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cxnSp>
        <p:nvCxnSpPr>
          <p:cNvPr id="4" name="Connector 3"/>
          <p:cNvCxnSpPr/>
          <p:nvPr/>
        </p:nvCxnSpPr>
        <p:spPr>
          <a:xfrm>
            <a:off x="762000" y="1333500"/>
            <a:ext cx="0" cy="3937000"/>
          </a:xfrm>
          <a:prstGeom prst="line">
            <a:avLst/>
          </a:prstGeom>
          <a:ln w="101600">
            <a:gradFill>
              <a:gsLst>
                <a:gs pos="0">
                  <a:srgbClr val="FF9900"/>
                </a:gs>
                <a:gs pos="100000">
                  <a:srgbClr val="FF5C85"/>
                </a:gs>
              </a:gsLst>
              <a:lin ang="16200000"/>
            </a:gra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96000" y="2222500"/>
            <a:ext cx="4953000" cy="1905000"/>
          </a:xfrm>
          <a:prstGeom prst="roundRect">
            <a:avLst>
              <a:gd name="adj" fmla="val 6000"/>
            </a:avLst>
          </a:prstGeom>
          <a:solidFill>
            <a:srgbClr val="0A0A0A"/>
          </a:solidFill>
          <a:ln w="19050" cap="flat">
            <a:gradFill rotWithShape="1">
              <a:gsLst>
                <a:gs pos="0">
                  <a:srgbClr val="AD5CFF"/>
                </a:gs>
                <a:gs pos="100000">
                  <a:srgbClr val="FF5C85"/>
                </a:gs>
              </a:gsLst>
              <a:lin ang="8100000" scaled="1"/>
            </a:gradFill>
          </a:ln>
          <a:effectLst>
            <a:glow rad="127000">
              <a:srgbClr val="AD5CFF">
                <a:alpha val="50000"/>
              </a:srgbClr>
            </a:glow>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Connectors &amp; Flow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Arrow variants</a:t>
            </a:r>
            <a:endParaRPr dirty="0"/>
          </a:p>
        </p:txBody>
      </p:sp>
      <p:cxnSp>
        <p:nvCxnSpPr>
          <p:cNvPr id="9" name="Connector 8"/>
          <p:cNvCxnSpPr/>
          <p:nvPr/>
        </p:nvCxnSpPr>
        <p:spPr>
          <a:xfrm>
            <a:off x="3104207" y="3429000"/>
            <a:ext cx="850900" cy="0"/>
          </a:xfrm>
          <a:prstGeom prst="line">
            <a:avLst/>
          </a:prstGeom>
          <a:ln w="57150">
            <a:solidFill>
              <a:schemeClr val="tx1"/>
            </a:solidFill>
            <a:tailEnd type="arrow"/>
          </a:ln>
          <a:effectLst/>
        </p:spPr>
        <p:style>
          <a:lnRef idx="2">
            <a:schemeClr val="accent1"/>
          </a:lnRef>
          <a:fillRef idx="0">
            <a:schemeClr val="accent1"/>
          </a:fillRef>
          <a:effectRef idx="1">
            <a:schemeClr val="accent1"/>
          </a:effectRef>
          <a:fontRef idx="minor">
            <a:schemeClr val="tx1"/>
          </a:fontRef>
        </p:style>
      </p:cxnSp>
      <p:sp>
        <p:nvSpPr>
          <p:cNvPr id="13" name="三角形 12">
            <a:extLst>
              <a:ext uri="{FF2B5EF4-FFF2-40B4-BE49-F238E27FC236}">
                <a16:creationId xmlns:a16="http://schemas.microsoft.com/office/drawing/2014/main" id="{8E8DB355-796D-46F8-60EF-2915CD0C17DE}"/>
              </a:ext>
            </a:extLst>
          </p:cNvPr>
          <p:cNvSpPr/>
          <p:nvPr/>
        </p:nvSpPr>
        <p:spPr>
          <a:xfrm rot="5400000">
            <a:off x="8338240" y="3128516"/>
            <a:ext cx="697119" cy="600965"/>
          </a:xfrm>
          <a:prstGeom prst="triangl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solidFill>
                <a:schemeClr val="bg1"/>
              </a:solidFill>
            </a:endParaRPr>
          </a:p>
        </p:txBody>
      </p:sp>
      <p:sp>
        <p:nvSpPr>
          <p:cNvPr id="3" name="右矢印 2">
            <a:extLst>
              <a:ext uri="{FF2B5EF4-FFF2-40B4-BE49-F238E27FC236}">
                <a16:creationId xmlns:a16="http://schemas.microsoft.com/office/drawing/2014/main" id="{761608B6-CB0D-E1EB-BE11-29B73A9775C4}"/>
              </a:ext>
            </a:extLst>
          </p:cNvPr>
          <p:cNvSpPr/>
          <p:nvPr/>
        </p:nvSpPr>
        <p:spPr>
          <a:xfrm>
            <a:off x="5413828" y="3080437"/>
            <a:ext cx="1161143" cy="697119"/>
          </a:xfrm>
          <a:prstGeom prst="rightArrow">
            <a:avLst>
              <a:gd name="adj1" fmla="val 50000"/>
              <a:gd name="adj2" fmla="val 97886"/>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4C8BA-F9E7-8AC4-BCC7-5E2A935F2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13315-00F1-615A-DAFB-A6271FD61A7F}"/>
              </a:ext>
            </a:extLst>
          </p:cNvPr>
          <p:cNvSpPr>
            <a:spLocks noGrp="1"/>
          </p:cNvSpPr>
          <p:nvPr>
            <p:ph type="title"/>
          </p:nvPr>
        </p:nvSpPr>
        <p:spPr/>
        <p:txBody>
          <a:bodyPr/>
          <a:lstStyle/>
          <a:p>
            <a:r>
              <a:rPr dirty="0"/>
              <a:t>flow-step</a:t>
            </a:r>
          </a:p>
        </p:txBody>
      </p:sp>
      <p:sp>
        <p:nvSpPr>
          <p:cNvPr id="3" name="Rounded Rectangle 2">
            <a:extLst>
              <a:ext uri="{FF2B5EF4-FFF2-40B4-BE49-F238E27FC236}">
                <a16:creationId xmlns:a16="http://schemas.microsoft.com/office/drawing/2014/main" id="{28F03190-F351-80DD-D89C-B4BDEFA0DC98}"/>
              </a:ext>
            </a:extLst>
          </p:cNvPr>
          <p:cNvSpPr/>
          <p:nvPr/>
        </p:nvSpPr>
        <p:spPr>
          <a:xfrm>
            <a:off x="2914650" y="1587500"/>
            <a:ext cx="2540000" cy="1428750"/>
          </a:xfrm>
          <a:prstGeom prst="roundRect">
            <a:avLst>
              <a:gd name="adj" fmla="val 15000"/>
            </a:avLst>
          </a:prstGeom>
          <a:noFill/>
          <a:ln w="19050">
            <a:solidFill>
              <a:srgbClr val="FF99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a:extLst>
              <a:ext uri="{FF2B5EF4-FFF2-40B4-BE49-F238E27FC236}">
                <a16:creationId xmlns:a16="http://schemas.microsoft.com/office/drawing/2014/main" id="{3255A87F-A277-5791-8276-7EA45B9CE0A7}"/>
              </a:ext>
            </a:extLst>
          </p:cNvPr>
          <p:cNvSpPr/>
          <p:nvPr/>
        </p:nvSpPr>
        <p:spPr>
          <a:xfrm>
            <a:off x="6305550" y="1587500"/>
            <a:ext cx="2540000" cy="1428750"/>
          </a:xfrm>
          <a:prstGeom prst="roundRect">
            <a:avLst>
              <a:gd name="adj" fmla="val 15000"/>
            </a:avLst>
          </a:prstGeom>
          <a:noFill/>
          <a:ln w="19050">
            <a:solidFill>
              <a:srgbClr val="FF99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a:extLst>
              <a:ext uri="{FF2B5EF4-FFF2-40B4-BE49-F238E27FC236}">
                <a16:creationId xmlns:a16="http://schemas.microsoft.com/office/drawing/2014/main" id="{D773E7F0-DE77-BBF3-DAE5-28044FCE8A76}"/>
              </a:ext>
            </a:extLst>
          </p:cNvPr>
          <p:cNvSpPr/>
          <p:nvPr/>
        </p:nvSpPr>
        <p:spPr>
          <a:xfrm>
            <a:off x="6305550" y="4114800"/>
            <a:ext cx="2540000" cy="1428750"/>
          </a:xfrm>
          <a:prstGeom prst="roundRect">
            <a:avLst>
              <a:gd name="adj" fmla="val 15000"/>
            </a:avLst>
          </a:prstGeom>
          <a:noFill/>
          <a:ln w="19050">
            <a:solidFill>
              <a:srgbClr val="FF99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a:extLst>
              <a:ext uri="{FF2B5EF4-FFF2-40B4-BE49-F238E27FC236}">
                <a16:creationId xmlns:a16="http://schemas.microsoft.com/office/drawing/2014/main" id="{FB1EED4F-9873-4BC8-22D7-1AD94EB67E98}"/>
              </a:ext>
            </a:extLst>
          </p:cNvPr>
          <p:cNvSpPr/>
          <p:nvPr/>
        </p:nvSpPr>
        <p:spPr>
          <a:xfrm>
            <a:off x="2914650" y="4114800"/>
            <a:ext cx="2540000" cy="1428750"/>
          </a:xfrm>
          <a:prstGeom prst="roundRect">
            <a:avLst>
              <a:gd name="adj" fmla="val 15000"/>
            </a:avLst>
          </a:prstGeom>
          <a:noFill/>
          <a:ln w="19050">
            <a:solidFill>
              <a:srgbClr val="FF99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9" name="Connector 8">
            <a:extLst>
              <a:ext uri="{FF2B5EF4-FFF2-40B4-BE49-F238E27FC236}">
                <a16:creationId xmlns:a16="http://schemas.microsoft.com/office/drawing/2014/main" id="{6FD89AFF-7305-9D73-2C51-746160B3C999}"/>
              </a:ext>
            </a:extLst>
          </p:cNvPr>
          <p:cNvCxnSpPr/>
          <p:nvPr/>
        </p:nvCxnSpPr>
        <p:spPr>
          <a:xfrm>
            <a:off x="5454650" y="2305050"/>
            <a:ext cx="850900" cy="0"/>
          </a:xfrm>
          <a:prstGeom prst="line">
            <a:avLst/>
          </a:prstGeom>
          <a:ln w="57150">
            <a:solidFill>
              <a:srgbClr val="FF9900"/>
            </a:solidFill>
            <a:tailEnd type="arrow"/>
          </a:ln>
        </p:spPr>
        <p:style>
          <a:lnRef idx="2">
            <a:schemeClr val="accent1"/>
          </a:lnRef>
          <a:fillRef idx="0">
            <a:schemeClr val="accent1"/>
          </a:fillRef>
          <a:effectRef idx="1">
            <a:schemeClr val="accent1"/>
          </a:effectRef>
          <a:fontRef idx="minor">
            <a:schemeClr val="tx1"/>
          </a:fontRef>
        </p:style>
      </p:cxnSp>
      <p:cxnSp>
        <p:nvCxnSpPr>
          <p:cNvPr id="10" name="Connector 9">
            <a:extLst>
              <a:ext uri="{FF2B5EF4-FFF2-40B4-BE49-F238E27FC236}">
                <a16:creationId xmlns:a16="http://schemas.microsoft.com/office/drawing/2014/main" id="{53951E4F-2357-0629-7914-FFE1CD510289}"/>
              </a:ext>
            </a:extLst>
          </p:cNvPr>
          <p:cNvCxnSpPr/>
          <p:nvPr/>
        </p:nvCxnSpPr>
        <p:spPr>
          <a:xfrm>
            <a:off x="7575550" y="3016250"/>
            <a:ext cx="0" cy="1098550"/>
          </a:xfrm>
          <a:prstGeom prst="line">
            <a:avLst/>
          </a:prstGeom>
          <a:ln w="57150">
            <a:solidFill>
              <a:srgbClr val="FF9900"/>
            </a:solidFill>
            <a:tailEnd type="arrow"/>
          </a:ln>
        </p:spPr>
        <p:style>
          <a:lnRef idx="2">
            <a:schemeClr val="accent1"/>
          </a:lnRef>
          <a:fillRef idx="0">
            <a:schemeClr val="accent1"/>
          </a:fillRef>
          <a:effectRef idx="1">
            <a:schemeClr val="accent1"/>
          </a:effectRef>
          <a:fontRef idx="minor">
            <a:schemeClr val="tx1"/>
          </a:fontRef>
        </p:style>
      </p:cxnSp>
      <p:cxnSp>
        <p:nvCxnSpPr>
          <p:cNvPr id="11" name="Connector 10">
            <a:extLst>
              <a:ext uri="{FF2B5EF4-FFF2-40B4-BE49-F238E27FC236}">
                <a16:creationId xmlns:a16="http://schemas.microsoft.com/office/drawing/2014/main" id="{D87BFD0A-28B9-AE6F-79C5-47FC38AE83F9}"/>
              </a:ext>
            </a:extLst>
          </p:cNvPr>
          <p:cNvCxnSpPr/>
          <p:nvPr/>
        </p:nvCxnSpPr>
        <p:spPr>
          <a:xfrm flipH="1">
            <a:off x="5454650" y="4832350"/>
            <a:ext cx="850900" cy="0"/>
          </a:xfrm>
          <a:prstGeom prst="line">
            <a:avLst/>
          </a:prstGeom>
          <a:ln w="57150">
            <a:solidFill>
              <a:srgbClr val="FF9900"/>
            </a:solidFill>
            <a:tailEnd type="arrow"/>
          </a:ln>
        </p:spPr>
        <p:style>
          <a:lnRef idx="2">
            <a:schemeClr val="accent1"/>
          </a:lnRef>
          <a:fillRef idx="0">
            <a:schemeClr val="accent1"/>
          </a:fillRef>
          <a:effectRef idx="1">
            <a:schemeClr val="accent1"/>
          </a:effectRef>
          <a:fontRef idx="minor">
            <a:schemeClr val="tx1"/>
          </a:fontRef>
        </p:style>
      </p:cxnSp>
      <p:cxnSp>
        <p:nvCxnSpPr>
          <p:cNvPr id="12" name="Connector 11">
            <a:extLst>
              <a:ext uri="{FF2B5EF4-FFF2-40B4-BE49-F238E27FC236}">
                <a16:creationId xmlns:a16="http://schemas.microsoft.com/office/drawing/2014/main" id="{E1686506-AFEB-4162-0597-6AD2D0D89E58}"/>
              </a:ext>
            </a:extLst>
          </p:cNvPr>
          <p:cNvCxnSpPr/>
          <p:nvPr/>
        </p:nvCxnSpPr>
        <p:spPr>
          <a:xfrm flipV="1">
            <a:off x="4184650" y="3016250"/>
            <a:ext cx="0" cy="1098550"/>
          </a:xfrm>
          <a:prstGeom prst="line">
            <a:avLst/>
          </a:prstGeom>
          <a:ln w="57150">
            <a:solidFill>
              <a:srgbClr val="FF9900"/>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67804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phase-bar</a:t>
            </a:r>
          </a:p>
        </p:txBody>
      </p:sp>
      <p:sp>
        <p:nvSpPr>
          <p:cNvPr id="3" name="Pentagon 2"/>
          <p:cNvSpPr/>
          <p:nvPr/>
        </p:nvSpPr>
        <p:spPr>
          <a:xfrm>
            <a:off x="609600" y="2984500"/>
            <a:ext cx="3492500" cy="469900"/>
          </a:xfrm>
          <a:prstGeom prst="homePlate">
            <a:avLst/>
          </a:prstGeom>
          <a:solidFill>
            <a:srgbClr val="FF9300"/>
          </a:solidFill>
          <a:ln>
            <a:no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1600" b="1" dirty="0">
                <a:solidFill>
                  <a:srgbClr val="FFFFFF"/>
                </a:solidFill>
                <a:latin typeface="Calibri"/>
              </a:rPr>
              <a:t>Phase 1</a:t>
            </a:r>
          </a:p>
        </p:txBody>
      </p:sp>
      <p:sp>
        <p:nvSpPr>
          <p:cNvPr id="4" name="Chevron 3"/>
          <p:cNvSpPr/>
          <p:nvPr/>
        </p:nvSpPr>
        <p:spPr>
          <a:xfrm>
            <a:off x="3987800" y="2984500"/>
            <a:ext cx="2857500" cy="469900"/>
          </a:xfrm>
          <a:prstGeom prst="chevron">
            <a:avLst/>
          </a:prstGeom>
          <a:solidFill>
            <a:srgbClr val="A166FF"/>
          </a:solidFill>
          <a:ln>
            <a:noFill/>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1600" b="1">
                <a:solidFill>
                  <a:srgbClr val="FFFFFF"/>
                </a:solidFill>
                <a:latin typeface="Calibri"/>
              </a:rPr>
              <a:t>Phase 2</a:t>
            </a:r>
          </a:p>
        </p:txBody>
      </p:sp>
      <p:sp>
        <p:nvSpPr>
          <p:cNvPr id="5" name="Chevron 4"/>
          <p:cNvSpPr/>
          <p:nvPr/>
        </p:nvSpPr>
        <p:spPr>
          <a:xfrm>
            <a:off x="6731000" y="2984500"/>
            <a:ext cx="2857500" cy="469900"/>
          </a:xfrm>
          <a:prstGeom prst="chevron">
            <a:avLst/>
          </a:prstGeom>
          <a:noFill/>
          <a:ln w="25400">
            <a:solidFill>
              <a:srgbClr val="41B3FF"/>
            </a:solidFill>
            <a:prstDash val="solid"/>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1600" b="1">
                <a:solidFill>
                  <a:srgbClr val="41B3FF"/>
                </a:solidFill>
                <a:latin typeface="Calibri"/>
              </a:rPr>
              <a:t>Phase 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Indicators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number-marker</a:t>
            </a:r>
          </a:p>
        </p:txBody>
      </p:sp>
      <p:sp>
        <p:nvSpPr>
          <p:cNvPr id="3" name="Oval 2"/>
          <p:cNvSpPr/>
          <p:nvPr/>
        </p:nvSpPr>
        <p:spPr>
          <a:xfrm>
            <a:off x="1270000" y="1917700"/>
            <a:ext cx="355600" cy="355600"/>
          </a:xfrm>
          <a:prstGeom prst="ellipse">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400" b="1">
                <a:solidFill>
                  <a:srgbClr val="FFFFFF"/>
                </a:solidFill>
                <a:latin typeface="Calibri"/>
              </a:rPr>
              <a:t>1</a:t>
            </a:r>
          </a:p>
        </p:txBody>
      </p:sp>
      <p:sp>
        <p:nvSpPr>
          <p:cNvPr id="4" name="TextBox 3"/>
          <p:cNvSpPr txBox="1"/>
          <p:nvPr/>
        </p:nvSpPr>
        <p:spPr>
          <a:xfrm>
            <a:off x="1778000" y="1953325"/>
            <a:ext cx="2540000" cy="355600"/>
          </a:xfrm>
          <a:prstGeom prst="rect">
            <a:avLst/>
          </a:prstGeom>
          <a:noFill/>
        </p:spPr>
        <p:txBody>
          <a:bodyPr wrap="square" tIns="0">
            <a:noAutofit/>
          </a:bodyPr>
          <a:lstStyle/>
          <a:p>
            <a:pPr algn="l"/>
            <a:r>
              <a:rPr sz="1800" b="1">
                <a:solidFill>
                  <a:srgbClr val="FFFFFF"/>
                </a:solidFill>
                <a:latin typeface="Calibri"/>
              </a:rPr>
              <a:t>Filled marker</a:t>
            </a:r>
          </a:p>
        </p:txBody>
      </p:sp>
      <p:sp>
        <p:nvSpPr>
          <p:cNvPr id="5" name="Oval 4"/>
          <p:cNvSpPr/>
          <p:nvPr/>
        </p:nvSpPr>
        <p:spPr>
          <a:xfrm>
            <a:off x="1270000" y="2743200"/>
            <a:ext cx="355600" cy="355600"/>
          </a:xfrm>
          <a:prstGeom prst="ellipse">
            <a:avLst/>
          </a:prstGeom>
          <a:noFill/>
          <a:ln w="25400">
            <a:solidFill>
              <a:srgbClr val="FF9900"/>
            </a:solidFill>
            <a:prstDash val="soli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400" b="1">
                <a:solidFill>
                  <a:srgbClr val="FF9900"/>
                </a:solidFill>
                <a:latin typeface="Calibri"/>
              </a:rPr>
              <a:t>2</a:t>
            </a:r>
          </a:p>
        </p:txBody>
      </p:sp>
      <p:sp>
        <p:nvSpPr>
          <p:cNvPr id="6" name="TextBox 5"/>
          <p:cNvSpPr txBox="1"/>
          <p:nvPr/>
        </p:nvSpPr>
        <p:spPr>
          <a:xfrm>
            <a:off x="1778000" y="2778825"/>
            <a:ext cx="2540000" cy="355600"/>
          </a:xfrm>
          <a:prstGeom prst="rect">
            <a:avLst/>
          </a:prstGeom>
          <a:noFill/>
        </p:spPr>
        <p:txBody>
          <a:bodyPr wrap="square" tIns="0">
            <a:noAutofit/>
          </a:bodyPr>
          <a:lstStyle/>
          <a:p>
            <a:pPr algn="l"/>
            <a:r>
              <a:rPr sz="1800" b="1">
                <a:solidFill>
                  <a:srgbClr val="FFFFFF"/>
                </a:solidFill>
                <a:latin typeface="Calibri"/>
              </a:rPr>
              <a:t>Border only</a:t>
            </a:r>
          </a:p>
        </p:txBody>
      </p:sp>
      <p:sp>
        <p:nvSpPr>
          <p:cNvPr id="7" name="Oval 6"/>
          <p:cNvSpPr/>
          <p:nvPr/>
        </p:nvSpPr>
        <p:spPr>
          <a:xfrm>
            <a:off x="1270000" y="3556000"/>
            <a:ext cx="406400" cy="406400"/>
          </a:xfrm>
          <a:prstGeom prst="ellipse">
            <a:avLst/>
          </a:prstGeom>
          <a:gradFill rotWithShape="1">
            <a:gsLst>
              <a:gs pos="0">
                <a:srgbClr val="FF9900"/>
              </a:gs>
              <a:gs pos="100000">
                <a:srgbClr val="FBD332"/>
              </a:gs>
            </a:gsLst>
            <a:lin ang="13500000" scaled="1"/>
          </a:gradFill>
          <a:ln>
            <a:noFill/>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r>
              <a:rPr sz="2800" b="1">
                <a:solidFill>
                  <a:srgbClr val="FFFFFF"/>
                </a:solidFill>
                <a:latin typeface="Calibri"/>
              </a:rPr>
              <a:t>3</a:t>
            </a:r>
          </a:p>
        </p:txBody>
      </p:sp>
      <p:sp>
        <p:nvSpPr>
          <p:cNvPr id="8" name="TextBox 7"/>
          <p:cNvSpPr txBox="1"/>
          <p:nvPr/>
        </p:nvSpPr>
        <p:spPr>
          <a:xfrm>
            <a:off x="1828800" y="3617025"/>
            <a:ext cx="2540000" cy="355600"/>
          </a:xfrm>
          <a:prstGeom prst="rect">
            <a:avLst/>
          </a:prstGeom>
          <a:noFill/>
        </p:spPr>
        <p:txBody>
          <a:bodyPr wrap="square" tIns="0">
            <a:noAutofit/>
          </a:bodyPr>
          <a:lstStyle/>
          <a:p>
            <a:pPr algn="l"/>
            <a:r>
              <a:rPr sz="1800" b="1">
                <a:solidFill>
                  <a:srgbClr val="FFFFFF"/>
                </a:solidFill>
                <a:latin typeface="Calibri"/>
              </a:rPr>
              <a:t>Gradient fill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badge</a:t>
            </a:r>
          </a:p>
        </p:txBody>
      </p:sp>
      <p:sp>
        <p:nvSpPr>
          <p:cNvPr id="3" name="Rounded Rectangle 2"/>
          <p:cNvSpPr/>
          <p:nvPr/>
        </p:nvSpPr>
        <p:spPr>
          <a:xfrm>
            <a:off x="1270000" y="2222500"/>
            <a:ext cx="1339850" cy="342900"/>
          </a:xfrm>
          <a:prstGeom prst="roundRect">
            <a:avLst>
              <a:gd name="adj" fmla="val 50000"/>
            </a:avLst>
          </a:prstGeom>
          <a:solidFill>
            <a:srgbClr val="AD5CFF"/>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r>
              <a:rPr lang="en-US" altLang="ja-JP" b="1" dirty="0">
                <a:solidFill>
                  <a:srgbClr val="FFFFFF"/>
                </a:solidFill>
              </a:rPr>
              <a:t>Fill</a:t>
            </a:r>
          </a:p>
        </p:txBody>
      </p:sp>
      <p:sp>
        <p:nvSpPr>
          <p:cNvPr id="9" name="Rounded Rectangle 8"/>
          <p:cNvSpPr/>
          <p:nvPr/>
        </p:nvSpPr>
        <p:spPr>
          <a:xfrm>
            <a:off x="6985000" y="2222500"/>
            <a:ext cx="1339850" cy="342900"/>
          </a:xfrm>
          <a:prstGeom prst="roundRect">
            <a:avLst>
              <a:gd name="adj" fmla="val 50000"/>
            </a:avLst>
          </a:prstGeom>
          <a:noFill/>
          <a:ln w="15240">
            <a:solidFill>
              <a:srgbClr val="FFFFFF"/>
            </a:solidFill>
            <a:prstDash val="solid"/>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r>
              <a:rPr lang="en-US" altLang="ja-JP" b="1" dirty="0">
                <a:solidFill>
                  <a:srgbClr val="FFFFFF"/>
                </a:solidFill>
              </a:rPr>
              <a:t>Border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progress-bar</a:t>
            </a:r>
          </a:p>
        </p:txBody>
      </p:sp>
      <p:sp>
        <p:nvSpPr>
          <p:cNvPr id="3" name="Rounded Rectangle 2"/>
          <p:cNvSpPr/>
          <p:nvPr/>
        </p:nvSpPr>
        <p:spPr>
          <a:xfrm>
            <a:off x="1270000" y="2540000"/>
            <a:ext cx="5080000" cy="101600"/>
          </a:xfrm>
          <a:prstGeom prst="roundRect">
            <a:avLst>
              <a:gd name="adj" fmla="val 50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1270000" y="2540000"/>
            <a:ext cx="3556000" cy="101600"/>
          </a:xfrm>
          <a:prstGeom prst="roundRect">
            <a:avLst>
              <a:gd name="adj" fmla="val 50000"/>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889500" y="2413000"/>
            <a:ext cx="635000" cy="355600"/>
          </a:xfrm>
          <a:prstGeom prst="rect">
            <a:avLst/>
          </a:prstGeom>
          <a:noFill/>
        </p:spPr>
        <p:txBody>
          <a:bodyPr wrap="square">
            <a:normAutofit/>
          </a:bodyPr>
          <a:lstStyle/>
          <a:p>
            <a:pPr algn="l"/>
            <a:r>
              <a:rPr sz="1400" b="1">
                <a:solidFill>
                  <a:srgbClr val="FFFFFF"/>
                </a:solidFill>
                <a:latin typeface="Calibri"/>
              </a:rPr>
              <a:t>70%</a:t>
            </a:r>
          </a:p>
        </p:txBody>
      </p:sp>
      <p:sp>
        <p:nvSpPr>
          <p:cNvPr id="6" name="Rounded Rectangle 5"/>
          <p:cNvSpPr/>
          <p:nvPr/>
        </p:nvSpPr>
        <p:spPr>
          <a:xfrm>
            <a:off x="1270000" y="3175000"/>
            <a:ext cx="5080000" cy="101600"/>
          </a:xfrm>
          <a:prstGeom prst="roundRect">
            <a:avLst>
              <a:gd name="adj" fmla="val 50000"/>
            </a:avLst>
          </a:prstGeom>
          <a:solidFill>
            <a:srgbClr val="FFFFFF">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270000" y="3175000"/>
            <a:ext cx="2286000" cy="101600"/>
          </a:xfrm>
          <a:prstGeom prst="roundRect">
            <a:avLst>
              <a:gd name="adj" fmla="val 50000"/>
            </a:avLst>
          </a:prstGeom>
          <a:gradFill rotWithShape="1">
            <a:gsLst>
              <a:gs pos="0">
                <a:srgbClr val="FF9900"/>
              </a:gs>
              <a:gs pos="100000">
                <a:srgbClr val="FBD332"/>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19500" y="3048000"/>
            <a:ext cx="635000" cy="355600"/>
          </a:xfrm>
          <a:prstGeom prst="rect">
            <a:avLst/>
          </a:prstGeom>
          <a:noFill/>
        </p:spPr>
        <p:txBody>
          <a:bodyPr wrap="square">
            <a:normAutofit/>
          </a:bodyPr>
          <a:lstStyle/>
          <a:p>
            <a:pPr algn="l"/>
            <a:r>
              <a:rPr sz="1400" b="1">
                <a:solidFill>
                  <a:srgbClr val="FFFFFF"/>
                </a:solidFill>
                <a:latin typeface="Calibri"/>
              </a:rPr>
              <a:t>45%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spectrum-axis</a:t>
            </a:r>
          </a:p>
        </p:txBody>
      </p:sp>
      <p:sp>
        <p:nvSpPr>
          <p:cNvPr id="3" name="TextBox 2"/>
          <p:cNvSpPr txBox="1"/>
          <p:nvPr/>
        </p:nvSpPr>
        <p:spPr>
          <a:xfrm>
            <a:off x="241300" y="2984500"/>
            <a:ext cx="1708150" cy="336550"/>
          </a:xfrm>
          <a:prstGeom prst="rect">
            <a:avLst/>
          </a:prstGeom>
          <a:noFill/>
        </p:spPr>
        <p:txBody>
          <a:bodyPr wrap="square">
            <a:normAutofit/>
          </a:bodyPr>
          <a:lstStyle/>
          <a:p>
            <a:pPr algn="ctr"/>
            <a:r>
              <a:rPr sz="1600" b="1">
                <a:solidFill>
                  <a:srgbClr val="0072E5"/>
                </a:solidFill>
                <a:latin typeface="Calibri"/>
              </a:rPr>
              <a:t>EASIER</a:t>
            </a:r>
          </a:p>
        </p:txBody>
      </p:sp>
      <p:cxnSp>
        <p:nvCxnSpPr>
          <p:cNvPr id="4" name="Connector 3"/>
          <p:cNvCxnSpPr/>
          <p:nvPr/>
        </p:nvCxnSpPr>
        <p:spPr>
          <a:xfrm>
            <a:off x="1949450" y="3149600"/>
            <a:ext cx="8293100" cy="0"/>
          </a:xfrm>
          <a:prstGeom prst="line">
            <a:avLst/>
          </a:prstGeom>
          <a:ln w="19050">
            <a:gradFill>
              <a:gsLst>
                <a:gs pos="0">
                  <a:srgbClr val="0072E5"/>
                </a:gs>
                <a:gs pos="50000">
                  <a:srgbClr val="C300E0"/>
                </a:gs>
                <a:gs pos="100000">
                  <a:srgbClr val="00E500"/>
                </a:gs>
              </a:gsLst>
              <a:lin ang="0"/>
            </a:gradFill>
            <a:prstDash val="dash"/>
            <a:headEnd type="arrow"/>
            <a:tailEnd type="arrow"/>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242550" y="2984500"/>
            <a:ext cx="1708150" cy="336550"/>
          </a:xfrm>
          <a:prstGeom prst="rect">
            <a:avLst/>
          </a:prstGeom>
          <a:noFill/>
        </p:spPr>
        <p:txBody>
          <a:bodyPr wrap="square">
            <a:normAutofit/>
          </a:bodyPr>
          <a:lstStyle/>
          <a:p>
            <a:pPr algn="ctr"/>
            <a:r>
              <a:rPr sz="1600" b="1">
                <a:solidFill>
                  <a:srgbClr val="00E500"/>
                </a:solidFill>
                <a:latin typeface="Calibri"/>
              </a:rPr>
              <a:t>COMPLEX</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dirty="0"/>
              <a:t>progress-circle</a:t>
            </a:r>
          </a:p>
        </p:txBody>
      </p:sp>
      <p:sp>
        <p:nvSpPr>
          <p:cNvPr id="3" name="Donut 2"/>
          <p:cNvSpPr/>
          <p:nvPr/>
        </p:nvSpPr>
        <p:spPr>
          <a:xfrm>
            <a:off x="1905000" y="1778000"/>
            <a:ext cx="1587500" cy="1587500"/>
          </a:xfrm>
          <a:prstGeom prst="donut">
            <a:avLst>
              <a:gd name="adj" fmla="val 15000"/>
            </a:avLst>
          </a:prstGeom>
          <a:solidFill>
            <a:srgbClr val="FFFF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4" name="Block Arc 3"/>
          <p:cNvSpPr/>
          <p:nvPr/>
        </p:nvSpPr>
        <p:spPr>
          <a:xfrm>
            <a:off x="1905000" y="1778000"/>
            <a:ext cx="1587500" cy="1587500"/>
          </a:xfrm>
          <a:prstGeom prst="blockArc">
            <a:avLst>
              <a:gd name="adj1" fmla="val 16200000"/>
              <a:gd name="adj2" fmla="val 10367999"/>
              <a:gd name="adj3" fmla="val 15000"/>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5" name="TextBox 4"/>
          <p:cNvSpPr txBox="1"/>
          <p:nvPr/>
        </p:nvSpPr>
        <p:spPr>
          <a:xfrm>
            <a:off x="2063750" y="2349500"/>
            <a:ext cx="1270000" cy="444500"/>
          </a:xfrm>
          <a:prstGeom prst="rect">
            <a:avLst/>
          </a:prstGeom>
          <a:noFill/>
        </p:spPr>
        <p:txBody>
          <a:bodyPr wrap="square" anchor="ctr" anchorCtr="0">
            <a:noAutofit/>
          </a:bodyPr>
          <a:lstStyle/>
          <a:p>
            <a:pPr algn="ctr"/>
            <a:r>
              <a:rPr sz="3600" b="1" dirty="0">
                <a:solidFill>
                  <a:srgbClr val="FFFFFF"/>
                </a:solidFill>
                <a:latin typeface="Calibri"/>
              </a:rPr>
              <a:t>73%</a:t>
            </a:r>
          </a:p>
        </p:txBody>
      </p:sp>
      <p:sp>
        <p:nvSpPr>
          <p:cNvPr id="7" name="Donut 6"/>
          <p:cNvSpPr/>
          <p:nvPr/>
        </p:nvSpPr>
        <p:spPr>
          <a:xfrm>
            <a:off x="4762500" y="1778000"/>
            <a:ext cx="1587500" cy="1587500"/>
          </a:xfrm>
          <a:prstGeom prst="donut">
            <a:avLst>
              <a:gd name="adj" fmla="val 15000"/>
            </a:avLst>
          </a:prstGeom>
          <a:solidFill>
            <a:srgbClr val="FFFFFF">
              <a:alpha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8" name="Block Arc 7"/>
          <p:cNvSpPr/>
          <p:nvPr/>
        </p:nvSpPr>
        <p:spPr>
          <a:xfrm>
            <a:off x="4762500" y="1778000"/>
            <a:ext cx="1587500" cy="1587500"/>
          </a:xfrm>
          <a:prstGeom prst="blockArc">
            <a:avLst>
              <a:gd name="adj1" fmla="val 16200000"/>
              <a:gd name="adj2" fmla="val 4320000"/>
              <a:gd name="adj3" fmla="val 15000"/>
            </a:avLst>
          </a:prstGeom>
          <a:solidFill>
            <a:srgbClr val="41B3FF"/>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endParaRPr/>
          </a:p>
        </p:txBody>
      </p:sp>
      <p:sp>
        <p:nvSpPr>
          <p:cNvPr id="9" name="TextBox 8"/>
          <p:cNvSpPr txBox="1"/>
          <p:nvPr/>
        </p:nvSpPr>
        <p:spPr>
          <a:xfrm>
            <a:off x="4921250" y="2349500"/>
            <a:ext cx="1270000" cy="444500"/>
          </a:xfrm>
          <a:prstGeom prst="rect">
            <a:avLst/>
          </a:prstGeom>
          <a:noFill/>
        </p:spPr>
        <p:txBody>
          <a:bodyPr wrap="square" anchor="ctr" anchorCtr="0">
            <a:noAutofit/>
          </a:bodyPr>
          <a:lstStyle/>
          <a:p>
            <a:pPr algn="ctr"/>
            <a:r>
              <a:rPr sz="3600" b="1" dirty="0">
                <a:solidFill>
                  <a:srgbClr val="FFFFFF"/>
                </a:solidFill>
                <a:latin typeface="Calibri"/>
              </a:rPr>
              <a:t>45%</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Text &amp; Dividers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divider</a:t>
            </a:r>
          </a:p>
        </p:txBody>
      </p:sp>
      <p:cxnSp>
        <p:nvCxnSpPr>
          <p:cNvPr id="3" name="Connector 2"/>
          <p:cNvCxnSpPr/>
          <p:nvPr/>
        </p:nvCxnSpPr>
        <p:spPr>
          <a:xfrm>
            <a:off x="609600" y="1905000"/>
            <a:ext cx="10972800" cy="0"/>
          </a:xfrm>
          <a:prstGeom prst="line">
            <a:avLst/>
          </a:prstGeom>
          <a:ln w="12700">
            <a:solidFill>
              <a:srgbClr val="8FA7C4"/>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9600" y="2667000"/>
            <a:ext cx="10972800" cy="0"/>
          </a:xfrm>
          <a:prstGeom prst="line">
            <a:avLst/>
          </a:prstGeom>
          <a:ln w="12700">
            <a:gradFill>
              <a:gsLst>
                <a:gs pos="0">
                  <a:srgbClr val="FFFFFF">
                    <a:alpha val="0"/>
                  </a:srgbClr>
                </a:gs>
                <a:gs pos="30000">
                  <a:srgbClr val="FFFFFF"/>
                </a:gs>
                <a:gs pos="70000">
                  <a:srgbClr val="FFFFFF"/>
                </a:gs>
                <a:gs pos="100000">
                  <a:srgbClr val="FFFFFF">
                    <a:alpha val="0"/>
                  </a:srgbClr>
                </a:gs>
              </a:gsLst>
              <a:lin ang="0"/>
            </a:gra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600" y="3429000"/>
            <a:ext cx="10972800" cy="0"/>
          </a:xfrm>
          <a:prstGeom prst="line">
            <a:avLst/>
          </a:prstGeom>
          <a:ln w="12700">
            <a:solidFill>
              <a:srgbClr val="8FA7C4"/>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6000" y="3937000"/>
            <a:ext cx="0" cy="1905000"/>
          </a:xfrm>
          <a:prstGeom prst="line">
            <a:avLst/>
          </a:prstGeom>
          <a:ln w="12700">
            <a:gradFill>
              <a:gsLst>
                <a:gs pos="0">
                  <a:srgbClr val="F2FF85"/>
                </a:gs>
                <a:gs pos="63000">
                  <a:srgbClr val="FF316E"/>
                </a:gs>
                <a:gs pos="100000">
                  <a:srgbClr val="2C0152"/>
                </a:gs>
              </a:gsLst>
              <a:lin ang="16200000"/>
            </a:gra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dirty="0">
                <a:solidFill>
                  <a:srgbClr val="FFFFFF"/>
                </a:solidFill>
              </a:rPr>
              <a:t>content-banner</a:t>
            </a:r>
            <a:endParaRPr dirty="0"/>
          </a:p>
        </p:txBody>
      </p:sp>
      <p:sp>
        <p:nvSpPr>
          <p:cNvPr id="3" name="Rounded Rectangle 2"/>
          <p:cNvSpPr/>
          <p:nvPr/>
        </p:nvSpPr>
        <p:spPr>
          <a:xfrm>
            <a:off x="520700" y="2540000"/>
            <a:ext cx="11150600" cy="1358900"/>
          </a:xfrm>
          <a:prstGeom prst="roundRect">
            <a:avLst>
              <a:gd name="adj" fmla="val 50000"/>
            </a:avLst>
          </a:prstGeom>
          <a:gradFill rotWithShape="1">
            <a:gsLst>
              <a:gs pos="0">
                <a:srgbClr val="002060"/>
              </a:gs>
              <a:gs pos="46000">
                <a:srgbClr val="8105FF"/>
              </a:gs>
              <a:gs pos="99000">
                <a:srgbClr val="FF0544"/>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149350" y="2794000"/>
            <a:ext cx="2736850" cy="2603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ormAutofit/>
          </a:bodyPr>
          <a:lstStyle/>
          <a:p>
            <a:pPr algn="l"/>
            <a:r>
              <a:rPr sz="1100" dirty="0">
                <a:solidFill>
                  <a:srgbClr val="FFFFFF"/>
                </a:solidFill>
                <a:latin typeface="Calibri"/>
              </a:rPr>
              <a:t>Label</a:t>
            </a:r>
          </a:p>
        </p:txBody>
      </p:sp>
      <p:sp>
        <p:nvSpPr>
          <p:cNvPr id="5" name="Rectangle 4"/>
          <p:cNvSpPr/>
          <p:nvPr/>
        </p:nvSpPr>
        <p:spPr>
          <a:xfrm>
            <a:off x="1149350" y="3016250"/>
            <a:ext cx="2736850" cy="46355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square" rtlCol="0">
            <a:normAutofit/>
          </a:bodyPr>
          <a:lstStyle/>
          <a:p>
            <a:pPr algn="l"/>
            <a:r>
              <a:rPr sz="2400" dirty="0">
                <a:solidFill>
                  <a:srgbClr val="FFFFFF"/>
                </a:solidFill>
                <a:latin typeface="Calibri"/>
              </a:rPr>
              <a:t>Category A</a:t>
            </a:r>
          </a:p>
        </p:txBody>
      </p:sp>
    </p:spTree>
    <p:extLst>
      <p:ext uri="{BB962C8B-B14F-4D97-AF65-F5344CB8AC3E}">
        <p14:creationId xmlns:p14="http://schemas.microsoft.com/office/powerpoint/2010/main" val="1363863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Icons &amp; Markers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icon-frame</a:t>
            </a:r>
          </a:p>
        </p:txBody>
      </p:sp>
      <p:sp>
        <p:nvSpPr>
          <p:cNvPr id="3" name="Oval 2"/>
          <p:cNvSpPr/>
          <p:nvPr/>
        </p:nvSpPr>
        <p:spPr>
          <a:xfrm>
            <a:off x="1905000" y="1905000"/>
            <a:ext cx="1270000" cy="1270000"/>
          </a:xfrm>
          <a:prstGeom prst="ellipse">
            <a:avLst/>
          </a:prstGeom>
          <a:solidFill>
            <a:srgbClr val="161E2C"/>
          </a:solidFill>
          <a:ln w="31750" cap="flat">
            <a:gradFill rotWithShape="1">
              <a:gsLst>
                <a:gs pos="0">
                  <a:srgbClr val="0073E5"/>
                </a:gs>
                <a:gs pos="50000">
                  <a:srgbClr val="5900B2"/>
                </a:gs>
                <a:gs pos="100000">
                  <a:srgbClr val="C300E0"/>
                </a:gs>
              </a:gsLst>
              <a:lin ang="2700000" scaled="1"/>
            </a:gra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SVG 4"/>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85009" y="2085009"/>
            <a:ext cx="909982" cy="90998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dot-bullet-list</a:t>
            </a:r>
          </a:p>
        </p:txBody>
      </p:sp>
      <p:cxnSp>
        <p:nvCxnSpPr>
          <p:cNvPr id="3" name="Connector 2"/>
          <p:cNvCxnSpPr/>
          <p:nvPr/>
        </p:nvCxnSpPr>
        <p:spPr>
          <a:xfrm>
            <a:off x="5084418" y="1879600"/>
            <a:ext cx="0" cy="3810000"/>
          </a:xfrm>
          <a:prstGeom prst="line">
            <a:avLst/>
          </a:prstGeom>
          <a:ln w="25400">
            <a:gradFill>
              <a:gsLst>
                <a:gs pos="0">
                  <a:srgbClr val="41B3FF"/>
                </a:gs>
                <a:gs pos="50000">
                  <a:srgbClr val="AD5CFF"/>
                </a:gs>
                <a:gs pos="100000">
                  <a:srgbClr val="FF5C85"/>
                </a:gs>
              </a:gsLst>
              <a:lin ang="5400000"/>
            </a:gra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5020918" y="2260600"/>
            <a:ext cx="133350" cy="133350"/>
          </a:xfrm>
          <a:prstGeom prst="ellipse">
            <a:avLst/>
          </a:prstGeom>
          <a:solidFill>
            <a:srgbClr val="FFFFFF"/>
          </a:solidFill>
          <a:ln w="25400">
            <a:solidFill>
              <a:srgbClr val="0000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274918" y="2105025"/>
            <a:ext cx="1943070" cy="444500"/>
          </a:xfrm>
          <a:prstGeom prst="rect">
            <a:avLst/>
          </a:prstGeom>
          <a:noFill/>
        </p:spPr>
        <p:txBody>
          <a:bodyPr wrap="square" anchor="ctr">
            <a:noAutofit/>
          </a:bodyPr>
          <a:lstStyle/>
          <a:p>
            <a:pPr algn="l"/>
            <a:r>
              <a:rPr sz="1600" b="1" dirty="0">
                <a:solidFill>
                  <a:srgbClr val="FFFFFF"/>
                </a:solidFill>
                <a:latin typeface="Calibri"/>
              </a:rPr>
              <a:t>item</a:t>
            </a:r>
            <a:endParaRPr sz="1300" dirty="0">
              <a:solidFill>
                <a:srgbClr val="8FA7C4"/>
              </a:solidFill>
              <a:latin typeface="Calibri"/>
            </a:endParaRPr>
          </a:p>
        </p:txBody>
      </p:sp>
      <p:sp>
        <p:nvSpPr>
          <p:cNvPr id="10" name="Oval 3">
            <a:extLst>
              <a:ext uri="{FF2B5EF4-FFF2-40B4-BE49-F238E27FC236}">
                <a16:creationId xmlns:a16="http://schemas.microsoft.com/office/drawing/2014/main" id="{991561EF-D077-1ED9-0AE0-50476EA58DA3}"/>
              </a:ext>
            </a:extLst>
          </p:cNvPr>
          <p:cNvSpPr/>
          <p:nvPr/>
        </p:nvSpPr>
        <p:spPr>
          <a:xfrm>
            <a:off x="5020918" y="2870200"/>
            <a:ext cx="133350" cy="133350"/>
          </a:xfrm>
          <a:prstGeom prst="ellipse">
            <a:avLst/>
          </a:prstGeom>
          <a:solidFill>
            <a:schemeClr val="accent6"/>
          </a:solidFill>
          <a:ln w="25400">
            <a:solidFill>
              <a:srgbClr val="0000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4">
            <a:extLst>
              <a:ext uri="{FF2B5EF4-FFF2-40B4-BE49-F238E27FC236}">
                <a16:creationId xmlns:a16="http://schemas.microsoft.com/office/drawing/2014/main" id="{094BE982-512A-1361-AFEC-B8AA004FE23B}"/>
              </a:ext>
            </a:extLst>
          </p:cNvPr>
          <p:cNvSpPr txBox="1"/>
          <p:nvPr/>
        </p:nvSpPr>
        <p:spPr>
          <a:xfrm>
            <a:off x="2950854" y="2714625"/>
            <a:ext cx="1943065" cy="444500"/>
          </a:xfrm>
          <a:prstGeom prst="rect">
            <a:avLst/>
          </a:prstGeom>
          <a:noFill/>
        </p:spPr>
        <p:txBody>
          <a:bodyPr wrap="square" anchor="ctr">
            <a:noAutofit/>
          </a:bodyPr>
          <a:lstStyle/>
          <a:p>
            <a:pPr algn="r"/>
            <a:r>
              <a:rPr sz="1600" b="1" dirty="0">
                <a:solidFill>
                  <a:srgbClr val="FFFFFF"/>
                </a:solidFill>
                <a:latin typeface="Calibri"/>
              </a:rPr>
              <a:t>item</a:t>
            </a:r>
            <a:endParaRPr sz="1300" dirty="0">
              <a:solidFill>
                <a:srgbClr val="8FA7C4"/>
              </a:solidFill>
              <a:latin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double-ring-marker</a:t>
            </a:r>
          </a:p>
        </p:txBody>
      </p:sp>
      <p:cxnSp>
        <p:nvCxnSpPr>
          <p:cNvPr id="3" name="Connector 2"/>
          <p:cNvCxnSpPr/>
          <p:nvPr/>
        </p:nvCxnSpPr>
        <p:spPr>
          <a:xfrm>
            <a:off x="0" y="3175000"/>
            <a:ext cx="12192000" cy="0"/>
          </a:xfrm>
          <a:prstGeom prst="line">
            <a:avLst/>
          </a:prstGeom>
          <a:ln w="25400">
            <a:gradFill>
              <a:gsLst>
                <a:gs pos="0">
                  <a:srgbClr val="AD5CFF"/>
                </a:gs>
                <a:gs pos="50000">
                  <a:srgbClr val="41B3FF"/>
                </a:gs>
                <a:gs pos="100000">
                  <a:srgbClr val="00E500"/>
                </a:gs>
              </a:gsLst>
              <a:lin ang="0"/>
            </a:gra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774700" y="2901950"/>
            <a:ext cx="546100" cy="546100"/>
          </a:xfrm>
          <a:prstGeom prst="ellipse">
            <a:avLst/>
          </a:prstGeom>
          <a:noFill/>
          <a:ln w="27940">
            <a:solidFill>
              <a:srgbClr val="AD5CFF"/>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08050" y="3035300"/>
            <a:ext cx="273050" cy="273050"/>
          </a:xfrm>
          <a:prstGeom prst="ellipse">
            <a:avLst/>
          </a:prstGeom>
          <a:solidFill>
            <a:srgbClr val="AD5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524250"/>
            <a:ext cx="1181100" cy="355600"/>
          </a:xfrm>
          <a:prstGeom prst="rect">
            <a:avLst/>
          </a:prstGeom>
          <a:noFill/>
        </p:spPr>
        <p:txBody>
          <a:bodyPr wrap="square">
            <a:normAutofit/>
          </a:bodyPr>
          <a:lstStyle/>
          <a:p>
            <a:pPr algn="ctr"/>
            <a:r>
              <a:rPr lang="en-US" sz="1400" b="1" dirty="0">
                <a:solidFill>
                  <a:srgbClr val="FFFFFF"/>
                </a:solidFill>
                <a:latin typeface="Calibri"/>
              </a:rPr>
              <a:t>text</a:t>
            </a:r>
            <a:endParaRPr sz="1400" b="1" dirty="0">
              <a:solidFill>
                <a:srgbClr val="FFFFFF"/>
              </a:solidFill>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Techniques &amp; Effects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progressive-overlay</a:t>
            </a:r>
          </a:p>
        </p:txBody>
      </p:sp>
      <p:sp>
        <p:nvSpPr>
          <p:cNvPr id="3" name="Rounded Rectangle 2"/>
          <p:cNvSpPr/>
          <p:nvPr/>
        </p:nvSpPr>
        <p:spPr>
          <a:xfrm>
            <a:off x="1270000" y="1587500"/>
            <a:ext cx="2540000" cy="1270000"/>
          </a:xfrm>
          <a:prstGeom prst="roundRect">
            <a:avLst>
              <a:gd name="adj" fmla="val 6000"/>
            </a:avLst>
          </a:prstGeom>
          <a:solidFill>
            <a:srgbClr val="FFFFFF">
              <a:alpha val="8000"/>
            </a:srgbClr>
          </a:solidFill>
          <a:ln w="12700">
            <a:solidFill>
              <a:srgbClr val="8FA7C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826000" y="1587500"/>
            <a:ext cx="2540000" cy="1270000"/>
          </a:xfrm>
          <a:prstGeom prst="roundRect">
            <a:avLst>
              <a:gd name="adj" fmla="val 6000"/>
            </a:avLst>
          </a:prstGeom>
          <a:solidFill>
            <a:srgbClr val="FFFFFF">
              <a:alpha val="8000"/>
            </a:srgbClr>
          </a:solidFill>
          <a:ln w="12700">
            <a:solidFill>
              <a:srgbClr val="8FA7C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6">
            <a:extLst>
              <a:ext uri="{FF2B5EF4-FFF2-40B4-BE49-F238E27FC236}">
                <a16:creationId xmlns:a16="http://schemas.microsoft.com/office/drawing/2014/main" id="{28E2AE1D-D96F-35A1-E868-5679826D6666}"/>
              </a:ext>
            </a:extLst>
          </p:cNvPr>
          <p:cNvSpPr/>
          <p:nvPr/>
        </p:nvSpPr>
        <p:spPr>
          <a:xfrm>
            <a:off x="993913" y="1524000"/>
            <a:ext cx="7460974" cy="1510748"/>
          </a:xfrm>
          <a:prstGeom prst="rect">
            <a:avLst/>
          </a:prstGeom>
          <a:solidFill>
            <a:srgbClr val="000000">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7">
            <a:extLst>
              <a:ext uri="{FF2B5EF4-FFF2-40B4-BE49-F238E27FC236}">
                <a16:creationId xmlns:a16="http://schemas.microsoft.com/office/drawing/2014/main" id="{8716EF17-4114-6205-D224-DAF862F50664}"/>
              </a:ext>
            </a:extLst>
          </p:cNvPr>
          <p:cNvSpPr/>
          <p:nvPr/>
        </p:nvSpPr>
        <p:spPr>
          <a:xfrm>
            <a:off x="4826000" y="1587500"/>
            <a:ext cx="2540000" cy="1270000"/>
          </a:xfrm>
          <a:prstGeom prst="roundRect">
            <a:avLst>
              <a:gd name="adj" fmla="val 6000"/>
            </a:avLst>
          </a:prstGeom>
          <a:solidFill>
            <a:srgbClr val="FFFFFF">
              <a:alpha val="8000"/>
            </a:srgbClr>
          </a:solidFill>
          <a:ln w="25400">
            <a:solidFill>
              <a:srgbClr val="FF9900"/>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styled-table</a:t>
            </a:r>
          </a:p>
        </p:txBody>
      </p:sp>
      <p:graphicFrame>
        <p:nvGraphicFramePr>
          <p:cNvPr id="3" name="Table 2"/>
          <p:cNvGraphicFramePr>
            <a:graphicFrameLocks noGrp="1"/>
          </p:cNvGraphicFramePr>
          <p:nvPr>
            <p:extLst>
              <p:ext uri="{D42A27DB-BD31-4B8C-83A1-F6EECF244321}">
                <p14:modId xmlns:p14="http://schemas.microsoft.com/office/powerpoint/2010/main" val="3560023568"/>
              </p:ext>
            </p:extLst>
          </p:nvPr>
        </p:nvGraphicFramePr>
        <p:xfrm>
          <a:off x="3105150" y="2070100"/>
          <a:ext cx="5981700" cy="2717800"/>
        </p:xfrm>
        <a:graphic>
          <a:graphicData uri="http://schemas.openxmlformats.org/drawingml/2006/table">
            <a:tbl>
              <a:tblPr firstRow="1">
                <a:tableStyleId>{5C22544A-7EE6-4342-B048-85BDC9FD1C3A}</a:tableStyleId>
              </a:tblPr>
              <a:tblGrid>
                <a:gridCol w="508000">
                  <a:extLst>
                    <a:ext uri="{9D8B030D-6E8A-4147-A177-3AD203B41FA5}">
                      <a16:colId xmlns:a16="http://schemas.microsoft.com/office/drawing/2014/main" val="20000"/>
                    </a:ext>
                  </a:extLst>
                </a:gridCol>
                <a:gridCol w="2736850">
                  <a:extLst>
                    <a:ext uri="{9D8B030D-6E8A-4147-A177-3AD203B41FA5}">
                      <a16:colId xmlns:a16="http://schemas.microsoft.com/office/drawing/2014/main" val="20003"/>
                    </a:ext>
                  </a:extLst>
                </a:gridCol>
                <a:gridCol w="2736850">
                  <a:extLst>
                    <a:ext uri="{9D8B030D-6E8A-4147-A177-3AD203B41FA5}">
                      <a16:colId xmlns:a16="http://schemas.microsoft.com/office/drawing/2014/main" val="20004"/>
                    </a:ext>
                  </a:extLst>
                </a:gridCol>
              </a:tblGrid>
              <a:tr h="603250">
                <a:tc>
                  <a:txBody>
                    <a:bodyPr/>
                    <a:lstStyle/>
                    <a:p>
                      <a:pPr algn="ctr"/>
                      <a:r>
                        <a:rPr lang="en-US" altLang="ja-JP" sz="1800" b="1">
                          <a:solidFill>
                            <a:srgbClr val="FF9900"/>
                          </a:solidFill>
                          <a:latin typeface="Calibri"/>
                        </a:rPr>
                        <a:t>#</a:t>
                      </a:r>
                      <a:endParaRPr lang="en-US" altLang="ja-JP" sz="1800" b="1" dirty="0">
                        <a:solidFill>
                          <a:srgbClr val="FF9900"/>
                        </a:solidFill>
                        <a:latin typeface="Calibri"/>
                      </a:endParaRPr>
                    </a:p>
                  </a:txBody>
                  <a:tcPr marL="107950" marR="107950" marT="107950" marB="107950" anchor="ctr">
                    <a:solidFill>
                      <a:srgbClr val="161D26"/>
                    </a:solidFill>
                  </a:tcPr>
                </a:tc>
                <a:tc>
                  <a:txBody>
                    <a:bodyPr/>
                    <a:lstStyle/>
                    <a:p>
                      <a:pPr algn="ctr"/>
                      <a:r>
                        <a:rPr lang="en-US" sz="1800" b="1" dirty="0">
                          <a:solidFill>
                            <a:srgbClr val="FFFFFF"/>
                          </a:solidFill>
                          <a:latin typeface="Calibri"/>
                        </a:rPr>
                        <a:t>Category A</a:t>
                      </a:r>
                    </a:p>
                  </a:txBody>
                  <a:tcPr marL="107950" marR="107950" marT="107950" marB="107950" anchor="ctr">
                    <a:solidFill>
                      <a:srgbClr val="161D26"/>
                    </a:solidFill>
                  </a:tcPr>
                </a:tc>
                <a:tc>
                  <a:txBody>
                    <a:bodyPr/>
                    <a:lstStyle/>
                    <a:p>
                      <a:pPr algn="ctr"/>
                      <a:r>
                        <a:rPr lang="en-US" sz="1800" b="1" dirty="0">
                          <a:solidFill>
                            <a:srgbClr val="FFFFFF"/>
                          </a:solidFill>
                          <a:latin typeface="Calibri"/>
                        </a:rPr>
                        <a:t>Category B</a:t>
                      </a:r>
                    </a:p>
                  </a:txBody>
                  <a:tcPr marL="107950" marR="107950" marT="107950" marB="107950" anchor="ctr">
                    <a:solidFill>
                      <a:srgbClr val="161D26"/>
                    </a:solidFill>
                  </a:tcPr>
                </a:tc>
                <a:extLst>
                  <a:ext uri="{0D108BD9-81ED-4DB2-BD59-A6C34878D82A}">
                    <a16:rowId xmlns:a16="http://schemas.microsoft.com/office/drawing/2014/main" val="10000"/>
                  </a:ext>
                </a:extLst>
              </a:tr>
              <a:tr h="793750">
                <a:tc>
                  <a:txBody>
                    <a:bodyPr/>
                    <a:lstStyle/>
                    <a:p>
                      <a:pPr algn="ctr"/>
                      <a:r>
                        <a:rPr lang="en-US" sz="1800" b="1" dirty="0">
                          <a:solidFill>
                            <a:srgbClr val="FF9900"/>
                          </a:solidFill>
                          <a:latin typeface="Calibri"/>
                        </a:rPr>
                        <a:t>1</a:t>
                      </a:r>
                    </a:p>
                  </a:txBody>
                  <a:tcPr marL="107950" marR="107950" marT="107950" marB="107950" anchor="ctr">
                    <a:solidFill>
                      <a:srgbClr val="161D26"/>
                    </a:solidFill>
                  </a:tcPr>
                </a:tc>
                <a:tc rowSpan="2">
                  <a:txBody>
                    <a:bodyPr/>
                    <a:lstStyle/>
                    <a:p>
                      <a:r>
                        <a:rPr lang="en-US" sz="1800" dirty="0">
                          <a:solidFill>
                            <a:srgbClr val="FFFFFF"/>
                          </a:solidFill>
                          <a:latin typeface="Calibri"/>
                        </a:rPr>
                        <a:t>Pattern</a:t>
                      </a:r>
                      <a:endParaRPr lang="en-US" sz="1800" dirty="0">
                        <a:solidFill>
                          <a:srgbClr val="FFFFFF"/>
                        </a:solidFill>
                      </a:endParaRPr>
                    </a:p>
                  </a:txBody>
                  <a:tcPr marL="107950" marR="107950" marT="107950" marB="107950" anchor="ctr">
                    <a:solidFill>
                      <a:srgbClr val="000000"/>
                    </a:solidFill>
                  </a:tcPr>
                </a:tc>
                <a:tc>
                  <a:txBody>
                    <a:bodyPr/>
                    <a:lstStyle/>
                    <a:p>
                      <a:pPr algn="r"/>
                      <a:r>
                        <a:rPr lang="en-US" sz="1800" b="1" dirty="0">
                          <a:solidFill>
                            <a:srgbClr val="FF693C"/>
                          </a:solidFill>
                          <a:latin typeface="Calibri"/>
                        </a:rPr>
                        <a:t>Resource A</a:t>
                      </a:r>
                    </a:p>
                  </a:txBody>
                  <a:tcPr marL="107950" marR="107950" marT="107950" marB="107950" anchor="ctr">
                    <a:solidFill>
                      <a:srgbClr val="161D26"/>
                    </a:solidFill>
                  </a:tcPr>
                </a:tc>
                <a:extLst>
                  <a:ext uri="{0D108BD9-81ED-4DB2-BD59-A6C34878D82A}">
                    <a16:rowId xmlns:a16="http://schemas.microsoft.com/office/drawing/2014/main" val="10003"/>
                  </a:ext>
                </a:extLst>
              </a:tr>
              <a:tr h="1320800">
                <a:tc>
                  <a:txBody>
                    <a:bodyPr/>
                    <a:lstStyle/>
                    <a:p>
                      <a:pPr algn="ctr"/>
                      <a:r>
                        <a:rPr lang="en-US" sz="1800" b="1" dirty="0">
                          <a:solidFill>
                            <a:srgbClr val="FF9900"/>
                          </a:solidFill>
                          <a:latin typeface="Calibri"/>
                        </a:rPr>
                        <a:t>2</a:t>
                      </a:r>
                    </a:p>
                  </a:txBody>
                  <a:tcPr marL="107950" marR="107950" marT="107950" marB="107950" anchor="ctr">
                    <a:solidFill>
                      <a:srgbClr val="161D26"/>
                    </a:solidFill>
                  </a:tcPr>
                </a:tc>
                <a:tc vMerge="1">
                  <a:txBody>
                    <a:bodyPr/>
                    <a:lstStyle/>
                    <a:p>
                      <a:endParaRPr/>
                    </a:p>
                  </a:txBody>
                  <a:tcPr/>
                </a:tc>
                <a:tc>
                  <a:txBody>
                    <a:bodyPr/>
                    <a:lstStyle/>
                    <a:p>
                      <a:pPr algn="r"/>
                      <a:r>
                        <a:rPr lang="en-US" sz="1800" b="1" dirty="0">
                          <a:solidFill>
                            <a:srgbClr val="FF693C"/>
                          </a:solidFill>
                          <a:latin typeface="Calibri"/>
                        </a:rPr>
                        <a:t>Resource B</a:t>
                      </a:r>
                    </a:p>
                  </a:txBody>
                  <a:tcPr marL="107950" marR="107950" marT="107950" marB="107950" anchor="ctr">
                    <a:solidFill>
                      <a:srgbClr val="161D2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label-grid</a:t>
            </a:r>
          </a:p>
        </p:txBody>
      </p:sp>
      <p:sp>
        <p:nvSpPr>
          <p:cNvPr id="3" name="Rectangle 2"/>
          <p:cNvSpPr/>
          <p:nvPr/>
        </p:nvSpPr>
        <p:spPr>
          <a:xfrm>
            <a:off x="819150" y="1377950"/>
            <a:ext cx="2197100" cy="1320800"/>
          </a:xfrm>
          <a:prstGeom prst="rect">
            <a:avLst/>
          </a:prstGeom>
          <a:noFill/>
          <a:ln w="12700">
            <a:solidFill>
              <a:srgbClr val="FCFCFD"/>
            </a:solidFill>
            <a:prstDash val="solid"/>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2400">
                <a:solidFill>
                  <a:srgbClr val="FFFFFF"/>
                </a:solidFill>
                <a:latin typeface="Calibri"/>
              </a:rPr>
              <a:t>Label 1</a:t>
            </a:r>
          </a:p>
        </p:txBody>
      </p:sp>
      <p:sp>
        <p:nvSpPr>
          <p:cNvPr id="4" name="Rectangle 3"/>
          <p:cNvSpPr/>
          <p:nvPr/>
        </p:nvSpPr>
        <p:spPr>
          <a:xfrm>
            <a:off x="3155950" y="1377950"/>
            <a:ext cx="8439150" cy="1320800"/>
          </a:xfrm>
          <a:prstGeom prst="rect">
            <a:avLst/>
          </a:prstGeom>
          <a:noFill/>
          <a:ln w="12700">
            <a:solidFill>
              <a:srgbClr val="FCFCF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19150" y="2952750"/>
            <a:ext cx="2197100" cy="2876550"/>
          </a:xfrm>
          <a:prstGeom prst="rect">
            <a:avLst/>
          </a:prstGeom>
          <a:noFill/>
          <a:ln w="12700">
            <a:solidFill>
              <a:srgbClr val="FCFCFD"/>
            </a:solidFill>
            <a:prstDash val="solid"/>
          </a:ln>
        </p:spPr>
        <p:style>
          <a:lnRef idx="1">
            <a:schemeClr val="accent1"/>
          </a:lnRef>
          <a:fillRef idx="3">
            <a:schemeClr val="accent1"/>
          </a:fillRef>
          <a:effectRef idx="2">
            <a:schemeClr val="accent1"/>
          </a:effectRef>
          <a:fontRef idx="minor">
            <a:schemeClr val="lt1"/>
          </a:fontRef>
        </p:style>
        <p:txBody>
          <a:bodyPr wrap="square" rtlCol="0" anchor="ctr">
            <a:normAutofit/>
          </a:bodyPr>
          <a:lstStyle/>
          <a:p>
            <a:pPr algn="ctr"/>
            <a:r>
              <a:rPr sz="2400">
                <a:solidFill>
                  <a:srgbClr val="FFFFFF"/>
                </a:solidFill>
                <a:latin typeface="Calibri"/>
              </a:rPr>
              <a:t>Label 2</a:t>
            </a:r>
          </a:p>
        </p:txBody>
      </p:sp>
      <p:sp>
        <p:nvSpPr>
          <p:cNvPr id="6" name="Rectangle 5"/>
          <p:cNvSpPr/>
          <p:nvPr/>
        </p:nvSpPr>
        <p:spPr>
          <a:xfrm>
            <a:off x="3155950" y="2952750"/>
            <a:ext cx="8439150" cy="2876550"/>
          </a:xfrm>
          <a:prstGeom prst="rect">
            <a:avLst/>
          </a:prstGeom>
          <a:noFill/>
          <a:ln w="12700">
            <a:solidFill>
              <a:srgbClr val="FCFCFD"/>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floating-screenshot</a:t>
            </a:r>
          </a:p>
        </p:txBody>
      </p:sp>
      <p:pic>
        <p:nvPicPr>
          <p:cNvPr id="3" name="Picture 2" descr="sample-screenshot.png"/>
          <p:cNvPicPr>
            <a:picLocks noChangeAspect="1"/>
          </p:cNvPicPr>
          <p:nvPr/>
        </p:nvPicPr>
        <p:blipFill>
          <a:blip r:embed="rId3"/>
          <a:stretch>
            <a:fillRect/>
          </a:stretch>
        </p:blipFill>
        <p:spPr>
          <a:xfrm>
            <a:off x="635000" y="1270000"/>
            <a:ext cx="5080000" cy="3175000"/>
          </a:xfrm>
          <a:prstGeom prst="roundRect">
            <a:avLst>
              <a:gd name="adj" fmla="val 2000"/>
            </a:avLst>
          </a:prstGeom>
          <a:effectLst>
            <a:outerShdw blurRad="101600" dist="50800" dir="8100000" algn="bl" rotWithShape="0">
              <a:srgbClr val="000000">
                <a:alpha val="45000"/>
              </a:srgbClr>
            </a:outerShdw>
          </a:effectLst>
        </p:spPr>
      </p:pic>
      <p:pic>
        <p:nvPicPr>
          <p:cNvPr id="4" name="Picture 3" descr="sample-screenshot.png"/>
          <p:cNvPicPr>
            <a:picLocks noChangeAspect="1"/>
          </p:cNvPicPr>
          <p:nvPr/>
        </p:nvPicPr>
        <p:blipFill>
          <a:blip r:embed="rId3">
            <a:lum bright="-10000"/>
            <a:hsl sat="-50000"/>
          </a:blip>
          <a:stretch>
            <a:fillRect/>
          </a:stretch>
        </p:blipFill>
        <p:spPr>
          <a:xfrm>
            <a:off x="6350000" y="1587500"/>
            <a:ext cx="5080000" cy="3175000"/>
          </a:xfrm>
          <a:prstGeom prst="rect">
            <a:avLst/>
          </a:prstGeom>
          <a:effectLst>
            <a:softEdge rad="190500"/>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1467</TotalTime>
  <Words>4396</Words>
  <Application>Microsoft Macintosh PowerPoint</Application>
  <PresentationFormat>ワイド画面</PresentationFormat>
  <Paragraphs>395</Paragraphs>
  <Slides>31</Slides>
  <Notes>31</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31</vt:i4>
      </vt:variant>
    </vt:vector>
  </HeadingPairs>
  <TitlesOfParts>
    <vt:vector size="34" baseType="lpstr">
      <vt:lpstr>Arial</vt:lpstr>
      <vt:lpstr>Calibri</vt:lpstr>
      <vt:lpstr>Office Theme</vt:lpstr>
      <vt:lpstr>Constraints</vt:lpstr>
      <vt:lpstr>Containers</vt:lpstr>
      <vt:lpstr>fill</vt:lpstr>
      <vt:lpstr>border</vt:lpstr>
      <vt:lpstr>accent-line</vt:lpstr>
      <vt:lpstr>brace</vt:lpstr>
      <vt:lpstr>whitespace</vt:lpstr>
      <vt:lpstr>nested</vt:lpstr>
      <vt:lpstr>compose</vt:lpstr>
      <vt:lpstr>Connectors &amp; Flow</vt:lpstr>
      <vt:lpstr>Arrow variants</vt:lpstr>
      <vt:lpstr>flow-step</vt:lpstr>
      <vt:lpstr>phase-bar</vt:lpstr>
      <vt:lpstr>Indicators</vt:lpstr>
      <vt:lpstr>number-marker</vt:lpstr>
      <vt:lpstr>badge</vt:lpstr>
      <vt:lpstr>progress-bar</vt:lpstr>
      <vt:lpstr>spectrum-axis</vt:lpstr>
      <vt:lpstr>progress-circle</vt:lpstr>
      <vt:lpstr>Text &amp; Dividers</vt:lpstr>
      <vt:lpstr>divider</vt:lpstr>
      <vt:lpstr>content-banner</vt:lpstr>
      <vt:lpstr>Icons &amp; Markers</vt:lpstr>
      <vt:lpstr>icon-frame</vt:lpstr>
      <vt:lpstr>dot-bullet-list</vt:lpstr>
      <vt:lpstr>double-ring-marker</vt:lpstr>
      <vt:lpstr>Techniques &amp; Effects</vt:lpstr>
      <vt:lpstr>progressive-overlay</vt:lpstr>
      <vt:lpstr>styled-table</vt:lpstr>
      <vt:lpstr>label-grid</vt:lpstr>
      <vt:lpstr>floating-screenshot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KATAOKA, SHOTARO</cp:lastModifiedBy>
  <cp:revision>97</cp:revision>
  <dcterms:created xsi:type="dcterms:W3CDTF">2013-01-27T09:14:16Z</dcterms:created>
  <dcterms:modified xsi:type="dcterms:W3CDTF">2026-04-01T23:44:40Z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2026-03-17T08:06:01Z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3abf4adf-9263-4a33-88a5-48122f97378e</vt:lpwstr>
  </property>
  <property fmtid="{D5CDD505-2E9C-101B-9397-08002B2CF9AE}" pid="8" name="MSIP_Label_19e68092-05df-4271-8e3e-b2a4c82ba797_ContentBits">
    <vt:lpwstr>0</vt:lpwstr>
  </property>
  <property fmtid="{D5CDD505-2E9C-101B-9397-08002B2CF9AE}" pid="9" name="MSIP_Label_19e68092-05df-4271-8e3e-b2a4c82ba797_Tag">
    <vt:lpwstr>50, 3, 0, 1</vt:lpwstr>
  </property>
</Properties>
</file>