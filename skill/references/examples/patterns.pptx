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707"/>
  </p:normalViewPr>
  <p:slideViewPr>
    <p:cSldViewPr snapToGrid="0" snapToObjects="1">
      <p:cViewPr varScale="1">
        <p:scale>
          <a:sx n="126" d="100"/>
          <a:sy n="126" d="100"/>
        </p:scale>
        <p:origin x="232" y="2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8FD1B0-74F3-D141-B210-936319A276C7}" type="datetimeFigureOut">
              <a:rPr kumimoji="1" lang="ja-JP" altLang="en-US" smtClean="0"/>
              <a:t>2026/4/10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D12DD4-0740-C747-9E66-F79886FCF7F5}" type="slidenum">
              <a:rPr kumimoji="1" lang="ja-JP" altLang="en-US" smtClean="0"/>
              <a:t>‹#›</a:t>
            </a:fld>
            <a:endParaRPr kumimoji="1" lang="ja-JP" altLang="en-US"/>
          </a:p>
        </p:txBody>
      </p:sp>
    </p:spTree>
    <p:extLst>
      <p:ext uri="{BB962C8B-B14F-4D97-AF65-F5344CB8AC3E}">
        <p14:creationId xmlns:p14="http://schemas.microsoft.com/office/powerpoint/2010/main" val="23891496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[Sequence] arc-list — Items along a circular arc with icon-frame (component) markers. The arc implies motion and continuity — the eye follows the curve.</a:t>
            </a:r>
            <a:br>
              <a:rPr/>
            </a:br>
            <a:br>
              <a:rPr/>
            </a:br>
            <a:r>
              <a:rPr>
                <a:solidFill>
                  <a:srgbClr val="FFFFFF"/>
                </a:solidFill>
                <a:latin typeface="Amazon Ember"/>
              </a:rPr>
              <a:t>Let 's build this.</a:t>
            </a:r>
            <a:br>
              <a:rPr/>
            </a:br>
            <a:br>
              <a:rPr/>
            </a:br>
            <a:r>
              <a:rPr>
                <a:solidFill>
                  <a:srgbClr val="FFFFFF"/>
                </a:solidFill>
                <a:latin typeface="Amazon Ember"/>
              </a:rPr>
              <a:t>A large circle shape is both the arc and the connector — no separate connectors. The circle MUST extend beyond the slide boundaries: use negative x/y and a diameter larger than the slide (e.g. x=-436, y=-148, diameter ~1400px). Most of the circle is invisible — only the arc segment inside the slide is seen. This deliberate overflow creates a sense of something larger than the frame. The arc spans top edge to bottom edge. lineGradient (angle 90° = top to bottom) reinforces direction.</a:t>
            </a:r>
            <a:br>
              <a:rPr/>
            </a:br>
            <a:br>
              <a:rPr/>
            </a:br>
            <a:r>
              <a:rPr>
                <a:solidFill>
                  <a:srgbClr val="FFFFFF"/>
                </a:solidFill>
                <a:latin typeface="Amazon Ember"/>
              </a:rPr>
              <a:t>The circle' s center x controls where items land horizontally. Center too far left and items cluster near the right edge, leaving dead space on the left. Center too far right and the arc flattens. Aim for items landing around 1/3–1/2 of the slide width — the title fills the left, items and text fill the center-right.</a:t>
            </a:r>
            <a:br>
              <a:rPr/>
            </a:br>
            <a:br>
              <a:rPr/>
            </a:br>
            <a:r>
              <a:rPr>
                <a:solidFill>
                  <a:srgbClr val="FFFFFF"/>
                </a:solidFill>
                <a:latin typeface="Amazon Ember"/>
              </a:rPr>
              <a:t>Items sit ON the arc line — each icon-frame (component) circle (~180px, dark single fill) centered on the arc 's path. The arc passes through each icon-frame' s center — this is what makes items feel embedded, not placed beside it. Compute x from the circle equation: x = cx + sqrt(r² - (y - cy)²). The x must vary noticeably — if x barely changes, the arc looks like a straight line.</a:t>
            </a:r>
            <a:br>
              <a:rPr/>
            </a:br>
            <a:br>
              <a:rPr/>
            </a:br>
            <a:r>
              <a:rPr>
                <a:solidFill>
                  <a:srgbClr val="FFFFFF"/>
                </a:solidFill>
                <a:latin typeface="Amazon Ember"/>
              </a:rPr>
              <a:t>To the right of each marker, bold label + description (~900px wide). Items spaced vertically in N equal segments. Title in the upper-left (~40pt), arc and items occupy the right two-thirds.</a:t>
            </a:r>
            <a:br>
              <a:rPr/>
            </a:br>
            <a:br>
              <a:rPr/>
            </a:br>
            <a:r>
              <a:rPr>
                <a:solidFill>
                  <a:srgbClr val="FFFFFF"/>
                </a:solidFill>
                <a:latin typeface="Amazon Ember"/>
              </a:rPr>
              <a:t>The arc 's lineGradient defines the color journey. Each icon-frame' s border also carries a lineGradient — not a solid color. The icon-frame 's gradient spans the two colors from the arc gradient at that item' s segment. Item 1 gets stop1→stop2, item 2 gets stop2→stop3, and so on. This makes each icon-frame 's ring blend seamlessly into the arc at its position. Compute: divide the arc' s gradient stops into N segments matching the N items.</a:t>
            </a:r>
            <a:br>
              <a:rPr/>
            </a:br>
            <a:br>
              <a:rPr/>
            </a:br>
            <a:r>
              <a:rPr>
                <a:solidFill>
                  <a:srgbClr val="FFFFFF"/>
                </a:solidFill>
                <a:latin typeface="Amazon Ember"/>
              </a:rPr>
              <a:t>- Item count: 3–6</a:t>
            </a:r>
            <a:br>
              <a:rPr/>
            </a:br>
            <a:r>
              <a:rPr>
                <a:solidFill>
                  <a:srgbClr val="FFFFFF"/>
                </a:solidFill>
                <a:latin typeface="Amazon Ember"/>
              </a:rPr>
              <a:t>- Arc radius: larger = gentler, smaller = tighter. Minimum half the slide height</a:t>
            </a:r>
            <a:br>
              <a:rPr/>
            </a:br>
            <a:br>
              <a:rPr/>
            </a:br>
            <a:r>
              <a:rPr>
                <a:solidFill>
                  <a:srgbClr val="FFFFFF"/>
                </a:solidFill>
                <a:latin typeface="Amazon Ember"/>
              </a:rPr>
              <a:t>python: circle center/radius, x from circle equation per item y, arc gradient stops divided into N item segments.</a:t>
            </a:r>
            <a:br>
              <a:rPr/>
            </a:br>
            <a:r>
              <a:rPr>
                <a:solidFill>
                  <a:srgbClr val="FFFFFF"/>
                </a:solidFill>
                <a:latin typeface="Amazon Ember"/>
              </a:rPr>
              <a:t>grid: text block layout per item if complex.</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[Attention] agenda —  "You are here"  signal through highlight vs mute contrast.</a:t>
            </a:r>
            <a:br>
              <a:rPr/>
            </a:br>
            <a:br>
              <a:rPr/>
            </a:br>
            <a:r>
              <a:rPr>
                <a:solidFill>
                  <a:srgbClr val="FFFFFF"/>
                </a:solidFill>
                <a:latin typeface="Amazon Ember"/>
              </a:rPr>
              <a:t>Agenda is a repeated frame — same structure, different focus each time.</a:t>
            </a:r>
            <a:br>
              <a:rPr/>
            </a:br>
            <a:br>
              <a:rPr/>
            </a:br>
            <a:r>
              <a:rPr>
                <a:solidFill>
                  <a:srgbClr val="FFFFFF"/>
                </a:solidFill>
                <a:latin typeface="Amazon Ember"/>
              </a:rPr>
              <a:t>Let 's build this.</a:t>
            </a:r>
            <a:br>
              <a:rPr/>
            </a:br>
            <a:br>
              <a:rPr/>
            </a:br>
            <a:r>
              <a:rPr>
                <a:solidFill>
                  <a:srgbClr val="FFFFFF"/>
                </a:solidFill>
                <a:latin typeface="Amazon Ember"/>
              </a:rPr>
              <a:t>Every slide shares the same items, only the active one changes — id/override. Base has all items muted. Each override places the active item at the same position and size in highlight color — it draws on top of the muted version.</a:t>
            </a:r>
            <a:br>
              <a:rPr/>
            </a:br>
            <a:br>
              <a:rPr/>
            </a:br>
            <a:r>
              <a:rPr>
                <a:solidFill>
                  <a:srgbClr val="FFFFFF"/>
                </a:solidFill>
                <a:latin typeface="Amazon Ember"/>
              </a:rPr>
              <a:t>Highlight needs contrast. Muted items too dim — audience loses context of what' s coming. Too bright — highlight has nothing to stand out against.</a:t>
            </a:r>
            <a:br>
              <a:rPr/>
            </a:br>
            <a:br>
              <a:rPr/>
            </a:br>
            <a:r>
              <a:rPr>
                <a:solidFill>
                  <a:srgbClr val="FFFFFF"/>
                </a:solidFill>
                <a:latin typeface="Amazon Ember"/>
              </a:rPr>
              <a:t>How to highlight: color change, background shape, or both.</a:t>
            </a:r>
            <a:br>
              <a:rPr/>
            </a:br>
            <a:br>
              <a:rPr/>
            </a:br>
            <a:r>
              <a:rPr>
                <a:solidFill>
                  <a:srgbClr val="FFFFFF"/>
                </a:solidFill>
                <a:latin typeface="Amazon Ember"/>
              </a:rPr>
              <a:t>Layout is free — vertical list, horizontal row, grid. Match the presentation 's structure.</a:t>
            </a:r>
            <a:br>
              <a:rPr/>
            </a:br>
            <a:br>
              <a:rPr/>
            </a:br>
            <a:r>
              <a:rPr>
                <a:solidFill>
                  <a:srgbClr val="FFFFFF"/>
                </a:solidFill>
                <a:latin typeface="Amazon Ember"/>
              </a:rPr>
              <a:t>grid: item positions.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[Attention] progressive-highlight — Overlay to focus one section at a time. For walking through any multi-element slide.</a:t>
            </a:r>
            <a:br>
              <a:rPr/>
            </a:br>
            <a:br>
              <a:rPr/>
            </a:br>
            <a:r>
              <a:rPr>
                <a:solidFill>
                  <a:srgbClr val="FFFFFF"/>
                </a:solidFill>
                <a:latin typeface="Amazon Ember"/>
              </a:rPr>
              <a:t>Dim everything, then bring one thing forward — the eye has no choice but to follow.</a:t>
            </a:r>
            <a:br>
              <a:rPr/>
            </a:br>
            <a:br>
              <a:rPr/>
            </a:br>
            <a:r>
              <a:rPr>
                <a:solidFill>
                  <a:srgbClr val="FFFFFF"/>
                </a:solidFill>
                <a:latin typeface="Amazon Ember"/>
              </a:rPr>
              <a:t>Let 's build this.</a:t>
            </a:r>
            <a:br>
              <a:rPr/>
            </a:br>
            <a:br>
              <a:rPr/>
            </a:br>
            <a:r>
              <a:rPr>
                <a:solidFill>
                  <a:srgbClr val="FFFFFF"/>
                </a:solidFill>
                <a:latin typeface="Amazon Ember"/>
              </a:rPr>
              <a:t>Base slide shows the full picture — all items visible. id/override.</a:t>
            </a:r>
            <a:br>
              <a:rPr/>
            </a:br>
            <a:br>
              <a:rPr/>
            </a:br>
            <a:r>
              <a:rPr>
                <a:solidFill>
                  <a:srgbClr val="FFFFFF"/>
                </a:solidFill>
                <a:latin typeface="Amazon Ember"/>
              </a:rPr>
              <a:t>Each override stacks three layers above the base:</a:t>
            </a:r>
            <a:br>
              <a:rPr/>
            </a:br>
            <a:r>
              <a:rPr>
                <a:solidFill>
                  <a:srgbClr val="FFFFFF"/>
                </a:solidFill>
                <a:latin typeface="Amazon Ember"/>
              </a:rPr>
              <a:t>1. A full-slide semi-transparent rectangle — dims everything underneath</a:t>
            </a:r>
            <a:br>
              <a:rPr/>
            </a:br>
            <a:r>
              <a:rPr>
                <a:solidFill>
                  <a:srgbClr val="FFFFFF"/>
                </a:solidFill>
                <a:latin typeface="Amazon Ember"/>
              </a:rPr>
              <a:t>2. The active item, copied from base at the same position — sits above the overlay, so it pops back out</a:t>
            </a:r>
            <a:br>
              <a:rPr/>
            </a:br>
            <a:r>
              <a:rPr>
                <a:solidFill>
                  <a:srgbClr val="FFFFFF"/>
                </a:solidFill>
                <a:latin typeface="Amazon Ember"/>
              </a:rPr>
              <a:t>3. Optional detail text for the active item</a:t>
            </a:r>
            <a:br>
              <a:rPr/>
            </a:br>
            <a:br>
              <a:rPr/>
            </a:br>
            <a:r>
              <a:rPr>
                <a:solidFill>
                  <a:srgbClr val="FFFFFF"/>
                </a:solidFill>
                <a:latin typeface="Amazon Ember"/>
              </a:rPr>
              <a:t>Without layer 2, the overlay dims everything including the focus item.</a:t>
            </a:r>
            <a:br>
              <a:rPr/>
            </a:br>
            <a:br>
              <a:rPr/>
            </a:br>
            <a:r>
              <a:rPr>
                <a:solidFill>
                  <a:srgbClr val="FFFFFF"/>
                </a:solidFill>
                <a:latin typeface="Amazon Ember"/>
              </a:rPr>
              <a:t>Overlay opacity controls how much context survives. Too low — inactive items compete. Too high — audience forgets the structure.</a:t>
            </a:r>
            <a:br>
              <a:rPr/>
            </a:br>
            <a:br>
              <a:rPr/>
            </a:br>
            <a:r>
              <a:rPr>
                <a:solidFill>
                  <a:srgbClr val="FFFFFF"/>
                </a:solidFill>
                <a:latin typeface="Amazon Ember"/>
              </a:rPr>
              <a:t>Works on any base layout — grid, cards, diagram, flow. Anything with multiple elements worth walking through one at a time.</a:t>
            </a:r>
            <a:br>
              <a:rPr/>
            </a:br>
            <a:br>
              <a:rPr/>
            </a:br>
            <a:r>
              <a:rPr>
                <a:solidFill>
                  <a:srgbClr val="FFFFFF"/>
                </a:solidFill>
                <a:latin typeface="Amazon Ember"/>
              </a:rPr>
              <a:t>grid: base item positions.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[Grid] point-grid — Parallel points in a 2D grid. Equal size, equal importance.</a:t>
            </a:r>
            <a:br>
              <a:rPr/>
            </a:br>
            <a:br>
              <a:rPr/>
            </a:br>
            <a:r>
              <a:rPr>
                <a:solidFill>
                  <a:srgbClr val="FFFFFF"/>
                </a:solidFill>
                <a:latin typeface="Amazon Ember"/>
              </a:rPr>
              <a:t>Equal size signals equal importance — one larger item breaks the balance into hierarchy.</a:t>
            </a:r>
            <a:br>
              <a:rPr/>
            </a:br>
            <a:br>
              <a:rPr/>
            </a:br>
            <a:r>
              <a:rPr>
                <a:solidFill>
                  <a:srgbClr val="FFFFFF"/>
                </a:solidFill>
                <a:latin typeface="Amazon Ember"/>
              </a:rPr>
              <a:t>Let 's build this.</a:t>
            </a:r>
            <a:br>
              <a:rPr/>
            </a:br>
            <a:br>
              <a:rPr/>
            </a:br>
            <a:r>
              <a:rPr>
                <a:solidFill>
                  <a:srgbClr val="FFFFFF"/>
                </a:solidFill>
                <a:latin typeface="Amazon Ember"/>
              </a:rPr>
              <a:t>N items need a grid. The eye scans rows of 3-4 comfortably. 5+ per row feels cramped, 2 feels sparse. Divide N by your column count to get rows. Remainder goes in the last row, centered.</a:t>
            </a:r>
            <a:br>
              <a:rPr/>
            </a:br>
            <a:br>
              <a:rPr/>
            </a:br>
            <a:r>
              <a:rPr>
                <a:solidFill>
                  <a:srgbClr val="FFFFFF"/>
                </a:solidFill>
                <a:latin typeface="Amazon Ember"/>
              </a:rPr>
              <a:t>Three or more rows gets dense — if the slide feels crowded, question whether all items are truly equal. Maybe some belong in a sub-group or a separate slide.</a:t>
            </a:r>
            <a:br>
              <a:rPr/>
            </a:br>
            <a:br>
              <a:rPr/>
            </a:br>
            <a:r>
              <a:rPr>
                <a:solidFill>
                  <a:srgbClr val="FFFFFF"/>
                </a:solidFill>
                <a:latin typeface="Amazon Ember"/>
              </a:rPr>
              <a:t>Rows often have unequal counts — 3 on top, 2 on bottom. Two ways to handle with grid areas:</a:t>
            </a:r>
            <a:br>
              <a:rPr/>
            </a:br>
            <a:br>
              <a:rPr/>
            </a:br>
            <a:r>
              <a:rPr>
                <a:solidFill>
                  <a:srgbClr val="FFFFFF"/>
                </a:solidFill>
                <a:latin typeface="Amazon Ember"/>
              </a:rPr>
              <a:t>Interleave dot cells between items:</a:t>
            </a:r>
            <a:br>
              <a:rPr/>
            </a:br>
            <a:r>
              <a:rPr>
                <a:solidFill>
                  <a:srgbClr val="FFFFFF"/>
                </a:solidFill>
                <a:latin typeface="Amazon Ember"/>
              </a:rPr>
              <a:t>a.b.c</a:t>
            </a:r>
            <a:br>
              <a:rPr/>
            </a:br>
            <a:r>
              <a:rPr>
                <a:solidFill>
                  <a:srgbClr val="FFFFFF"/>
                </a:solidFill>
                <a:latin typeface="Amazon Ember"/>
              </a:rPr>
              <a:t>.d.e.</a:t>
            </a:r>
            <a:br>
              <a:rPr/>
            </a:br>
            <a:r>
              <a:rPr>
                <a:solidFill>
                  <a:srgbClr val="FFFFFF"/>
                </a:solidFill>
                <a:latin typeface="Amazon Ember"/>
              </a:rPr>
              <a:t>Dots act as spacers — even spacing, simple. But item width equals spacer width.</a:t>
            </a:r>
            <a:br>
              <a:rPr/>
            </a:br>
            <a:br>
              <a:rPr/>
            </a:br>
            <a:r>
              <a:rPr>
                <a:solidFill>
                  <a:srgbClr val="FFFFFF"/>
                </a:solidFill>
                <a:latin typeface="Amazon Ember"/>
              </a:rPr>
              <a:t>Pack items and pad edges:</a:t>
            </a:r>
            <a:br>
              <a:rPr/>
            </a:br>
            <a:r>
              <a:rPr>
                <a:solidFill>
                  <a:srgbClr val="FFFFFF"/>
                </a:solidFill>
                <a:latin typeface="Amazon Ember"/>
              </a:rPr>
              <a:t>aabbcc</a:t>
            </a:r>
            <a:br>
              <a:rPr/>
            </a:br>
            <a:r>
              <a:rPr>
                <a:solidFill>
                  <a:srgbClr val="FFFFFF"/>
                </a:solidFill>
                <a:latin typeface="Amazon Ember"/>
              </a:rPr>
              <a:t>.ddee.</a:t>
            </a:r>
            <a:br>
              <a:rPr/>
            </a:br>
            <a:r>
              <a:rPr>
                <a:solidFill>
                  <a:srgbClr val="FFFFFF"/>
                </a:solidFill>
                <a:latin typeface="Amazon Ember"/>
              </a:rPr>
              <a:t>Items get more width, gap controls spacing. More columns but more control.</a:t>
            </a:r>
            <a:br>
              <a:rPr/>
            </a:br>
            <a:br>
              <a:rPr/>
            </a:br>
            <a:r>
              <a:rPr>
                <a:solidFill>
                  <a:srgbClr val="FFFFFF"/>
                </a:solidFill>
                <a:latin typeface="Amazon Ember"/>
              </a:rPr>
              <a:t>grid: item positions with areas.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[Narrative] hero-title — Oversized title for high-impact moments. Announcements, launches, section openers.</a:t>
            </a:r>
            <a:br>
              <a:rPr/>
            </a:br>
            <a:br>
              <a:rPr/>
            </a:br>
            <a:r>
              <a:rPr>
                <a:solidFill>
                  <a:srgbClr val="FFFFFF"/>
                </a:solidFill>
                <a:latin typeface="Amazon Ember"/>
              </a:rPr>
              <a:t>Size contrast is the impact — small lead text next to huge title.</a:t>
            </a:r>
            <a:br>
              <a:rPr/>
            </a:br>
            <a:br>
              <a:rPr/>
            </a:br>
            <a:r>
              <a:rPr>
                <a:solidFill>
                  <a:srgbClr val="FFFFFF"/>
                </a:solidFill>
                <a:latin typeface="Amazon Ember"/>
              </a:rPr>
              <a:t>One accent color on one keyword directs the eye. Two split attention.</a:t>
            </a:r>
            <a:br>
              <a:rPr/>
            </a:br>
            <a:br>
              <a:rPr/>
            </a:br>
            <a:r>
              <a:rPr>
                <a:solidFill>
                  <a:srgbClr val="FFFFFF"/>
                </a:solidFill>
                <a:latin typeface="Amazon Ember"/>
              </a:rPr>
              <a:t>Whitespace amplifies — decoration competes.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[Narrative] service-intro — Identity + feature list in one slide. For service introductions, product overviews, feature highlights.</a:t>
            </a:r>
            <a:br>
              <a:rPr/>
            </a:br>
            <a:br>
              <a:rPr/>
            </a:br>
            <a:r>
              <a:rPr>
                <a:solidFill>
                  <a:srgbClr val="FFFFFF"/>
                </a:solidFill>
                <a:latin typeface="Amazon Ember"/>
              </a:rPr>
              <a:t>One side establishes  "what this is"  — icon, title, description. The other side shows  "what it does"  — feature points.</a:t>
            </a:r>
            <a:br>
              <a:rPr/>
            </a:br>
            <a:br>
              <a:rPr/>
            </a:br>
            <a:r>
              <a:rPr>
                <a:solidFill>
                  <a:srgbClr val="FFFFFF"/>
                </a:solidFill>
                <a:latin typeface="Amazon Ember"/>
              </a:rPr>
              <a:t>Let 's build this.</a:t>
            </a:r>
            <a:br>
              <a:rPr/>
            </a:br>
            <a:br>
              <a:rPr/>
            </a:br>
            <a:r>
              <a:rPr>
                <a:solidFill>
                  <a:srgbClr val="FFFFFF"/>
                </a:solidFill>
                <a:latin typeface="Amazon Ember"/>
              </a:rPr>
              <a:t>Identity side needs visual weight to anchor the slide — icon-frame (component), large title, accent color. Without weight, the feature list dominates and the identity disappears.</a:t>
            </a:r>
            <a:br>
              <a:rPr/>
            </a:br>
            <a:br>
              <a:rPr/>
            </a:br>
            <a:r>
              <a:rPr>
                <a:solidFill>
                  <a:srgbClr val="FFFFFF"/>
                </a:solidFill>
                <a:latin typeface="Amazon Ember"/>
              </a:rPr>
              <a:t>Feature list side can use any list pattern — dot-bullet-list (component), arc-list (pattern), column-cards (pattern). Each gives a different rhythm.</a:t>
            </a:r>
            <a:br>
              <a:rPr/>
            </a:br>
            <a:br>
              <a:rPr/>
            </a:br>
            <a:r>
              <a:rPr>
                <a:solidFill>
                  <a:srgbClr val="FFFFFF"/>
                </a:solidFill>
                <a:latin typeface="Amazon Ember"/>
              </a:rPr>
              <a:t>This example is richly decorated — gradient line, colored dots, text gradient, badge (component). Strip or swap to match your tone. The composition works at any decoration level.</a:t>
            </a:r>
            <a:br>
              <a:rPr/>
            </a:br>
            <a:br>
              <a:rPr/>
            </a:br>
            <a:r>
              <a:rPr>
                <a:solidFill>
                  <a:srgbClr val="FFFFFF"/>
                </a:solidFill>
                <a:latin typeface="Amazon Ember"/>
              </a:rPr>
              <a:t>grid: two-column split.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[Comparison] spectrum — Items ordered along a single axis. The axis gives meaning to the position.</a:t>
            </a:r>
            <a:br>
              <a:rPr/>
            </a:br>
            <a:br>
              <a:rPr/>
            </a:br>
            <a:r>
              <a:rPr>
                <a:solidFill>
                  <a:srgbClr val="FFFFFF"/>
                </a:solidFill>
                <a:latin typeface="Amazon Ember"/>
              </a:rPr>
              <a:t>Without the axis, items are just parallel. The axis turns position into argument — left is easy, right is complex, or any opposing pair.</a:t>
            </a:r>
            <a:br>
              <a:rPr/>
            </a:br>
            <a:br>
              <a:rPr/>
            </a:br>
            <a:r>
              <a:rPr>
                <a:solidFill>
                  <a:srgbClr val="FFFFFF"/>
                </a:solidFill>
                <a:latin typeface="Amazon Ember"/>
              </a:rPr>
              <a:t>Let 's build this.</a:t>
            </a:r>
            <a:br>
              <a:rPr/>
            </a:br>
            <a:br>
              <a:rPr/>
            </a:br>
            <a:r>
              <a:rPr>
                <a:solidFill>
                  <a:srgbClr val="FFFFFF"/>
                </a:solidFill>
                <a:latin typeface="Amazon Ember"/>
              </a:rPr>
              <a:t>The axis is the story. Choose opposing labels that frame the comparison — EASIER/COMPLEX, COST/PERFORMANCE, SIMPLE/POWERFUL. Weak labels make the ordering feel arbitrary.</a:t>
            </a:r>
            <a:br>
              <a:rPr/>
            </a:br>
            <a:br>
              <a:rPr/>
            </a:br>
            <a:r>
              <a:rPr>
                <a:solidFill>
                  <a:srgbClr val="FFFFFF"/>
                </a:solidFill>
                <a:latin typeface="Amazon Ember"/>
              </a:rPr>
              <a:t>Items sit above the axis. Their position along it is the message — no need to explain  "this one is simpler"  when the axis already says it.</a:t>
            </a:r>
            <a:br>
              <a:rPr/>
            </a:br>
            <a:br>
              <a:rPr/>
            </a:br>
            <a:r>
              <a:rPr>
                <a:solidFill>
                  <a:srgbClr val="FFFFFF"/>
                </a:solidFill>
                <a:latin typeface="Amazon Ember"/>
              </a:rPr>
              <a:t>spectrum-axis (component) below the items. A line with labels at both ends, optional midpoint label.</a:t>
            </a:r>
            <a:br>
              <a:rPr/>
            </a:br>
            <a:br>
              <a:rPr/>
            </a:br>
            <a:r>
              <a:rPr>
                <a:solidFill>
                  <a:srgbClr val="FFFFFF"/>
                </a:solidFill>
                <a:latin typeface="Amazon Ember"/>
              </a:rPr>
              <a:t>Color can echo the axis — shift hue or intensity along the spectrum. Position and color together reinforce the ordering. Calculate N colors with python (HSL interpolation).</a:t>
            </a:r>
            <a:br>
              <a:rPr/>
            </a:br>
            <a:br>
              <a:rPr/>
            </a:br>
            <a:r>
              <a:rPr>
                <a:solidFill>
                  <a:srgbClr val="FFFFFF"/>
                </a:solidFill>
                <a:latin typeface="Amazon Ember"/>
              </a:rPr>
              <a:t>To recommend one option: badge (component), size difference, or accent color on the recommended item.</a:t>
            </a:r>
            <a:br>
              <a:rPr/>
            </a:br>
            <a:br>
              <a:rPr/>
            </a:br>
            <a:r>
              <a:rPr>
                <a:solidFill>
                  <a:srgbClr val="FFFFFF"/>
                </a:solidFill>
                <a:latin typeface="Amazon Ember"/>
              </a:rPr>
              <a:t>python: color interpolation along the axis.</a:t>
            </a:r>
            <a:br>
              <a:rPr/>
            </a:br>
            <a:r>
              <a:rPr>
                <a:solidFill>
                  <a:srgbClr val="FFFFFF"/>
                </a:solidFill>
                <a:latin typeface="Amazon Ember"/>
              </a:rPr>
              <a:t>grid: item positions in one row, axis below.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[Classification] 2x2-matrix — Four quadrants defined by two axes. For positioning items on two criteria.</a:t>
            </a:r>
            <a:br>
              <a:rPr/>
            </a:br>
            <a:br>
              <a:rPr/>
            </a:br>
            <a:r>
              <a:rPr>
                <a:solidFill>
                  <a:srgbClr val="FFFFFF"/>
                </a:solidFill>
                <a:latin typeface="Amazon Ember"/>
              </a:rPr>
              <a:t>The axes are the argument. Weak axes make the whole matrix feel arbitrary.</a:t>
            </a:r>
            <a:br>
              <a:rPr/>
            </a:br>
            <a:br>
              <a:rPr/>
            </a:br>
            <a:r>
              <a:rPr>
                <a:solidFill>
                  <a:srgbClr val="FFFFFF"/>
                </a:solidFill>
                <a:latin typeface="Amazon Ember"/>
              </a:rPr>
              <a:t>Let 's build this.</a:t>
            </a:r>
            <a:br>
              <a:rPr/>
            </a:br>
            <a:br>
              <a:rPr/>
            </a:br>
            <a:r>
              <a:rPr>
                <a:solidFill>
                  <a:srgbClr val="FFFFFF"/>
                </a:solidFill>
                <a:latin typeface="Amazon Ember"/>
              </a:rPr>
              <a:t>Axis direction needs a signal — arrows, labels at the ends, gradient, or all three. Arrows are the most explicit. Labels alone work when the axis meaning is obvious.</a:t>
            </a:r>
            <a:br>
              <a:rPr/>
            </a:br>
            <a:br>
              <a:rPr/>
            </a:br>
            <a:r>
              <a:rPr>
                <a:solidFill>
                  <a:srgbClr val="FFFFFF"/>
                </a:solidFill>
                <a:latin typeface="Amazon Ember"/>
              </a:rPr>
              <a:t>Axis lines should be subtle — they' re structure, not content. Too bold and they compete with the items.</a:t>
            </a:r>
            <a:br>
              <a:rPr/>
            </a:br>
            <a:br>
              <a:rPr/>
            </a:br>
            <a:r>
              <a:rPr>
                <a:solidFill>
                  <a:srgbClr val="FFFFFF"/>
                </a:solidFill>
                <a:latin typeface="Amazon Ember"/>
              </a:rPr>
              <a:t>Quadrant labels help when the four zones have distinct meanings (e.g.  "Quick Wins" ,  "Strategic Bets" ). Skip them when the axes alone are sufficient.</a:t>
            </a:r>
            <a:br>
              <a:rPr/>
            </a:br>
            <a:br>
              <a:rPr/>
            </a:br>
            <a:r>
              <a:rPr>
                <a:solidFill>
                  <a:srgbClr val="FFFFFF"/>
                </a:solidFill>
                <a:latin typeface="Amazon Ember"/>
              </a:rPr>
              <a:t>What you place in each quadrant controls density: dots for position only, icons+labels for identity, cards for detail.</a:t>
            </a:r>
            <a:br>
              <a:rPr/>
            </a:br>
            <a:br>
              <a:rPr/>
            </a:br>
            <a:r>
              <a:rPr>
                <a:solidFill>
                  <a:srgbClr val="FFFFFF"/>
                </a:solidFill>
                <a:latin typeface="Amazon Ember"/>
              </a:rPr>
              <a:t>Walk through one quadrant at a time with progressive-highlight (pattern).</a:t>
            </a:r>
            <a:br>
              <a:rPr/>
            </a:br>
            <a:br>
              <a:rPr/>
            </a:br>
            <a:r>
              <a:rPr>
                <a:solidFill>
                  <a:srgbClr val="FFFFFF"/>
                </a:solidFill>
                <a:latin typeface="Amazon Ember"/>
              </a:rPr>
              <a:t>grid: 2x2 quadrants with axis cells.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[Structure] structured-text — Labeled sections for multi-topic text. Separates topics that would otherwise blur together.</a:t>
            </a:r>
            <a:br>
              <a:rPr/>
            </a:br>
            <a:br>
              <a:rPr/>
            </a:br>
            <a:r>
              <a:rPr>
                <a:solidFill>
                  <a:srgbClr val="FFFFFF"/>
                </a:solidFill>
                <a:latin typeface="Amazon Ember"/>
              </a:rPr>
              <a:t>Labels create structure — without them, all text looks equal.</a:t>
            </a:r>
            <a:br>
              <a:rPr/>
            </a:br>
            <a:br>
              <a:rPr/>
            </a:br>
            <a:r>
              <a:rPr>
                <a:solidFill>
                  <a:srgbClr val="FFFFFF"/>
                </a:solidFill>
                <a:latin typeface="Amazon Ember"/>
              </a:rPr>
              <a:t>Let 's build this.</a:t>
            </a:r>
            <a:br>
              <a:rPr/>
            </a:br>
            <a:br>
              <a:rPr/>
            </a:br>
            <a:r>
              <a:rPr>
                <a:solidFill>
                  <a:srgbClr val="FFFFFF"/>
                </a:solidFill>
                <a:latin typeface="Amazon Ember"/>
              </a:rPr>
              <a:t>Consistent label style reads as one unified argument flowing through sections. Varied styles read as distinct independent topics.</a:t>
            </a:r>
            <a:br>
              <a:rPr/>
            </a:br>
            <a:br>
              <a:rPr/>
            </a:br>
            <a:r>
              <a:rPr>
                <a:solidFill>
                  <a:srgbClr val="FFFFFF"/>
                </a:solidFill>
                <a:latin typeface="Amazon Ember"/>
              </a:rPr>
              <a:t>Full-width conclusion bar at the bottom elevates the takeaway — the size jump from section label to full-width signals  "this is the summary."  content-banner (component) works here.</a:t>
            </a:r>
            <a:br>
              <a:rPr/>
            </a:br>
            <a:br>
              <a:rPr/>
            </a:br>
            <a:r>
              <a:rPr>
                <a:solidFill>
                  <a:srgbClr val="FFFFFF"/>
                </a:solidFill>
                <a:latin typeface="Amazon Ember"/>
              </a:rPr>
              <a:t>grid: section rows, variable height per section.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[Sequence] progression — Items along a rising staircase curve. The upward shape reads as growth or evolution.</a:t>
            </a:r>
            <a:br>
              <a:rPr/>
            </a:br>
            <a:br>
              <a:rPr/>
            </a:br>
            <a:r>
              <a:rPr>
                <a:solidFill>
                  <a:srgbClr val="FFFFFF"/>
                </a:solidFill>
                <a:latin typeface="Amazon Ember"/>
              </a:rPr>
              <a:t>Direction carries meaning. Left-to-right reads as time. Bottom-to-top reads as improvement. The curve makes both visible at once.</a:t>
            </a:r>
            <a:br>
              <a:rPr/>
            </a:br>
            <a:br>
              <a:rPr/>
            </a:br>
            <a:r>
              <a:rPr>
                <a:solidFill>
                  <a:srgbClr val="FFFFFF"/>
                </a:solidFill>
                <a:latin typeface="Amazon Ember"/>
              </a:rPr>
              <a:t>Let 's build this.</a:t>
            </a:r>
            <a:br>
              <a:rPr/>
            </a:br>
            <a:br>
              <a:rPr/>
            </a:br>
            <a:r>
              <a:rPr>
                <a:solidFill>
                  <a:srgbClr val="FFFFFF"/>
                </a:solidFill>
                <a:latin typeface="Amazon Ember"/>
              </a:rPr>
              <a:t>Start and end points define the story. Start bottom-left, end top-right — growth. Start top-left, end bottom-right — decline or cost reduction. Same y — process without judgment.</a:t>
            </a:r>
            <a:br>
              <a:rPr/>
            </a:br>
            <a:br>
              <a:rPr/>
            </a:br>
            <a:r>
              <a:rPr>
                <a:solidFill>
                  <a:srgbClr val="FFFFFF"/>
                </a:solidFill>
                <a:latin typeface="Amazon Ember"/>
              </a:rPr>
              <a:t>N steps between start and end. Height divided into N-1 equal rises, width into 2N-1 equal segments (N flats + N-1 curves). More steps = gentler slope per step. Fewer = dramatic jumps.</a:t>
            </a:r>
            <a:br>
              <a:rPr/>
            </a:br>
            <a:br>
              <a:rPr/>
            </a:br>
            <a:r>
              <a:rPr>
                <a:solidFill>
                  <a:srgbClr val="FFFFFF"/>
                </a:solidFill>
                <a:latin typeface="Amazon Ember"/>
              </a:rPr>
              <a:t>Thick stroke gives the curve presence — it reads as a road, a journey. Thin strokes feel like connectors. 30-40pt range for the road feel.</a:t>
            </a:r>
            <a:br>
              <a:rPr/>
            </a:br>
            <a:br>
              <a:rPr/>
            </a:br>
            <a:r>
              <a:rPr>
                <a:solidFill>
                  <a:srgbClr val="FFFFFF"/>
                </a:solidFill>
                <a:latin typeface="Amazon Ember"/>
              </a:rPr>
              <a:t>Stroke gradient reinforces direction and change — the eye follows the color shift. Shape says  "upward,"  gradient says  "transforming."  Without gradient, the road is static. With it, the road has momentum.</a:t>
            </a:r>
            <a:br>
              <a:rPr/>
            </a:br>
            <a:br>
              <a:rPr/>
            </a:br>
            <a:r>
              <a:rPr>
                <a:solidFill>
                  <a:srgbClr val="FFFFFF"/>
                </a:solidFill>
                <a:latin typeface="Amazon Ember"/>
              </a:rPr>
              <a:t>The curve between steps is a cubic bezier. CP1 stays at the departing y, CP2 jumps to the arriving y — this creates the S-shaped transition. Without this CP split, the curve either kinks or overshoots. CP distance around 40% of segment width for natural ease-in/ease-out.</a:t>
            </a:r>
            <a:br>
              <a:rPr/>
            </a:br>
            <a:br>
              <a:rPr/>
            </a:br>
            <a:r>
              <a:rPr>
                <a:solidFill>
                  <a:srgbClr val="FFFFFF"/>
                </a:solidFill>
                <a:latin typeface="Amazon Ember"/>
              </a:rPr>
              <a:t>Dots mark stops along the road. When the dot fits snugly into the stroke, it feels like a ball resting on a track — grounded, but ready to roll. Dot diameter around 1.5x stroke width for that snug fit.</a:t>
            </a:r>
            <a:br>
              <a:rPr/>
            </a:br>
            <a:br>
              <a:rPr/>
            </a:br>
            <a:r>
              <a:rPr>
                <a:solidFill>
                  <a:srgbClr val="FFFFFF"/>
                </a:solidFill>
                <a:latin typeface="Amazon Ember"/>
              </a:rPr>
              <a:t>Dot color should be a lighter tint of the stroke color at that position — same hue, higher lightness. Shadow reinforces the lift. Together they make the dot float just above the road — present at this stop, but not stuck here.</a:t>
            </a:r>
            <a:br>
              <a:rPr/>
            </a:br>
            <a:br>
              <a:rPr/>
            </a:br>
            <a:r>
              <a:rPr>
                <a:solidFill>
                  <a:srgbClr val="FFFFFF"/>
                </a:solidFill>
                <a:latin typeface="Amazon Ember"/>
              </a:rPr>
              <a:t>Each stop carries a label and optionally a description. The text anchors the abstract curve to concrete meaning.</a:t>
            </a:r>
            <a:br>
              <a:rPr/>
            </a:br>
            <a:br>
              <a:rPr/>
            </a:br>
            <a:r>
              <a:rPr>
                <a:solidFill>
                  <a:srgbClr val="FFFFFF"/>
                </a:solidFill>
                <a:latin typeface="Amazon Ember"/>
              </a:rPr>
              <a:t>progressive-highlight (pattern) works naturally here — walk through phases one at a time.</a:t>
            </a:r>
            <a:br>
              <a:rPr/>
            </a:br>
            <a:br>
              <a:rPr/>
            </a:br>
            <a:r>
              <a:rPr>
                <a:solidFill>
                  <a:srgbClr val="FFFFFF"/>
                </a:solidFill>
                <a:latin typeface="Amazon Ember"/>
              </a:rPr>
              <a:t>python: step positions, freeform path commands (alternating L flat + C curve), dot positions, tint colors.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[Temporal] gantt-chart — Horizontal bar timeline for project schedules. Tasks as rows, time as columns.</a:t>
            </a:r>
            <a:br>
              <a:rPr/>
            </a:br>
            <a:br>
              <a:rPr/>
            </a:br>
            <a:r>
              <a:rPr>
                <a:solidFill>
                  <a:srgbClr val="FFFFFF"/>
                </a:solidFill>
                <a:latin typeface="Amazon Ember"/>
              </a:rPr>
              <a:t>Beyond bars and headers, consider: status badges (component) in the label column,  "Today"  line, milestones (diamond), dependency arrows (dashed, flow-step (component)), legend.</a:t>
            </a:r>
            <a:br>
              <a:rPr/>
            </a:br>
            <a:br>
              <a:rPr/>
            </a:br>
            <a:r>
              <a:rPr>
                <a:solidFill>
                  <a:srgbClr val="FFFFFF"/>
                </a:solidFill>
                <a:latin typeface="Amazon Ember"/>
              </a:rPr>
              <a:t>Let 's build this.</a:t>
            </a:r>
            <a:br>
              <a:rPr/>
            </a:br>
            <a:br>
              <a:rPr/>
            </a:br>
            <a:r>
              <a:rPr>
                <a:solidFill>
                  <a:srgbClr val="FFFFFF"/>
                </a:solidFill>
                <a:latin typeface="Amazon Ember"/>
              </a:rPr>
              <a:t>Grid columns  "fixed-width label 1fr timeline" . Timeline subdivides into periods. Bar x = period start, width = span to period end.</a:t>
            </a:r>
            <a:br>
              <a:rPr/>
            </a:br>
            <a:br>
              <a:rPr/>
            </a:br>
            <a:r>
              <a:rPr>
                <a:solidFill>
                  <a:srgbClr val="FFFFFF"/>
                </a:solidFill>
                <a:latin typeface="Amazon Ember"/>
              </a:rPr>
              <a:t>Visual hierarchy: bars loudest, Today line second, labels and headers third, grid lines quietest. Everything else supports the bars.</a:t>
            </a:r>
            <a:br>
              <a:rPr/>
            </a:br>
            <a:br>
              <a:rPr/>
            </a:br>
            <a:r>
              <a:rPr>
                <a:solidFill>
                  <a:srgbClr val="FFFFFF"/>
                </a:solidFill>
                <a:latin typeface="Amazon Ember"/>
              </a:rPr>
              <a:t>Pill-shaped bars (adjustments:[0.5]) de-emphasize exact dates. Square corners when precision matters. Color-code by phase or team, 3-4 colors max.</a:t>
            </a:r>
            <a:br>
              <a:rPr/>
            </a:br>
            <a:br>
              <a:rPr/>
            </a:br>
            <a:r>
              <a:rPr>
                <a:solidFill>
                  <a:srgbClr val="FFFFFF"/>
                </a:solidFill>
                <a:latin typeface="Amazon Ember"/>
              </a:rPr>
              <a:t>Grid lines: dot dash, low opacity. Bold grids flatten the information hierarchy — bars should be the loudest layer.</a:t>
            </a:r>
            <a:br>
              <a:rPr/>
            </a:br>
            <a:br>
              <a:rPr/>
            </a:br>
            <a:r>
              <a:rPr>
                <a:solidFill>
                  <a:srgbClr val="FFFFFF"/>
                </a:solidFill>
                <a:latin typeface="Amazon Ember"/>
              </a:rPr>
              <a:t> "Today"  line answers  "where are we now"  — dashed vertical + badge (component). The anchor of any progress report.</a:t>
            </a:r>
            <a:br>
              <a:rPr/>
            </a:br>
            <a:br>
              <a:rPr/>
            </a:br>
            <a:r>
              <a:rPr>
                <a:solidFill>
                  <a:srgbClr val="FFFFFF"/>
                </a:solidFill>
                <a:latin typeface="Amazon Ember"/>
              </a:rPr>
              <a:t>grid: label column + timeline periods.</a:t>
            </a:r>
            <a:br>
              <a:rPr/>
            </a:br>
            <a:r>
              <a:rPr>
                <a:solidFill>
                  <a:srgbClr val="FFFFFF"/>
                </a:solidFill>
                <a:latin typeface="Amazon Ember"/>
              </a:rPr>
              <a:t>python: bar positions from period boundaries if uneven.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[Narrative] customer-case-study — Customer story with quote. For success stories and testimonials.</a:t>
            </a:r>
            <a:br>
              <a:rPr/>
            </a:br>
            <a:br>
              <a:rPr/>
            </a:br>
            <a:r>
              <a:rPr>
                <a:solidFill>
                  <a:srgbClr val="FFFFFF"/>
                </a:solidFill>
                <a:latin typeface="Amazon Ember"/>
              </a:rPr>
              <a:t>Three layers: identity at top, facts in the middle, voice at the bottom. Facts alone feel dry. Voice alone lacks evidence. Together they persuade.</a:t>
            </a:r>
            <a:br>
              <a:rPr/>
            </a:br>
            <a:br>
              <a:rPr/>
            </a:br>
            <a:r>
              <a:rPr>
                <a:solidFill>
                  <a:srgbClr val="FFFFFF"/>
                </a:solidFill>
                <a:latin typeface="Amazon Ember"/>
              </a:rPr>
              <a:t>Let 's build this.</a:t>
            </a:r>
            <a:br>
              <a:rPr/>
            </a:br>
            <a:br>
              <a:rPr/>
            </a:br>
            <a:r>
              <a:rPr>
                <a:solidFill>
                  <a:srgbClr val="FFFFFF"/>
                </a:solidFill>
                <a:latin typeface="Amazon Ember"/>
              </a:rPr>
              <a:t>Identity: customer name + logo/photo. Establishes  "whose story"  before the content starts.</a:t>
            </a:r>
            <a:br>
              <a:rPr/>
            </a:br>
            <a:br>
              <a:rPr/>
            </a:br>
            <a:r>
              <a:rPr>
                <a:solidFill>
                  <a:srgbClr val="FFFFFF"/>
                </a:solidFill>
                <a:latin typeface="Amazon Ember"/>
              </a:rPr>
              <a:t>Facts: three columns — problem, solution, result. Horizontal layout gives scannability. Header bar with labels, body text below. Divider lines between columns — thick at header, thin at body. The thickness difference creates hierarchy.</a:t>
            </a:r>
            <a:br>
              <a:rPr/>
            </a:br>
            <a:br>
              <a:rPr/>
            </a:br>
            <a:r>
              <a:rPr>
                <a:solidFill>
                  <a:srgbClr val="FFFFFF"/>
                </a:solidFill>
                <a:latin typeface="Amazon Ember"/>
              </a:rPr>
              <a:t>Voice: full-width quote box at the bottom. Highlight the key phrase in accent color — that' s the one sentence the audience remembers. Full width signals  "this is the takeaway"  — same principle as content-banner (component). quote-block (component) for the box.</a:t>
            </a:r>
            <a:br>
              <a:rPr/>
            </a:br>
            <a:br>
              <a:rPr/>
            </a:br>
            <a:r>
              <a:rPr>
                <a:solidFill>
                  <a:srgbClr val="FFFFFF"/>
                </a:solidFill>
                <a:latin typeface="Amazon Ember"/>
              </a:rPr>
              <a:t>grid: identity row, three-column facts row, full-width quote row.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[Hierarchy] level-tiers — Horizontal bands crossed by a curve. The curve carves each band into a shaped region — hierarchy and direction in one composition.</a:t>
            </a:r>
            <a:br>
              <a:rPr/>
            </a:br>
            <a:br>
              <a:rPr/>
            </a:br>
            <a:r>
              <a:rPr>
                <a:solidFill>
                  <a:srgbClr val="FFFFFF"/>
                </a:solidFill>
                <a:latin typeface="Amazon Ember"/>
              </a:rPr>
              <a:t>A curve crossing horizontal bands creates shaped regions on one side. The shape itself tells the story — no text needed to feel the progression.</a:t>
            </a:r>
            <a:br>
              <a:rPr/>
            </a:br>
            <a:br>
              <a:rPr/>
            </a:br>
            <a:r>
              <a:rPr>
                <a:solidFill>
                  <a:srgbClr val="FFFFFF"/>
                </a:solidFill>
                <a:latin typeface="Amazon Ember"/>
              </a:rPr>
              <a:t>Let 's build this.</a:t>
            </a:r>
            <a:br>
              <a:rPr/>
            </a:br>
            <a:br>
              <a:rPr/>
            </a:br>
            <a:r>
              <a:rPr>
                <a:solidFill>
                  <a:srgbClr val="FFFFFF"/>
                </a:solidFill>
                <a:latin typeface="Amazon Ember"/>
              </a:rPr>
              <a:t>Define one monotonic convex bezier arc first — y must decrease steadily, no inflection. Convex means the curve bows away from the filled side — slow start, fast finish. If the curve doubles back, bands get multiple intersections and regions twist. End the curve before the filled-side edge so every band has room for content.</a:t>
            </a:r>
            <a:br>
              <a:rPr/>
            </a:br>
            <a:br>
              <a:rPr/>
            </a:br>
            <a:r>
              <a:rPr>
                <a:solidFill>
                  <a:srgbClr val="FFFFFF"/>
                </a:solidFill>
                <a:latin typeface="Amazon Ember"/>
              </a:rPr>
              <a:t>Every band' s freeform derives from this one curve:</a:t>
            </a:r>
            <a:br>
              <a:rPr/>
            </a:br>
            <a:br>
              <a:rPr/>
            </a:br>
            <a:r>
              <a:rPr>
                <a:solidFill>
                  <a:srgbClr val="FFFFFF"/>
                </a:solidFill>
                <a:latin typeface="Amazon Ember"/>
              </a:rPr>
              <a:t>  M (curve_bottom)</a:t>
            </a:r>
            <a:br>
              <a:rPr/>
            </a:br>
            <a:r>
              <a:rPr>
                <a:solidFill>
                  <a:srgbClr val="FFFFFF"/>
                </a:solidFill>
                <a:latin typeface="Amazon Ember"/>
              </a:rPr>
              <a:t>  C (split_cp1, split_cp2, curve_top)  ← de Casteljau split, not manual CPs</a:t>
            </a:r>
            <a:br>
              <a:rPr/>
            </a:br>
            <a:r>
              <a:rPr>
                <a:solidFill>
                  <a:srgbClr val="FFFFFF"/>
                </a:solidFill>
                <a:latin typeface="Amazon Ember"/>
              </a:rPr>
              <a:t>  L (edge, band_top)</a:t>
            </a:r>
            <a:br>
              <a:rPr/>
            </a:br>
            <a:r>
              <a:rPr>
                <a:solidFill>
                  <a:srgbClr val="FFFFFF"/>
                </a:solidFill>
                <a:latin typeface="Amazon Ember"/>
              </a:rPr>
              <a:t>  L (edge, band_bottom)</a:t>
            </a:r>
            <a:br>
              <a:rPr/>
            </a:br>
            <a:r>
              <a:rPr>
                <a:solidFill>
                  <a:srgbClr val="FFFFFF"/>
                </a:solidFill>
                <a:latin typeface="Amazon Ember"/>
              </a:rPr>
              <a:t>  Z</a:t>
            </a:r>
            <a:br>
              <a:rPr/>
            </a:br>
            <a:br>
              <a:rPr/>
            </a:br>
            <a:r>
              <a:rPr>
                <a:solidFill>
                  <a:srgbClr val="FFFFFF"/>
                </a:solidFill>
                <a:latin typeface="Amazon Ember"/>
              </a:rPr>
              <a:t>Curve direction is the message. Bottom-left to top-right reads as growth. Which side you fill controls whether bands widen or narrow going up. Steepness controls how dramatically bands change width.</a:t>
            </a:r>
            <a:br>
              <a:rPr/>
            </a:br>
            <a:br>
              <a:rPr/>
            </a:br>
            <a:r>
              <a:rPr>
                <a:solidFill>
                  <a:srgbClr val="FFFFFF"/>
                </a:solidFill>
                <a:latin typeface="Amazon Ember"/>
              </a:rPr>
              <a:t>python: bezier definition, y-to-x intersection, de Casteljau split per band.</a:t>
            </a:r>
            <a:br>
              <a:rPr/>
            </a:br>
            <a:r>
              <a:rPr>
                <a:solidFill>
                  <a:srgbClr val="FFFFFF"/>
                </a:solidFill>
                <a:latin typeface="Amazon Ember"/>
              </a:rPr>
              <a:t>grid: content layout within each band.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[Classification] hub-spoke — One center, many satellites. Radial placement says  "these all connect to this." </a:t>
            </a:r>
            <a:br>
              <a:rPr/>
            </a:br>
            <a:br>
              <a:rPr/>
            </a:br>
            <a:r>
              <a:rPr>
                <a:solidFill>
                  <a:srgbClr val="FFFFFF"/>
                </a:solidFill>
                <a:latin typeface="Amazon Ember"/>
              </a:rPr>
              <a:t>The essence is radial connection — not circular arrangement.</a:t>
            </a:r>
            <a:br>
              <a:rPr/>
            </a:br>
            <a:br>
              <a:rPr/>
            </a:br>
            <a:r>
              <a:rPr>
                <a:solidFill>
                  <a:srgbClr val="FFFFFF"/>
                </a:solidFill>
                <a:latin typeface="Amazon Ember"/>
              </a:rPr>
              <a:t>Let 's build this.</a:t>
            </a:r>
            <a:br>
              <a:rPr/>
            </a:br>
            <a:br>
              <a:rPr/>
            </a:br>
            <a:r>
              <a:rPr>
                <a:solidFill>
                  <a:srgbClr val="FFFFFF"/>
                </a:solidFill>
                <a:latin typeface="Amazon Ember"/>
              </a:rPr>
              <a:t>Two forms depending on what the satellites carry.</a:t>
            </a:r>
            <a:br>
              <a:rPr/>
            </a:br>
            <a:br>
              <a:rPr/>
            </a:br>
            <a:r>
              <a:rPr>
                <a:solidFill>
                  <a:srgbClr val="FFFFFF"/>
                </a:solidFill>
                <a:latin typeface="Amazon Ember"/>
              </a:rPr>
              <a:t>Symmetric form: satellites carry equal weight, minimal text.</a:t>
            </a:r>
            <a:br>
              <a:rPr/>
            </a:br>
            <a:br>
              <a:rPr/>
            </a:br>
            <a:r>
              <a:rPr>
                <a:solidFill>
                  <a:srgbClr val="FFFFFF"/>
                </a:solidFill>
                <a:latin typeface="Amazon Ember"/>
              </a:rPr>
              <a:t>  Circle: center (cx, cy), radius r. N satellites at 360°/N from start angle.</a:t>
            </a:r>
            <a:br>
              <a:rPr/>
            </a:br>
            <a:r>
              <a:rPr>
                <a:solidFill>
                  <a:srgbClr val="FFFFFF"/>
                </a:solidFill>
                <a:latin typeface="Amazon Ember"/>
              </a:rPr>
              <a:t>  Each satellite carries angle θ:</a:t>
            </a:r>
            <a:br>
              <a:rPr/>
            </a:br>
            <a:r>
              <a:rPr>
                <a:solidFill>
                  <a:srgbClr val="FFFFFF"/>
                </a:solidFill>
                <a:latin typeface="Amazon Ember"/>
              </a:rPr>
              <a:t>    position:  cx + r·cos(θ), cy − r·sin(θ)</a:t>
            </a:r>
            <a:br>
              <a:rPr/>
            </a:br>
            <a:r>
              <a:rPr>
                <a:solidFill>
                  <a:srgbClr val="FFFFFF"/>
                </a:solidFill>
                <a:latin typeface="Amazon Ember"/>
              </a:rPr>
              <a:t>    connector: x=cx, y=cy, width=r·cos(θ), height=−r·sin(θ)</a:t>
            </a:r>
            <a:br>
              <a:rPr/>
            </a:br>
            <a:r>
              <a:rPr>
                <a:solidFill>
                  <a:srgbClr val="FFFFFF"/>
                </a:solidFill>
                <a:latin typeface="Amazon Ember"/>
              </a:rPr>
              <a:t>  θ gives direction — gradient angles, label placement, per-satellite variation.</a:t>
            </a:r>
            <a:br>
              <a:rPr/>
            </a:br>
            <a:r>
              <a:rPr>
                <a:solidFill>
                  <a:srgbClr val="FFFFFF"/>
                </a:solidFill>
                <a:latin typeface="Amazon Ember"/>
              </a:rPr>
              <a:t>  Labels outside each satellite — which side depends on cos(θ) sign.</a:t>
            </a:r>
            <a:br>
              <a:rPr/>
            </a:br>
            <a:r>
              <a:rPr>
                <a:solidFill>
                  <a:srgbClr val="FFFFFF"/>
                </a:solidFill>
                <a:latin typeface="Amazon Ember"/>
              </a:rPr>
              <a:t>  Radius controls density — larger feels independent, smaller feels unified.</a:t>
            </a:r>
            <a:br>
              <a:rPr/>
            </a:br>
            <a:br>
              <a:rPr/>
            </a:br>
            <a:r>
              <a:rPr>
                <a:solidFill>
                  <a:srgbClr val="FFFFFF"/>
                </a:solidFill>
                <a:latin typeface="Amazon Ember"/>
              </a:rPr>
              <a:t>  python: positions, connectors, labels from circle + angle.</a:t>
            </a:r>
            <a:br>
              <a:rPr/>
            </a:br>
            <a:br>
              <a:rPr/>
            </a:br>
            <a:r>
              <a:rPr>
                <a:solidFill>
                  <a:srgbClr val="FFFFFF"/>
                </a:solidFill>
                <a:latin typeface="Amazon Ember"/>
              </a:rPr>
              <a:t>Asymmetric form: satellites carry different information density. Circular placement wastes space — cards can' t hold content in small circles.</a:t>
            </a:r>
            <a:br>
              <a:rPr/>
            </a:br>
            <a:br>
              <a:rPr/>
            </a:br>
            <a:r>
              <a:rPr>
                <a:solidFill>
                  <a:srgbClr val="FFFFFF"/>
                </a:solidFill>
                <a:latin typeface="Amazon Ember"/>
              </a:rPr>
              <a:t>  Hub anchors one side with dominant visual weight. Satellites become stacked cards on the other side. Connector lines from hub to each card.</a:t>
            </a:r>
            <a:br>
              <a:rPr/>
            </a:br>
            <a:br>
              <a:rPr/>
            </a:br>
            <a:r>
              <a:rPr>
                <a:solidFill>
                  <a:srgbClr val="FFFFFF"/>
                </a:solidFill>
                <a:latin typeface="Amazon Ember"/>
              </a:rPr>
              <a:t>  grid: hub zone + card zone split, then card interiors.</a:t>
            </a:r>
            <a:br>
              <a:rPr/>
            </a:br>
            <a:r>
              <a:rPr>
                <a:solidFill>
                  <a:srgbClr val="FFFFFF"/>
                </a:solidFill>
                <a:latin typeface="Amazon Ember"/>
              </a:rPr>
              <a:t>  python: connector endpoints (hub center → each card edge).</a:t>
            </a:r>
            <a:br>
              <a:rPr/>
            </a:br>
            <a:br>
              <a:rPr/>
            </a:br>
            <a:r>
              <a:rPr>
                <a:solidFill>
                  <a:srgbClr val="FFFFFF"/>
                </a:solidFill>
                <a:latin typeface="Amazon Ember"/>
              </a:rPr>
              <a:t>When in doubt, asymmetric — it accommodates growth.</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[Sequence] step-highlight — double-ring-marker (component) on a gradient line with a focus frame for progressive-overlay (component) walkthrough.</a:t>
            </a:r>
            <a:br>
              <a:rPr/>
            </a:br>
            <a:br>
              <a:rPr/>
            </a:br>
            <a:r>
              <a:rPr>
                <a:solidFill>
                  <a:srgbClr val="FFFFFF"/>
                </a:solidFill>
                <a:latin typeface="Amazon Ember"/>
              </a:rPr>
              <a:t>A line with markers is a timeline. A frame on one marker turns it into a spotlight.</a:t>
            </a:r>
            <a:br>
              <a:rPr/>
            </a:br>
            <a:br>
              <a:rPr/>
            </a:br>
            <a:r>
              <a:rPr>
                <a:solidFill>
                  <a:srgbClr val="FFFFFF"/>
                </a:solidFill>
                <a:latin typeface="Amazon Ember"/>
              </a:rPr>
              <a:t>Let 's build this.</a:t>
            </a:r>
            <a:br>
              <a:rPr/>
            </a:br>
            <a:br>
              <a:rPr/>
            </a:br>
            <a:r>
              <a:rPr>
                <a:solidFill>
                  <a:srgbClr val="FFFFFF"/>
                </a:solidFill>
                <a:latin typeface="Amazon Ember"/>
              </a:rPr>
              <a:t>The line spans edge to edge at roughly mid-height — full width says  "this is the whole journey."  A lineGradient across the line reinforces direction — the eye reads color change as movement.</a:t>
            </a:r>
            <a:br>
              <a:rPr/>
            </a:br>
            <a:br>
              <a:rPr/>
            </a:br>
            <a:r>
              <a:rPr>
                <a:solidFill>
                  <a:srgbClr val="FFFFFF"/>
                </a:solidFill>
                <a:latin typeface="Amazon Ember"/>
              </a:rPr>
              <a:t>Each step is a double-ring-marker (component) sitting on the line. Match each marker' s color to the gradient at that position — mismatched color and the marker looks disconnected from the line. N markers at equal intervals. Outer ring around 80–90px, inner circle about half that.</a:t>
            </a:r>
            <a:br>
              <a:rPr/>
            </a:br>
            <a:br>
              <a:rPr/>
            </a:br>
            <a:r>
              <a:rPr>
                <a:solidFill>
                  <a:srgbClr val="FFFFFF"/>
                </a:solidFill>
                <a:latin typeface="Amazon Ember"/>
              </a:rPr>
              <a:t>Step labels sit just below each marker — short text, 14–16pt, centered on the marker.</a:t>
            </a:r>
            <a:br>
              <a:rPr/>
            </a:br>
            <a:br>
              <a:rPr/>
            </a:br>
            <a:r>
              <a:rPr>
                <a:solidFill>
                  <a:srgbClr val="FFFFFF"/>
                </a:solidFill>
                <a:latin typeface="Amazon Ember"/>
              </a:rPr>
              <a:t>The focus frame is a border (component) rectangle — about 1/5 slide width, extending from above the line down to near the bottom. The height is the point: it reserves space for detail content that variants will add. This is the base slide with an id.</a:t>
            </a:r>
            <a:br>
              <a:rPr/>
            </a:br>
            <a:br>
              <a:rPr/>
            </a:br>
            <a:r>
              <a:rPr>
                <a:solidFill>
                  <a:srgbClr val="FFFFFF"/>
                </a:solidFill>
                <a:latin typeface="Amazon Ember"/>
              </a:rPr>
              <a:t>Variants use progressive-overlay (component): override the base, reposition the frame to each step, change its color to match the current marker. One slide per step.</a:t>
            </a:r>
            <a:br>
              <a:rPr/>
            </a:br>
            <a:br>
              <a:rPr/>
            </a:br>
            <a:r>
              <a:rPr>
                <a:solidFill>
                  <a:srgbClr val="FFFFFF"/>
                </a:solidFill>
                <a:latin typeface="Amazon Ember"/>
              </a:rPr>
              <a:t>- Step count: 3–7. Fewer doesn 't need a timeline, more crowds the markers</a:t>
            </a:r>
            <a:br>
              <a:rPr/>
            </a:br>
            <a:r>
              <a:rPr>
                <a:solidFill>
                  <a:srgbClr val="FFFFFF"/>
                </a:solidFill>
                <a:latin typeface="Amazon Ember"/>
              </a:rPr>
              <a:t>- Frame color: match the current step' s marker color</a:t>
            </a:r>
            <a:br>
              <a:rPr/>
            </a:br>
            <a:br>
              <a:rPr/>
            </a:br>
            <a:r>
              <a:rPr>
                <a:solidFill>
                  <a:srgbClr val="FFFFFF"/>
                </a:solidFill>
                <a:latin typeface="Amazon Ember"/>
              </a:rPr>
              <a:t>grid: marker positions (equal spacing), detail content inside the frame.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[Sequence] pipeline-flow — Stages along a gradient arrow inside a framing border. Direction and containment in one composition.</a:t>
            </a:r>
            <a:br>
              <a:rPr/>
            </a:br>
            <a:br>
              <a:rPr/>
            </a:br>
            <a:r>
              <a:rPr>
                <a:solidFill>
                  <a:srgbClr val="FFFFFF"/>
                </a:solidFill>
                <a:latin typeface="Amazon Ember"/>
              </a:rPr>
              <a:t>An arrow inside a frame says  "this is a contained journey with a clear direction."  The frame groups, the arrow moves.</a:t>
            </a:r>
            <a:br>
              <a:rPr/>
            </a:br>
            <a:br>
              <a:rPr/>
            </a:br>
            <a:r>
              <a:rPr>
                <a:solidFill>
                  <a:srgbClr val="FFFFFF"/>
                </a:solidFill>
                <a:latin typeface="Amazon Ember"/>
              </a:rPr>
              <a:t>Let 's build this.</a:t>
            </a:r>
            <a:br>
              <a:rPr/>
            </a:br>
            <a:br>
              <a:rPr/>
            </a:br>
            <a:r>
              <a:rPr>
                <a:solidFill>
                  <a:srgbClr val="FFFFFF"/>
                </a:solidFill>
                <a:latin typeface="Amazon Ember"/>
              </a:rPr>
              <a:t>The outer frame is a border (component) rounded rectangle spanning nearly the full slide — lineGradient on the border ties the start color to the end color. The frame sits in the lower half, leaving the upper portion for title or context.</a:t>
            </a:r>
            <a:br>
              <a:rPr/>
            </a:br>
            <a:br>
              <a:rPr/>
            </a:br>
            <a:r>
              <a:rPr>
                <a:solidFill>
                  <a:srgbClr val="FFFFFF"/>
                </a:solidFill>
                <a:latin typeface="Amazon Ember"/>
              </a:rPr>
              <a:t>A horizontal line with lineGradient runs through the middle of the frame — this is the flow axis. Fade the start with opacity 0 on the first stop so the line emerges from nothing. End with arrowEnd triangle for direction. Line weight around 4pt for presence without overpowering the content.</a:t>
            </a:r>
            <a:br>
              <a:rPr/>
            </a:br>
            <a:br>
              <a:rPr/>
            </a:br>
            <a:r>
              <a:rPr>
                <a:solidFill>
                  <a:srgbClr val="FFFFFF"/>
                </a:solidFill>
                <a:latin typeface="Amazon Ember"/>
              </a:rPr>
              <a:t>Dot markers sit on the line at each stage — small filled circles, ~25px. Each dot' s color matches the gradient at that position. The dots are waypoints, not the focus — keep them small.</a:t>
            </a:r>
            <a:br>
              <a:rPr/>
            </a:br>
            <a:br>
              <a:rPr/>
            </a:br>
            <a:r>
              <a:rPr>
                <a:solidFill>
                  <a:srgbClr val="FFFFFF"/>
                </a:solidFill>
                <a:latin typeface="Amazon Ember"/>
              </a:rPr>
              <a:t>Each stage has a title block above the line (bold, ~16pt) and a description list below (regular, ~14pt). Center both on the dot 's x position, width around 290px. The description items stack vertically with spacing between them.</a:t>
            </a:r>
            <a:br>
              <a:rPr/>
            </a:br>
            <a:br>
              <a:rPr/>
            </a:br>
            <a:r>
              <a:rPr>
                <a:solidFill>
                  <a:srgbClr val="FFFFFF"/>
                </a:solidFill>
                <a:latin typeface="Amazon Ember"/>
              </a:rPr>
              <a:t>End labels sit at the left and right edges of the frame — colored text matching the gradient endpoints. These name the spectrum: what the journey starts as and what it becomes. Like spectrum-axis (component) but integrated into the frame.</a:t>
            </a:r>
            <a:br>
              <a:rPr/>
            </a:br>
            <a:br>
              <a:rPr/>
            </a:br>
            <a:r>
              <a:rPr>
                <a:solidFill>
                  <a:srgbClr val="FFFFFF"/>
                </a:solidFill>
                <a:latin typeface="Amazon Ember"/>
              </a:rPr>
              <a:t>- Stage count: 2–5. The frame width limits how many fit comfortably</a:t>
            </a:r>
            <a:br>
              <a:rPr/>
            </a:br>
            <a:r>
              <a:rPr>
                <a:solidFill>
                  <a:srgbClr val="FFFFFF"/>
                </a:solidFill>
                <a:latin typeface="Amazon Ember"/>
              </a:rPr>
              <a:t>- Description items per stage can vary — not all stages need the same count</a:t>
            </a:r>
            <a:br>
              <a:rPr/>
            </a:br>
            <a:r>
              <a:rPr>
                <a:solidFill>
                  <a:srgbClr val="FFFFFF"/>
                </a:solidFill>
                <a:latin typeface="Amazon Ember"/>
              </a:rPr>
              <a:t>- Gradient direction: left-to-right is natural for timelines; reverse for right-to-left reading cultures</a:t>
            </a:r>
            <a:br>
              <a:rPr/>
            </a:br>
            <a:br>
              <a:rPr/>
            </a:br>
            <a:r>
              <a:rPr>
                <a:solidFill>
                  <a:srgbClr val="FFFFFF"/>
                </a:solidFill>
                <a:latin typeface="Amazon Ember"/>
              </a:rPr>
              <a:t>grid: stage positions (equal spacing within the frame), title and description layout per stage.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[Sequence] phased-pipeline — Two-level sequence: phases group steps. One slide shows both the big stages and the detail within each.</a:t>
            </a:r>
            <a:br>
              <a:rPr/>
            </a:br>
            <a:br>
              <a:rPr/>
            </a:br>
            <a:r>
              <a:rPr>
                <a:solidFill>
                  <a:srgbClr val="FFFFFF"/>
                </a:solidFill>
                <a:latin typeface="Amazon Ember"/>
              </a:rPr>
              <a:t>A flat list of many steps loses structure. Phases chunk them — the eye sees groups first, then reads into each.</a:t>
            </a:r>
            <a:br>
              <a:rPr/>
            </a:br>
            <a:br>
              <a:rPr/>
            </a:br>
            <a:r>
              <a:rPr>
                <a:solidFill>
                  <a:srgbClr val="FFFFFF"/>
                </a:solidFill>
                <a:latin typeface="Amazon Ember"/>
              </a:rPr>
              <a:t>Let 's build this.</a:t>
            </a:r>
            <a:br>
              <a:rPr/>
            </a:br>
            <a:br>
              <a:rPr/>
            </a:br>
            <a:r>
              <a:rPr>
                <a:solidFill>
                  <a:srgbClr val="FFFFFF"/>
                </a:solidFill>
                <a:latin typeface="Amazon Ember"/>
              </a:rPr>
              <a:t>Two layers of progression. The top layer is phase-bar (component) — pentagon for the first, chevrons for the rest, each in a distinct color. Filled means current or past, outline-only means future. Phase-bar width proportional to the number of steps it contains — equal widths with unequal step counts create awkward spacing inside.</a:t>
            </a:r>
            <a:br>
              <a:rPr/>
            </a:br>
            <a:br>
              <a:rPr/>
            </a:br>
            <a:r>
              <a:rPr>
                <a:solidFill>
                  <a:srgbClr val="FFFFFF"/>
                </a:solidFill>
                <a:latin typeface="Amazon Ember"/>
              </a:rPr>
              <a:t>Below the phase-bar, the steps. Center the step row vertically between the phase-bar and the summary line — use the full space, don' t let it huddle near the top. What goes inside each phase is open — icons with labels, numbered cards, text blocks, anything that reads as a sequence. Small triangle connectors between steps hint at order without shouting — rotate 90° to point right. Heavier connectors or none at all depending on how strict the sequence is.</a:t>
            </a:r>
            <a:br>
              <a:rPr/>
            </a:br>
            <a:br>
              <a:rPr/>
            </a:br>
            <a:r>
              <a:rPr>
                <a:solidFill>
                  <a:srgbClr val="FFFFFF"/>
                </a:solidFill>
                <a:latin typeface="Amazon Ember"/>
              </a:rPr>
              <a:t>A summary line below each phase closes the group. Horizontal line in the phase color, spanning the phase 's width, with a label beneath. The line echoes the phase-bar above — top and bottom together frame the steps as one unit. Without the summary line, the grouping is weaker — steps float without a conclusion.</a:t>
            </a:r>
            <a:br>
              <a:rPr/>
            </a:br>
            <a:br>
              <a:rPr/>
            </a:br>
            <a:r>
              <a:rPr>
                <a:solidFill>
                  <a:srgbClr val="FFFFFF"/>
                </a:solidFill>
                <a:latin typeface="Amazon Ember"/>
              </a:rPr>
              <a:t>- Phase count: 2–4</a:t>
            </a:r>
            <a:br>
              <a:rPr/>
            </a:br>
            <a:r>
              <a:rPr>
                <a:solidFill>
                  <a:srgbClr val="FFFFFF"/>
                </a:solidFill>
                <a:latin typeface="Amazon Ember"/>
              </a:rPr>
              <a:t>- Phase-bar width: proportional to step count</a:t>
            </a:r>
            <a:br>
              <a:rPr/>
            </a:br>
            <a:r>
              <a:rPr>
                <a:solidFill>
                  <a:srgbClr val="FFFFFF"/>
                </a:solidFill>
                <a:latin typeface="Amazon Ember"/>
              </a:rPr>
              <a:t>- Summary line width: must match phase-bar width — misalignment breaks the framing</a:t>
            </a:r>
            <a:br>
              <a:rPr/>
            </a:br>
            <a:br>
              <a:rPr/>
            </a:br>
            <a:r>
              <a:rPr>
                <a:solidFill>
                  <a:srgbClr val="FFFFFF"/>
                </a:solidFill>
                <a:latin typeface="Amazon Ember"/>
              </a:rPr>
              <a:t>grid: phase-bar widths (proportional to step count), step positions (equal spacing within each phase), summary line positions.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Amazon Ember"/>
              </a:rPr>
              <a:t>[Structure] section-stack — Colored header bars stacking vertically with bulleted text blocks between them. A full-width conclusion bar anchors the bottom.</a:t>
            </a:r>
            <a:br>
              <a:rPr/>
            </a:br>
            <a:br>
              <a:rPr/>
            </a:br>
            <a:r>
              <a:rPr>
                <a:solidFill>
                  <a:srgbClr val="FFFFFF"/>
                </a:solidFill>
                <a:latin typeface="Amazon Ember"/>
              </a:rPr>
              <a:t>Sections stacked top to bottom — the simplest way to say  "these are separate topics, read in order." </a:t>
            </a:r>
            <a:br>
              <a:rPr/>
            </a:br>
            <a:br>
              <a:rPr/>
            </a:br>
            <a:r>
              <a:rPr>
                <a:solidFill>
                  <a:srgbClr val="FFFFFF"/>
                </a:solidFill>
                <a:latin typeface="Amazon Ember"/>
              </a:rPr>
              <a:t>Let 's build this.</a:t>
            </a:r>
            <a:br>
              <a:rPr/>
            </a:br>
            <a:br>
              <a:rPr/>
            </a:br>
            <a:r>
              <a:rPr>
                <a:solidFill>
                  <a:srgbClr val="FFFFFF"/>
                </a:solidFill>
                <a:latin typeface="Amazon Ember"/>
              </a:rPr>
              <a:t>Each section is a content-banner (component) rectangle as the header — filled with a single accent color, bold white text (~24pt). All section headers share the same color — this visual consistency signals  "same level, same role."  Header width ~1/4 slide width, left-aligned with the body text.</a:t>
            </a:r>
            <a:br>
              <a:rPr/>
            </a:br>
            <a:br>
              <a:rPr/>
            </a:br>
            <a:r>
              <a:rPr>
                <a:solidFill>
                  <a:srgbClr val="FFFFFF"/>
                </a:solidFill>
                <a:latin typeface="Amazon Ember"/>
              </a:rPr>
              <a:t>Body text is a bulleted list — not plain paragraphs. Bullets with spaceAfter (~600) between items give each point room to breathe. Without spaceAfter, bullets stack too tight and the list feels dense.</a:t>
            </a:r>
            <a:br>
              <a:rPr/>
            </a:br>
            <a:br>
              <a:rPr/>
            </a:br>
            <a:r>
              <a:rPr>
                <a:solidFill>
                  <a:srgbClr val="FFFFFF"/>
                </a:solidFill>
                <a:latin typeface="Amazon Ember"/>
              </a:rPr>
              <a:t>The accent color threads through the body: key terms at the start of each bullet are bold + accent-colored, followed by supporting detail in the default text color. This  "colored keyword + plain explanation"  pattern draws the eye to what matters while keeping the detail readable.</a:t>
            </a:r>
            <a:br>
              <a:rPr/>
            </a:br>
            <a:br>
              <a:rPr/>
            </a:br>
            <a:r>
              <a:rPr>
                <a:solidFill>
                  <a:srgbClr val="FFFFFF"/>
                </a:solidFill>
                <a:latin typeface="Amazon Ember"/>
              </a:rPr>
              <a:t>The conclusion bar spans the full slide width at the bottom — same accent color, larger text (~28pt), taller than section headers. It closes the slide with a takeaway. Leave enough vertical space above it so it reads as a closing statement, not another section.</a:t>
            </a:r>
            <a:br>
              <a:rPr/>
            </a:br>
            <a:br>
              <a:rPr/>
            </a:br>
            <a:r>
              <a:rPr>
                <a:solidFill>
                  <a:srgbClr val="FFFFFF"/>
                </a:solidFill>
                <a:latin typeface="Amazon Ember"/>
              </a:rPr>
              <a:t>- Section count: 2–4</a:t>
            </a:r>
            <a:br>
              <a:rPr/>
            </a:br>
            <a:r>
              <a:rPr>
                <a:solidFill>
                  <a:srgbClr val="FFFFFF"/>
                </a:solidFill>
                <a:latin typeface="Amazon Ember"/>
              </a:rPr>
              <a:t>- Header width: ~1/4 slide width for sections, full-width for conclusion</a:t>
            </a:r>
            <a:br>
              <a:rPr/>
            </a:br>
            <a:r>
              <a:rPr>
                <a:solidFill>
                  <a:srgbClr val="FFFFFF"/>
                </a:solidFill>
                <a:latin typeface="Amazon Ember"/>
              </a:rPr>
              <a:t>- Bullet spaceAfter: ~600 (6pt) for comfortable reading rhythm</a:t>
            </a:r>
            <a:br>
              <a:rPr/>
            </a:br>
            <a:r>
              <a:rPr>
                <a:solidFill>
                  <a:srgbClr val="FFFFFF"/>
                </a:solidFill>
                <a:latin typeface="Amazon Ember"/>
              </a:rPr>
              <a:t>- Body pattern: bold accent keyword + plain detail per bullet</a:t>
            </a:r>
            <a:br>
              <a:rPr/>
            </a:br>
            <a:br>
              <a:rPr/>
            </a:br>
            <a:r>
              <a:rPr>
                <a:solidFill>
                  <a:srgbClr val="FFFFFF"/>
                </a:solidFill>
                <a:latin typeface="Amazon Ember"/>
              </a:rPr>
              <a:t>grid: section positions (vertical stacking), header and body alignment.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799" y="2130425"/>
            <a:ext cx="9889435" cy="1470025"/>
          </a:xfrm>
        </p:spPr>
        <p:txBody>
          <a:bodyPr/>
          <a:lstStyle>
            <a:lvl1pPr algn="l">
              <a:defRPr/>
            </a:lvl1pPr>
          </a:lstStyle>
          <a:p>
            <a:r>
              <a:rPr lang="en-US" dirty="0"/>
              <a:t>Title</a:t>
            </a:r>
          </a:p>
        </p:txBody>
      </p:sp>
      <p:sp>
        <p:nvSpPr>
          <p:cNvPr id="3" name="Subtitle 2"/>
          <p:cNvSpPr>
            <a:spLocks noGrp="1"/>
          </p:cNvSpPr>
          <p:nvPr>
            <p:ph type="subTitle" idx="1" hasCustomPrompt="1"/>
          </p:nvPr>
        </p:nvSpPr>
        <p:spPr>
          <a:xfrm>
            <a:off x="685800" y="3886200"/>
            <a:ext cx="9760226" cy="775252"/>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sp>
        <p:nvSpPr>
          <p:cNvPr id="4" name="Date Placeholder 3"/>
          <p:cNvSpPr>
            <a:spLocks noGrp="1"/>
          </p:cNvSpPr>
          <p:nvPr>
            <p:ph type="dt" sz="half" idx="10"/>
          </p:nvPr>
        </p:nvSpPr>
        <p:spPr/>
        <p:txBody>
          <a:bodyPr/>
          <a:lstStyle/>
          <a:p>
            <a:fld id="{5BCAD085-E8A6-8845-BD4E-CB4CCA059FC4}" type="datetimeFigureOut">
              <a:rPr lang="en-US" smtClean="0"/>
              <a:t>4/10/26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413786"/>
            <a:ext cx="10992678" cy="798788"/>
          </a:xfrm>
        </p:spPr>
        <p:txBody>
          <a:bodyPr>
            <a:normAutofit/>
          </a:bodyPr>
          <a:lstStyle>
            <a:lvl1pPr algn="l">
              <a:defRPr sz="4000"/>
            </a:lvl1pPr>
          </a:lstStyle>
          <a:p>
            <a:r>
              <a:rPr lang="en-US" dirty="0"/>
              <a:t>Title</a:t>
            </a:r>
          </a:p>
        </p:txBody>
      </p:sp>
      <p:sp>
        <p:nvSpPr>
          <p:cNvPr id="3" name="Date Placeholder 2"/>
          <p:cNvSpPr>
            <a:spLocks noGrp="1"/>
          </p:cNvSpPr>
          <p:nvPr>
            <p:ph type="dt" sz="half" idx="10"/>
          </p:nvPr>
        </p:nvSpPr>
        <p:spPr/>
        <p:txBody>
          <a:bodyPr/>
          <a:lstStyle/>
          <a:p>
            <a:fld id="{5BCAD085-E8A6-8845-BD4E-CB4CCA059FC4}" type="datetimeFigureOut">
              <a:rPr lang="en-US" smtClean="0"/>
              <a:t>4/10/26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A1628"/>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svg"/><Relationship Id="rId4" Type="http://schemas.openxmlformats.org/officeDocument/2006/relationships/image" Target="../media/image2.svg"/><Relationship Id="rId5" Type="http://schemas.openxmlformats.org/officeDocument/2006/relationships/image" Target="../media/image3.svg"/><Relationship Id="rId6" Type="http://schemas.openxmlformats.org/officeDocument/2006/relationships/image" Target="../media/image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1650" y="2692400"/>
            <a:ext cx="4406900" cy="1752600"/>
          </a:xfrm>
          <a:prstGeom prst="rect">
            <a:avLst/>
          </a:prstGeom>
          <a:noFill/>
          <a:ln>
            <a:noFill/>
          </a:ln>
        </p:spPr>
        <p:txBody>
          <a:bodyPr vert="horz" wrap="square">
            <a:spAutoFit/>
          </a:bodyPr>
          <a:lstStyle>
            <a:lvl1pPr algn="l" defTabSz="914400" rtl="0" eaLnBrk="1" latinLnBrk="0" hangingPunct="1">
              <a:lnSpc>
                <a:spcPct val="90000"/>
              </a:lnSpc>
              <a:spcBef>
                <a:spcPct val="0"/>
              </a:spcBef>
              <a:buNone/>
              <a:defRPr sz="40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indent="0" algn="l">
              <a:lnSpc>
                <a:spcPct val="90000"/>
              </a:lnSpc>
              <a:buNone/>
            </a:pPr>
            <a:r>
              <a:rPr sz="4000" b="0" cap="none" spc="0">
                <a:solidFill>
                  <a:srgbClr val="FFFFFF"/>
                </a:solidFill>
              </a:rPr>
              <a:t>Title</a:t>
            </a:r>
          </a:p>
        </p:txBody>
      </p:sp>
      <p:sp>
        <p:nvSpPr>
          <p:cNvPr id="4" name="Oval 3"/>
          <p:cNvSpPr/>
          <p:nvPr/>
        </p:nvSpPr>
        <p:spPr>
          <a:xfrm>
            <a:off x="-2768600" y="-939800"/>
            <a:ext cx="8737600" cy="8737600"/>
          </a:xfrm>
          <a:prstGeom prst="ellipse">
            <a:avLst/>
          </a:prstGeom>
          <a:noFill/>
          <a:ln w="25400" cap="flat">
            <a:gradFill rotWithShape="1">
              <a:gsLst>
                <a:gs pos="10000">
                  <a:srgbClr val="AA0071"/>
                </a:gs>
                <a:gs pos="30000">
                  <a:srgbClr val="43004C"/>
                </a:gs>
                <a:gs pos="90000">
                  <a:srgbClr val="007DFF"/>
                </a:gs>
                <a:gs pos="70000">
                  <a:srgbClr val="00D5C7"/>
                </a:gs>
                <a:gs pos="50000">
                  <a:srgbClr val="E333FF"/>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219700" y="1543050"/>
            <a:ext cx="1143000" cy="1143000"/>
          </a:xfrm>
          <a:prstGeom prst="ellipse">
            <a:avLst/>
          </a:prstGeom>
          <a:solidFill>
            <a:srgbClr val="232E3D"/>
          </a:solidFill>
          <a:ln w="25400" cap="flat">
            <a:gradFill flip="none" rotWithShape="1">
              <a:gsLst>
                <a:gs pos="0">
                  <a:srgbClr val="43004C"/>
                </a:gs>
                <a:gs pos="100000">
                  <a:srgbClr val="E333FF"/>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4559300" y="273050"/>
            <a:ext cx="1143000" cy="1143000"/>
          </a:xfrm>
          <a:prstGeom prst="ellipse">
            <a:avLst/>
          </a:prstGeom>
          <a:solidFill>
            <a:srgbClr val="232E3D"/>
          </a:solidFill>
          <a:ln w="25400" cap="flat">
            <a:gradFill flip="none" rotWithShape="1">
              <a:gsLst>
                <a:gs pos="100000">
                  <a:srgbClr val="AA0071"/>
                </a:gs>
                <a:gs pos="0">
                  <a:srgbClr val="43004C"/>
                </a:gs>
              </a:gsLst>
              <a:lin ang="135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397500" y="2838450"/>
            <a:ext cx="1143000" cy="1143000"/>
          </a:xfrm>
          <a:prstGeom prst="ellipse">
            <a:avLst/>
          </a:prstGeom>
          <a:solidFill>
            <a:srgbClr val="232E3D"/>
          </a:solidFill>
          <a:ln w="25400" cap="flat">
            <a:gradFill rotWithShape="1">
              <a:gsLst>
                <a:gs pos="0">
                  <a:srgbClr val="E333FF"/>
                </a:gs>
                <a:gs pos="99000">
                  <a:srgbClr val="00D5C7"/>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91300" y="1651000"/>
            <a:ext cx="5956300" cy="1016000"/>
          </a:xfrm>
          <a:prstGeom prst="rect">
            <a:avLst/>
          </a:prstGeom>
          <a:noFill/>
          <a:ln>
            <a:noFill/>
          </a:ln>
        </p:spPr>
        <p:txBody>
          <a:bodyPr wrap="square" lIns="0" rIns="0">
            <a:spAutoFit/>
          </a:bodyPr>
          <a:lstStyle/>
          <a:p>
            <a:pPr marL="0" indent="0" algn="l">
              <a:lnSpc>
                <a:spcPct val="100000"/>
              </a:lnSpc>
              <a:spcBef>
                <a:spcPts val="0"/>
              </a:spcBef>
              <a:spcAft>
                <a:spcPts val="0"/>
              </a:spcAft>
            </a:pPr>
            <a:r>
              <a:rPr sz="2000" b="1" cap="none" spc="0">
                <a:solidFill>
                  <a:srgbClr val="FFFFFF"/>
                </a:solidFill>
                <a:latin typeface="Amazon Ember"/>
              </a:rPr>
              <a:t>Label 2</a:t>
            </a:r>
          </a:p>
          <a:p>
            <a:pPr marL="0" indent="0" algn="l">
              <a:lnSpc>
                <a:spcPct val="100000"/>
              </a:lnSpc>
              <a:spcBef>
                <a:spcPts val="0"/>
              </a:spcBef>
              <a:spcAft>
                <a:spcPts val="0"/>
              </a:spcAft>
            </a:pPr>
            <a:r>
              <a:rPr sz="2000" i="1" cap="none" spc="0">
                <a:solidFill>
                  <a:srgbClr val="FFFFFF"/>
                </a:solidFill>
                <a:latin typeface="Amazon Ember"/>
              </a:rPr>
              <a:t>Description</a:t>
            </a:r>
          </a:p>
        </p:txBody>
      </p:sp>
      <p:sp>
        <p:nvSpPr>
          <p:cNvPr id="9" name="TextBox 8"/>
          <p:cNvSpPr txBox="1"/>
          <p:nvPr/>
        </p:nvSpPr>
        <p:spPr>
          <a:xfrm>
            <a:off x="6788150" y="3022600"/>
            <a:ext cx="5746750" cy="1016000"/>
          </a:xfrm>
          <a:prstGeom prst="rect">
            <a:avLst/>
          </a:prstGeom>
          <a:noFill/>
          <a:ln>
            <a:noFill/>
          </a:ln>
        </p:spPr>
        <p:txBody>
          <a:bodyPr wrap="square" lIns="0" rIns="0">
            <a:spAutoFit/>
          </a:bodyPr>
          <a:lstStyle/>
          <a:p>
            <a:pPr marL="0" indent="0" algn="l">
              <a:lnSpc>
                <a:spcPct val="100000"/>
              </a:lnSpc>
              <a:spcBef>
                <a:spcPts val="0"/>
              </a:spcBef>
              <a:spcAft>
                <a:spcPts val="0"/>
              </a:spcAft>
            </a:pPr>
            <a:r>
              <a:rPr sz="2000" b="1" cap="none" spc="0">
                <a:solidFill>
                  <a:srgbClr val="FFFFFF"/>
                </a:solidFill>
                <a:latin typeface="Amazon Ember"/>
              </a:rPr>
              <a:t>Label 3</a:t>
            </a:r>
          </a:p>
          <a:p>
            <a:pPr marL="0" indent="0" algn="l">
              <a:lnSpc>
                <a:spcPct val="100000"/>
              </a:lnSpc>
              <a:spcBef>
                <a:spcPts val="0"/>
              </a:spcBef>
              <a:spcAft>
                <a:spcPts val="0"/>
              </a:spcAft>
            </a:pPr>
            <a:r>
              <a:rPr sz="2000" i="1" cap="none" spc="0">
                <a:solidFill>
                  <a:srgbClr val="FFFFFF"/>
                </a:solidFill>
                <a:latin typeface="Amazon Ember"/>
              </a:rPr>
              <a:t>Description</a:t>
            </a:r>
          </a:p>
        </p:txBody>
      </p:sp>
      <p:sp>
        <p:nvSpPr>
          <p:cNvPr id="10" name="TextBox 9"/>
          <p:cNvSpPr txBox="1"/>
          <p:nvPr/>
        </p:nvSpPr>
        <p:spPr>
          <a:xfrm>
            <a:off x="6667500" y="4387850"/>
            <a:ext cx="5835650" cy="1016000"/>
          </a:xfrm>
          <a:prstGeom prst="rect">
            <a:avLst/>
          </a:prstGeom>
          <a:noFill/>
          <a:ln>
            <a:noFill/>
          </a:ln>
        </p:spPr>
        <p:txBody>
          <a:bodyPr wrap="square" lIns="0" rIns="0">
            <a:spAutoFit/>
          </a:bodyPr>
          <a:lstStyle/>
          <a:p>
            <a:pPr marL="0" indent="0" algn="l">
              <a:lnSpc>
                <a:spcPct val="100000"/>
              </a:lnSpc>
              <a:spcBef>
                <a:spcPts val="0"/>
              </a:spcBef>
              <a:spcAft>
                <a:spcPts val="0"/>
              </a:spcAft>
            </a:pPr>
            <a:r>
              <a:rPr sz="2000" b="1" cap="none" spc="0">
                <a:solidFill>
                  <a:srgbClr val="FFFFFF"/>
                </a:solidFill>
                <a:latin typeface="Amazon Ember"/>
              </a:rPr>
              <a:t>Label 4</a:t>
            </a:r>
          </a:p>
          <a:p>
            <a:pPr marL="0" indent="0" algn="l">
              <a:lnSpc>
                <a:spcPct val="100000"/>
              </a:lnSpc>
              <a:spcBef>
                <a:spcPts val="0"/>
              </a:spcBef>
              <a:spcAft>
                <a:spcPts val="0"/>
              </a:spcAft>
            </a:pPr>
            <a:r>
              <a:rPr sz="2000" i="1" cap="none" spc="0">
                <a:solidFill>
                  <a:srgbClr val="FFFFFF"/>
                </a:solidFill>
                <a:latin typeface="Amazon Ember"/>
              </a:rPr>
              <a:t>Description</a:t>
            </a:r>
          </a:p>
        </p:txBody>
      </p:sp>
      <p:sp>
        <p:nvSpPr>
          <p:cNvPr id="11" name="Oval 10"/>
          <p:cNvSpPr/>
          <p:nvPr/>
        </p:nvSpPr>
        <p:spPr>
          <a:xfrm>
            <a:off x="5276850" y="4184650"/>
            <a:ext cx="1143000" cy="1143000"/>
          </a:xfrm>
          <a:prstGeom prst="ellipse">
            <a:avLst/>
          </a:prstGeom>
          <a:solidFill>
            <a:srgbClr val="232E3D"/>
          </a:solidFill>
          <a:ln w="25400" cap="flat">
            <a:gradFill flip="none" rotWithShape="1">
              <a:gsLst>
                <a:gs pos="0">
                  <a:srgbClr val="00D5C7"/>
                </a:gs>
                <a:gs pos="100000">
                  <a:srgbClr val="007DFF"/>
                </a:gs>
              </a:gsLst>
              <a:lin ang="81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18200" y="285750"/>
            <a:ext cx="6394450" cy="1016000"/>
          </a:xfrm>
          <a:prstGeom prst="rect">
            <a:avLst/>
          </a:prstGeom>
          <a:noFill/>
          <a:ln>
            <a:noFill/>
          </a:ln>
        </p:spPr>
        <p:txBody>
          <a:bodyPr wrap="square" lIns="0" rIns="0">
            <a:spAutoFit/>
          </a:bodyPr>
          <a:lstStyle/>
          <a:p>
            <a:pPr marL="0" indent="0" algn="l">
              <a:lnSpc>
                <a:spcPct val="100000"/>
              </a:lnSpc>
              <a:spcBef>
                <a:spcPts val="0"/>
              </a:spcBef>
              <a:spcAft>
                <a:spcPts val="0"/>
              </a:spcAft>
            </a:pPr>
            <a:r>
              <a:rPr sz="2000" b="1" cap="none" spc="0">
                <a:solidFill>
                  <a:srgbClr val="FFFFFF"/>
                </a:solidFill>
                <a:latin typeface="Amazon Ember"/>
              </a:rPr>
              <a:t>Label 1</a:t>
            </a:r>
          </a:p>
          <a:p>
            <a:pPr marL="0" indent="0" algn="l">
              <a:lnSpc>
                <a:spcPct val="100000"/>
              </a:lnSpc>
              <a:spcBef>
                <a:spcPts val="0"/>
              </a:spcBef>
              <a:spcAft>
                <a:spcPts val="0"/>
              </a:spcAft>
            </a:pPr>
            <a:r>
              <a:rPr sz="2000" i="1" cap="none" spc="0">
                <a:solidFill>
                  <a:srgbClr val="FFFFFF"/>
                </a:solidFill>
                <a:latin typeface="Amazon Ember"/>
              </a:rPr>
              <a:t>Description</a:t>
            </a:r>
          </a:p>
        </p:txBody>
      </p:sp>
      <p:sp>
        <p:nvSpPr>
          <p:cNvPr id="13" name="TextBox 12"/>
          <p:cNvSpPr txBox="1"/>
          <p:nvPr/>
        </p:nvSpPr>
        <p:spPr>
          <a:xfrm>
            <a:off x="7727950" y="774700"/>
            <a:ext cx="0" cy="368300"/>
          </a:xfrm>
          <a:prstGeom prst="rect">
            <a:avLst/>
          </a:prstGeom>
          <a:noFill/>
          <a:ln>
            <a:noFill/>
          </a:ln>
        </p:spPr>
        <p:txBody>
          <a:bodyPr wrap="none" lIns="0" rIns="0">
            <a:noAutofit/>
          </a:bodyPr>
          <a:lstStyle/>
          <a:p>
            <a:pPr marL="0" indent="0" algn="ctr">
              <a:lnSpc>
                <a:spcPct val="100000"/>
              </a:lnSpc>
            </a:pPr>
            <a:endParaRPr/>
          </a:p>
        </p:txBody>
      </p:sp>
      <p:sp>
        <p:nvSpPr>
          <p:cNvPr id="14" name="TextBox 13"/>
          <p:cNvSpPr txBox="1"/>
          <p:nvPr/>
        </p:nvSpPr>
        <p:spPr>
          <a:xfrm>
            <a:off x="6000750" y="5753100"/>
            <a:ext cx="6699250" cy="1016000"/>
          </a:xfrm>
          <a:prstGeom prst="rect">
            <a:avLst/>
          </a:prstGeom>
          <a:noFill/>
          <a:ln>
            <a:noFill/>
          </a:ln>
        </p:spPr>
        <p:txBody>
          <a:bodyPr wrap="square" lIns="0" rIns="0">
            <a:spAutoFit/>
          </a:bodyPr>
          <a:lstStyle/>
          <a:p>
            <a:pPr marL="0" indent="0" algn="l">
              <a:lnSpc>
                <a:spcPct val="100000"/>
              </a:lnSpc>
              <a:spcBef>
                <a:spcPts val="0"/>
              </a:spcBef>
              <a:spcAft>
                <a:spcPts val="0"/>
              </a:spcAft>
            </a:pPr>
            <a:r>
              <a:rPr sz="2000" b="1" cap="none" spc="0">
                <a:solidFill>
                  <a:srgbClr val="FFFFFF"/>
                </a:solidFill>
                <a:latin typeface="Amazon Ember"/>
              </a:rPr>
              <a:t>Label 5</a:t>
            </a:r>
          </a:p>
          <a:p>
            <a:pPr marL="0" indent="0" algn="l">
              <a:lnSpc>
                <a:spcPct val="100000"/>
              </a:lnSpc>
              <a:spcBef>
                <a:spcPts val="0"/>
              </a:spcBef>
              <a:spcAft>
                <a:spcPts val="0"/>
              </a:spcAft>
            </a:pPr>
            <a:r>
              <a:rPr sz="2000" i="1" cap="none" spc="0">
                <a:solidFill>
                  <a:srgbClr val="FFFFFF"/>
                </a:solidFill>
                <a:latin typeface="Amazon Ember"/>
              </a:rPr>
              <a:t>Description</a:t>
            </a:r>
          </a:p>
        </p:txBody>
      </p:sp>
      <p:sp>
        <p:nvSpPr>
          <p:cNvPr id="15" name="Oval 14"/>
          <p:cNvSpPr/>
          <p:nvPr/>
        </p:nvSpPr>
        <p:spPr>
          <a:xfrm>
            <a:off x="4641850" y="5499100"/>
            <a:ext cx="1143000" cy="1143000"/>
          </a:xfrm>
          <a:prstGeom prst="ellipse">
            <a:avLst/>
          </a:prstGeom>
          <a:solidFill>
            <a:srgbClr val="232E3D"/>
          </a:solidFill>
          <a:ln w="25400" cap="flat">
            <a:gradFill flip="none" rotWithShape="1">
              <a:gsLst>
                <a:gs pos="0">
                  <a:srgbClr val="00D5C7"/>
                </a:gs>
                <a:gs pos="100000">
                  <a:srgbClr val="007DFF"/>
                </a:gs>
              </a:gsLst>
              <a:lin ang="81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64" name="Graphic 4452">
            <a:extLst>
              <a:ext uri="{FF2B5EF4-FFF2-40B4-BE49-F238E27FC236}">
                <a16:creationId xmlns:a16="http://schemas.microsoft.com/office/drawing/2014/main" id="{23C15A11-7E00-41B3-45AE-65C751F4C5FE}"/>
              </a:ext>
            </a:extLst>
          </p:cNvPr>
          <p:cNvGrpSpPr/>
          <p:nvPr/>
        </p:nvGrpSpPr>
        <p:grpSpPr>
          <a:xfrm>
            <a:off x="4857062" y="5696087"/>
            <a:ext cx="776058" cy="708889"/>
            <a:chOff x="4809615" y="3075678"/>
            <a:chExt cx="795794" cy="726917"/>
          </a:xfrm>
          <a:noFill/>
        </p:grpSpPr>
        <p:grpSp>
          <p:nvGrpSpPr>
            <p:cNvPr id="65" name="Graphic 4452">
              <a:extLst>
                <a:ext uri="{FF2B5EF4-FFF2-40B4-BE49-F238E27FC236}">
                  <a16:creationId xmlns:a16="http://schemas.microsoft.com/office/drawing/2014/main" id="{7FB16D42-A698-4FE3-F34D-0F89B5E520E7}"/>
                </a:ext>
              </a:extLst>
            </p:cNvPr>
            <p:cNvGrpSpPr/>
            <p:nvPr/>
          </p:nvGrpSpPr>
          <p:grpSpPr>
            <a:xfrm>
              <a:off x="4941944" y="3293892"/>
              <a:ext cx="542709" cy="401493"/>
              <a:chOff x="4941944" y="3293892"/>
              <a:chExt cx="542709" cy="401493"/>
            </a:xfrm>
            <a:noFill/>
          </p:grpSpPr>
          <p:sp>
            <p:nvSpPr>
              <p:cNvPr id="88" name="Freeform: Shape 1134">
                <a:extLst>
                  <a:ext uri="{FF2B5EF4-FFF2-40B4-BE49-F238E27FC236}">
                    <a16:creationId xmlns:a16="http://schemas.microsoft.com/office/drawing/2014/main" id="{72D7ABF7-6E27-3B96-E227-84B45E7E5E32}"/>
                  </a:ext>
                </a:extLst>
              </p:cNvPr>
              <p:cNvSpPr/>
              <p:nvPr/>
            </p:nvSpPr>
            <p:spPr>
              <a:xfrm>
                <a:off x="5024588" y="3321975"/>
                <a:ext cx="431002" cy="295224"/>
              </a:xfrm>
              <a:custGeom>
                <a:avLst/>
                <a:gdLst>
                  <a:gd name="connsiteX0" fmla="*/ 431002 w 431002"/>
                  <a:gd name="connsiteY0" fmla="*/ 135510 h 295224"/>
                  <a:gd name="connsiteX1" fmla="*/ 431002 w 431002"/>
                  <a:gd name="connsiteY1" fmla="*/ 11991 h 295224"/>
                  <a:gd name="connsiteX2" fmla="*/ 419012 w 431002"/>
                  <a:gd name="connsiteY2" fmla="*/ 0 h 295224"/>
                  <a:gd name="connsiteX3" fmla="*/ 11991 w 431002"/>
                  <a:gd name="connsiteY3" fmla="*/ 0 h 295224"/>
                  <a:gd name="connsiteX4" fmla="*/ 0 w 431002"/>
                  <a:gd name="connsiteY4" fmla="*/ 11991 h 295224"/>
                  <a:gd name="connsiteX5" fmla="*/ 0 w 431002"/>
                  <a:gd name="connsiteY5" fmla="*/ 283234 h 295224"/>
                  <a:gd name="connsiteX6" fmla="*/ 11991 w 431002"/>
                  <a:gd name="connsiteY6" fmla="*/ 295225 h 295224"/>
                  <a:gd name="connsiteX7" fmla="*/ 336101 w 431002"/>
                  <a:gd name="connsiteY7" fmla="*/ 295225 h 295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1002" h="295224">
                    <a:moveTo>
                      <a:pt x="431002" y="135510"/>
                    </a:moveTo>
                    <a:lnTo>
                      <a:pt x="431002" y="11991"/>
                    </a:lnTo>
                    <a:cubicBezTo>
                      <a:pt x="431002" y="5394"/>
                      <a:pt x="425653" y="0"/>
                      <a:pt x="419012" y="0"/>
                    </a:cubicBezTo>
                    <a:lnTo>
                      <a:pt x="11991" y="0"/>
                    </a:lnTo>
                    <a:cubicBezTo>
                      <a:pt x="5394" y="0"/>
                      <a:pt x="0" y="5349"/>
                      <a:pt x="0" y="11991"/>
                    </a:cubicBezTo>
                    <a:lnTo>
                      <a:pt x="0" y="283234"/>
                    </a:lnTo>
                    <a:cubicBezTo>
                      <a:pt x="0" y="289831"/>
                      <a:pt x="5349" y="295225"/>
                      <a:pt x="11991" y="295225"/>
                    </a:cubicBezTo>
                    <a:lnTo>
                      <a:pt x="336101" y="295225"/>
                    </a:lnTo>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89" name="Freeform: Shape 1135">
                <a:extLst>
                  <a:ext uri="{FF2B5EF4-FFF2-40B4-BE49-F238E27FC236}">
                    <a16:creationId xmlns:a16="http://schemas.microsoft.com/office/drawing/2014/main" id="{DE6840BA-9243-E521-7133-CE2C7CEBDC05}"/>
                  </a:ext>
                </a:extLst>
              </p:cNvPr>
              <p:cNvSpPr/>
              <p:nvPr/>
            </p:nvSpPr>
            <p:spPr>
              <a:xfrm>
                <a:off x="4941944" y="3651746"/>
                <a:ext cx="436440" cy="43639"/>
              </a:xfrm>
              <a:custGeom>
                <a:avLst/>
                <a:gdLst>
                  <a:gd name="connsiteX0" fmla="*/ 436441 w 436440"/>
                  <a:gd name="connsiteY0" fmla="*/ 43640 h 43639"/>
                  <a:gd name="connsiteX1" fmla="*/ 35081 w 436440"/>
                  <a:gd name="connsiteY1" fmla="*/ 43640 h 43639"/>
                  <a:gd name="connsiteX2" fmla="*/ 0 w 436440"/>
                  <a:gd name="connsiteY2" fmla="*/ 28395 h 43639"/>
                  <a:gd name="connsiteX3" fmla="*/ 0 w 436440"/>
                  <a:gd name="connsiteY3" fmla="*/ 0 h 43639"/>
                  <a:gd name="connsiteX4" fmla="*/ 57146 w 436440"/>
                  <a:gd name="connsiteY4" fmla="*/ 0 h 4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440" h="43639">
                    <a:moveTo>
                      <a:pt x="436441" y="43640"/>
                    </a:moveTo>
                    <a:lnTo>
                      <a:pt x="35081" y="43640"/>
                    </a:lnTo>
                    <a:cubicBezTo>
                      <a:pt x="35081" y="43640"/>
                      <a:pt x="9718" y="43862"/>
                      <a:pt x="0" y="28395"/>
                    </a:cubicBezTo>
                    <a:lnTo>
                      <a:pt x="0" y="0"/>
                    </a:lnTo>
                    <a:lnTo>
                      <a:pt x="57146" y="0"/>
                    </a:lnTo>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90" name="Freeform: Shape 1136">
                <a:extLst>
                  <a:ext uri="{FF2B5EF4-FFF2-40B4-BE49-F238E27FC236}">
                    <a16:creationId xmlns:a16="http://schemas.microsoft.com/office/drawing/2014/main" id="{82DB5E61-5801-81B4-9D76-0E22DD7C12B0}"/>
                  </a:ext>
                </a:extLst>
              </p:cNvPr>
              <p:cNvSpPr/>
              <p:nvPr/>
            </p:nvSpPr>
            <p:spPr>
              <a:xfrm>
                <a:off x="4993563" y="3293892"/>
                <a:ext cx="491090" cy="357898"/>
              </a:xfrm>
              <a:custGeom>
                <a:avLst/>
                <a:gdLst>
                  <a:gd name="connsiteX0" fmla="*/ 491090 w 491090"/>
                  <a:gd name="connsiteY0" fmla="*/ 135243 h 357898"/>
                  <a:gd name="connsiteX1" fmla="*/ 491090 w 491090"/>
                  <a:gd name="connsiteY1" fmla="*/ 11991 h 357898"/>
                  <a:gd name="connsiteX2" fmla="*/ 479100 w 491090"/>
                  <a:gd name="connsiteY2" fmla="*/ 0 h 357898"/>
                  <a:gd name="connsiteX3" fmla="*/ 11991 w 491090"/>
                  <a:gd name="connsiteY3" fmla="*/ 0 h 357898"/>
                  <a:gd name="connsiteX4" fmla="*/ 0 w 491090"/>
                  <a:gd name="connsiteY4" fmla="*/ 11991 h 357898"/>
                  <a:gd name="connsiteX5" fmla="*/ 0 w 491090"/>
                  <a:gd name="connsiteY5" fmla="*/ 345907 h 357898"/>
                  <a:gd name="connsiteX6" fmla="*/ 11991 w 491090"/>
                  <a:gd name="connsiteY6" fmla="*/ 357898 h 357898"/>
                  <a:gd name="connsiteX7" fmla="*/ 380810 w 491090"/>
                  <a:gd name="connsiteY7" fmla="*/ 357898 h 357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1090" h="357898">
                    <a:moveTo>
                      <a:pt x="491090" y="135243"/>
                    </a:moveTo>
                    <a:lnTo>
                      <a:pt x="491090" y="11991"/>
                    </a:lnTo>
                    <a:cubicBezTo>
                      <a:pt x="491090" y="5394"/>
                      <a:pt x="485741" y="0"/>
                      <a:pt x="479100" y="0"/>
                    </a:cubicBezTo>
                    <a:lnTo>
                      <a:pt x="11991" y="0"/>
                    </a:lnTo>
                    <a:cubicBezTo>
                      <a:pt x="5394" y="0"/>
                      <a:pt x="0" y="5349"/>
                      <a:pt x="0" y="11991"/>
                    </a:cubicBezTo>
                    <a:lnTo>
                      <a:pt x="0" y="345907"/>
                    </a:lnTo>
                    <a:cubicBezTo>
                      <a:pt x="0" y="352505"/>
                      <a:pt x="5349" y="357898"/>
                      <a:pt x="11991" y="357898"/>
                    </a:cubicBezTo>
                    <a:lnTo>
                      <a:pt x="380810" y="357898"/>
                    </a:lnTo>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grpSp>
        <p:grpSp>
          <p:nvGrpSpPr>
            <p:cNvPr id="66" name="Graphic 4452">
              <a:extLst>
                <a:ext uri="{FF2B5EF4-FFF2-40B4-BE49-F238E27FC236}">
                  <a16:creationId xmlns:a16="http://schemas.microsoft.com/office/drawing/2014/main" id="{626CF5A7-BA39-00C7-0DDB-C6ADA1A699FE}"/>
                </a:ext>
              </a:extLst>
            </p:cNvPr>
            <p:cNvGrpSpPr/>
            <p:nvPr/>
          </p:nvGrpSpPr>
          <p:grpSpPr>
            <a:xfrm>
              <a:off x="4809615" y="3075678"/>
              <a:ext cx="306433" cy="293034"/>
              <a:chOff x="4809615" y="3075678"/>
              <a:chExt cx="306433" cy="293034"/>
            </a:xfrm>
            <a:noFill/>
          </p:grpSpPr>
          <p:sp>
            <p:nvSpPr>
              <p:cNvPr id="79" name="Freeform: Shape 1125">
                <a:extLst>
                  <a:ext uri="{FF2B5EF4-FFF2-40B4-BE49-F238E27FC236}">
                    <a16:creationId xmlns:a16="http://schemas.microsoft.com/office/drawing/2014/main" id="{32FB57CC-FDFA-B3E9-6DF8-312664465308}"/>
                  </a:ext>
                </a:extLst>
              </p:cNvPr>
              <p:cNvSpPr/>
              <p:nvPr/>
            </p:nvSpPr>
            <p:spPr>
              <a:xfrm rot="-10800000">
                <a:off x="5020300" y="3231812"/>
                <a:ext cx="30668" cy="30668"/>
              </a:xfrm>
              <a:custGeom>
                <a:avLst/>
                <a:gdLst>
                  <a:gd name="connsiteX0" fmla="*/ 0 w 30668"/>
                  <a:gd name="connsiteY0" fmla="*/ 0 h 30668"/>
                  <a:gd name="connsiteX1" fmla="*/ 30668 w 30668"/>
                  <a:gd name="connsiteY1" fmla="*/ 0 h 30668"/>
                  <a:gd name="connsiteX2" fmla="*/ 30668 w 30668"/>
                  <a:gd name="connsiteY2" fmla="*/ 30668 h 30668"/>
                  <a:gd name="connsiteX3" fmla="*/ 0 w 30668"/>
                  <a:gd name="connsiteY3" fmla="*/ 30668 h 30668"/>
                </a:gdLst>
                <a:ahLst/>
                <a:cxnLst>
                  <a:cxn ang="0">
                    <a:pos x="connsiteX0" y="connsiteY0"/>
                  </a:cxn>
                  <a:cxn ang="0">
                    <a:pos x="connsiteX1" y="connsiteY1"/>
                  </a:cxn>
                  <a:cxn ang="0">
                    <a:pos x="connsiteX2" y="connsiteY2"/>
                  </a:cxn>
                  <a:cxn ang="0">
                    <a:pos x="connsiteX3" y="connsiteY3"/>
                  </a:cxn>
                </a:cxnLst>
                <a:rect l="l" t="t" r="r" b="b"/>
                <a:pathLst>
                  <a:path w="30668" h="30668">
                    <a:moveTo>
                      <a:pt x="0" y="0"/>
                    </a:moveTo>
                    <a:lnTo>
                      <a:pt x="30668" y="0"/>
                    </a:lnTo>
                    <a:lnTo>
                      <a:pt x="30668" y="30668"/>
                    </a:lnTo>
                    <a:lnTo>
                      <a:pt x="0" y="30668"/>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80" name="Freeform: Shape 1126">
                <a:extLst>
                  <a:ext uri="{FF2B5EF4-FFF2-40B4-BE49-F238E27FC236}">
                    <a16:creationId xmlns:a16="http://schemas.microsoft.com/office/drawing/2014/main" id="{2B8C5C8D-D36C-7F48-AD85-8FAD0D719B59}"/>
                  </a:ext>
                </a:extLst>
              </p:cNvPr>
              <p:cNvSpPr/>
              <p:nvPr/>
            </p:nvSpPr>
            <p:spPr>
              <a:xfrm rot="-10800000">
                <a:off x="4977324" y="3171473"/>
                <a:ext cx="30668" cy="30668"/>
              </a:xfrm>
              <a:custGeom>
                <a:avLst/>
                <a:gdLst>
                  <a:gd name="connsiteX0" fmla="*/ 0 w 30668"/>
                  <a:gd name="connsiteY0" fmla="*/ 0 h 30668"/>
                  <a:gd name="connsiteX1" fmla="*/ 30668 w 30668"/>
                  <a:gd name="connsiteY1" fmla="*/ 0 h 30668"/>
                  <a:gd name="connsiteX2" fmla="*/ 30668 w 30668"/>
                  <a:gd name="connsiteY2" fmla="*/ 30668 h 30668"/>
                  <a:gd name="connsiteX3" fmla="*/ 0 w 30668"/>
                  <a:gd name="connsiteY3" fmla="*/ 30668 h 30668"/>
                </a:gdLst>
                <a:ahLst/>
                <a:cxnLst>
                  <a:cxn ang="0">
                    <a:pos x="connsiteX0" y="connsiteY0"/>
                  </a:cxn>
                  <a:cxn ang="0">
                    <a:pos x="connsiteX1" y="connsiteY1"/>
                  </a:cxn>
                  <a:cxn ang="0">
                    <a:pos x="connsiteX2" y="connsiteY2"/>
                  </a:cxn>
                  <a:cxn ang="0">
                    <a:pos x="connsiteX3" y="connsiteY3"/>
                  </a:cxn>
                </a:cxnLst>
                <a:rect l="l" t="t" r="r" b="b"/>
                <a:pathLst>
                  <a:path w="30668" h="30668">
                    <a:moveTo>
                      <a:pt x="0" y="0"/>
                    </a:moveTo>
                    <a:lnTo>
                      <a:pt x="30668" y="0"/>
                    </a:lnTo>
                    <a:lnTo>
                      <a:pt x="30668" y="30668"/>
                    </a:lnTo>
                    <a:lnTo>
                      <a:pt x="0" y="30668"/>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81" name="Freeform: Shape 1127">
                <a:extLst>
                  <a:ext uri="{FF2B5EF4-FFF2-40B4-BE49-F238E27FC236}">
                    <a16:creationId xmlns:a16="http://schemas.microsoft.com/office/drawing/2014/main" id="{F8E868E7-F1AD-F1A7-4D26-898CAA41BFF8}"/>
                  </a:ext>
                </a:extLst>
              </p:cNvPr>
              <p:cNvSpPr/>
              <p:nvPr/>
            </p:nvSpPr>
            <p:spPr>
              <a:xfrm rot="-10800000">
                <a:off x="5037185" y="3105608"/>
                <a:ext cx="30668" cy="30668"/>
              </a:xfrm>
              <a:custGeom>
                <a:avLst/>
                <a:gdLst>
                  <a:gd name="connsiteX0" fmla="*/ 0 w 30668"/>
                  <a:gd name="connsiteY0" fmla="*/ 0 h 30668"/>
                  <a:gd name="connsiteX1" fmla="*/ 30668 w 30668"/>
                  <a:gd name="connsiteY1" fmla="*/ 0 h 30668"/>
                  <a:gd name="connsiteX2" fmla="*/ 30668 w 30668"/>
                  <a:gd name="connsiteY2" fmla="*/ 30668 h 30668"/>
                  <a:gd name="connsiteX3" fmla="*/ 0 w 30668"/>
                  <a:gd name="connsiteY3" fmla="*/ 30668 h 30668"/>
                </a:gdLst>
                <a:ahLst/>
                <a:cxnLst>
                  <a:cxn ang="0">
                    <a:pos x="connsiteX0" y="connsiteY0"/>
                  </a:cxn>
                  <a:cxn ang="0">
                    <a:pos x="connsiteX1" y="connsiteY1"/>
                  </a:cxn>
                  <a:cxn ang="0">
                    <a:pos x="connsiteX2" y="connsiteY2"/>
                  </a:cxn>
                  <a:cxn ang="0">
                    <a:pos x="connsiteX3" y="connsiteY3"/>
                  </a:cxn>
                </a:cxnLst>
                <a:rect l="l" t="t" r="r" b="b"/>
                <a:pathLst>
                  <a:path w="30668" h="30668">
                    <a:moveTo>
                      <a:pt x="0" y="0"/>
                    </a:moveTo>
                    <a:lnTo>
                      <a:pt x="30668" y="0"/>
                    </a:lnTo>
                    <a:lnTo>
                      <a:pt x="30668" y="30668"/>
                    </a:lnTo>
                    <a:lnTo>
                      <a:pt x="0" y="30668"/>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82" name="Freeform: Shape 1128">
                <a:extLst>
                  <a:ext uri="{FF2B5EF4-FFF2-40B4-BE49-F238E27FC236}">
                    <a16:creationId xmlns:a16="http://schemas.microsoft.com/office/drawing/2014/main" id="{0450AD39-A622-99C0-0BE5-24CFC1B4C555}"/>
                  </a:ext>
                </a:extLst>
              </p:cNvPr>
              <p:cNvSpPr/>
              <p:nvPr/>
            </p:nvSpPr>
            <p:spPr>
              <a:xfrm rot="-10800000">
                <a:off x="4809615" y="3075678"/>
                <a:ext cx="30668" cy="30668"/>
              </a:xfrm>
              <a:custGeom>
                <a:avLst/>
                <a:gdLst>
                  <a:gd name="connsiteX0" fmla="*/ 0 w 30668"/>
                  <a:gd name="connsiteY0" fmla="*/ 0 h 30668"/>
                  <a:gd name="connsiteX1" fmla="*/ 30668 w 30668"/>
                  <a:gd name="connsiteY1" fmla="*/ 0 h 30668"/>
                  <a:gd name="connsiteX2" fmla="*/ 30668 w 30668"/>
                  <a:gd name="connsiteY2" fmla="*/ 30668 h 30668"/>
                  <a:gd name="connsiteX3" fmla="*/ 0 w 30668"/>
                  <a:gd name="connsiteY3" fmla="*/ 30668 h 30668"/>
                </a:gdLst>
                <a:ahLst/>
                <a:cxnLst>
                  <a:cxn ang="0">
                    <a:pos x="connsiteX0" y="connsiteY0"/>
                  </a:cxn>
                  <a:cxn ang="0">
                    <a:pos x="connsiteX1" y="connsiteY1"/>
                  </a:cxn>
                  <a:cxn ang="0">
                    <a:pos x="connsiteX2" y="connsiteY2"/>
                  </a:cxn>
                  <a:cxn ang="0">
                    <a:pos x="connsiteX3" y="connsiteY3"/>
                  </a:cxn>
                </a:cxnLst>
                <a:rect l="l" t="t" r="r" b="b"/>
                <a:pathLst>
                  <a:path w="30668" h="30668">
                    <a:moveTo>
                      <a:pt x="0" y="0"/>
                    </a:moveTo>
                    <a:lnTo>
                      <a:pt x="30668" y="0"/>
                    </a:lnTo>
                    <a:lnTo>
                      <a:pt x="30668" y="30668"/>
                    </a:lnTo>
                    <a:lnTo>
                      <a:pt x="0" y="30668"/>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83" name="Freeform: Shape 1129">
                <a:extLst>
                  <a:ext uri="{FF2B5EF4-FFF2-40B4-BE49-F238E27FC236}">
                    <a16:creationId xmlns:a16="http://schemas.microsoft.com/office/drawing/2014/main" id="{7000C506-4E2C-C095-1F9F-D8F5E040A488}"/>
                  </a:ext>
                </a:extLst>
              </p:cNvPr>
              <p:cNvSpPr/>
              <p:nvPr/>
            </p:nvSpPr>
            <p:spPr>
              <a:xfrm rot="-10800000">
                <a:off x="5085380" y="3205887"/>
                <a:ext cx="30668" cy="30668"/>
              </a:xfrm>
              <a:custGeom>
                <a:avLst/>
                <a:gdLst>
                  <a:gd name="connsiteX0" fmla="*/ 0 w 30668"/>
                  <a:gd name="connsiteY0" fmla="*/ 0 h 30668"/>
                  <a:gd name="connsiteX1" fmla="*/ 30668 w 30668"/>
                  <a:gd name="connsiteY1" fmla="*/ 0 h 30668"/>
                  <a:gd name="connsiteX2" fmla="*/ 30668 w 30668"/>
                  <a:gd name="connsiteY2" fmla="*/ 30668 h 30668"/>
                  <a:gd name="connsiteX3" fmla="*/ 0 w 30668"/>
                  <a:gd name="connsiteY3" fmla="*/ 30668 h 30668"/>
                </a:gdLst>
                <a:ahLst/>
                <a:cxnLst>
                  <a:cxn ang="0">
                    <a:pos x="connsiteX0" y="connsiteY0"/>
                  </a:cxn>
                  <a:cxn ang="0">
                    <a:pos x="connsiteX1" y="connsiteY1"/>
                  </a:cxn>
                  <a:cxn ang="0">
                    <a:pos x="connsiteX2" y="connsiteY2"/>
                  </a:cxn>
                  <a:cxn ang="0">
                    <a:pos x="connsiteX3" y="connsiteY3"/>
                  </a:cxn>
                </a:cxnLst>
                <a:rect l="l" t="t" r="r" b="b"/>
                <a:pathLst>
                  <a:path w="30668" h="30668">
                    <a:moveTo>
                      <a:pt x="0" y="0"/>
                    </a:moveTo>
                    <a:lnTo>
                      <a:pt x="30668" y="0"/>
                    </a:lnTo>
                    <a:lnTo>
                      <a:pt x="30668" y="30668"/>
                    </a:lnTo>
                    <a:lnTo>
                      <a:pt x="0" y="30668"/>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84" name="Freeform: Shape 1130">
                <a:extLst>
                  <a:ext uri="{FF2B5EF4-FFF2-40B4-BE49-F238E27FC236}">
                    <a16:creationId xmlns:a16="http://schemas.microsoft.com/office/drawing/2014/main" id="{A1FAAA83-B56E-F92D-58AC-4D20BA9E2D16}"/>
                  </a:ext>
                </a:extLst>
              </p:cNvPr>
              <p:cNvSpPr/>
              <p:nvPr/>
            </p:nvSpPr>
            <p:spPr>
              <a:xfrm rot="-10800000">
                <a:off x="4936352" y="3238035"/>
                <a:ext cx="30668" cy="30668"/>
              </a:xfrm>
              <a:custGeom>
                <a:avLst/>
                <a:gdLst>
                  <a:gd name="connsiteX0" fmla="*/ 0 w 30668"/>
                  <a:gd name="connsiteY0" fmla="*/ 0 h 30668"/>
                  <a:gd name="connsiteX1" fmla="*/ 30668 w 30668"/>
                  <a:gd name="connsiteY1" fmla="*/ 0 h 30668"/>
                  <a:gd name="connsiteX2" fmla="*/ 30668 w 30668"/>
                  <a:gd name="connsiteY2" fmla="*/ 30668 h 30668"/>
                  <a:gd name="connsiteX3" fmla="*/ 0 w 30668"/>
                  <a:gd name="connsiteY3" fmla="*/ 30668 h 30668"/>
                </a:gdLst>
                <a:ahLst/>
                <a:cxnLst>
                  <a:cxn ang="0">
                    <a:pos x="connsiteX0" y="connsiteY0"/>
                  </a:cxn>
                  <a:cxn ang="0">
                    <a:pos x="connsiteX1" y="connsiteY1"/>
                  </a:cxn>
                  <a:cxn ang="0">
                    <a:pos x="connsiteX2" y="connsiteY2"/>
                  </a:cxn>
                  <a:cxn ang="0">
                    <a:pos x="connsiteX3" y="connsiteY3"/>
                  </a:cxn>
                </a:cxnLst>
                <a:rect l="l" t="t" r="r" b="b"/>
                <a:pathLst>
                  <a:path w="30668" h="30668">
                    <a:moveTo>
                      <a:pt x="0" y="0"/>
                    </a:moveTo>
                    <a:lnTo>
                      <a:pt x="30668" y="0"/>
                    </a:lnTo>
                    <a:lnTo>
                      <a:pt x="30668" y="30668"/>
                    </a:lnTo>
                    <a:lnTo>
                      <a:pt x="0" y="30668"/>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85" name="Freeform: Shape 1131">
                <a:extLst>
                  <a:ext uri="{FF2B5EF4-FFF2-40B4-BE49-F238E27FC236}">
                    <a16:creationId xmlns:a16="http://schemas.microsoft.com/office/drawing/2014/main" id="{6C23E15E-FEBB-1914-6D89-B2356B96ABEE}"/>
                  </a:ext>
                </a:extLst>
              </p:cNvPr>
              <p:cNvSpPr/>
              <p:nvPr/>
            </p:nvSpPr>
            <p:spPr>
              <a:xfrm rot="-10800000">
                <a:off x="4926303" y="3338045"/>
                <a:ext cx="30668" cy="30668"/>
              </a:xfrm>
              <a:custGeom>
                <a:avLst/>
                <a:gdLst>
                  <a:gd name="connsiteX0" fmla="*/ 0 w 30668"/>
                  <a:gd name="connsiteY0" fmla="*/ 0 h 30668"/>
                  <a:gd name="connsiteX1" fmla="*/ 30668 w 30668"/>
                  <a:gd name="connsiteY1" fmla="*/ 0 h 30668"/>
                  <a:gd name="connsiteX2" fmla="*/ 30668 w 30668"/>
                  <a:gd name="connsiteY2" fmla="*/ 30668 h 30668"/>
                  <a:gd name="connsiteX3" fmla="*/ 0 w 30668"/>
                  <a:gd name="connsiteY3" fmla="*/ 30668 h 30668"/>
                </a:gdLst>
                <a:ahLst/>
                <a:cxnLst>
                  <a:cxn ang="0">
                    <a:pos x="connsiteX0" y="connsiteY0"/>
                  </a:cxn>
                  <a:cxn ang="0">
                    <a:pos x="connsiteX1" y="connsiteY1"/>
                  </a:cxn>
                  <a:cxn ang="0">
                    <a:pos x="connsiteX2" y="connsiteY2"/>
                  </a:cxn>
                  <a:cxn ang="0">
                    <a:pos x="connsiteX3" y="connsiteY3"/>
                  </a:cxn>
                </a:cxnLst>
                <a:rect l="l" t="t" r="r" b="b"/>
                <a:pathLst>
                  <a:path w="30668" h="30668">
                    <a:moveTo>
                      <a:pt x="0" y="0"/>
                    </a:moveTo>
                    <a:lnTo>
                      <a:pt x="30668" y="0"/>
                    </a:lnTo>
                    <a:lnTo>
                      <a:pt x="30668" y="30668"/>
                    </a:lnTo>
                    <a:lnTo>
                      <a:pt x="0" y="30668"/>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86" name="Freeform: Shape 1132">
                <a:extLst>
                  <a:ext uri="{FF2B5EF4-FFF2-40B4-BE49-F238E27FC236}">
                    <a16:creationId xmlns:a16="http://schemas.microsoft.com/office/drawing/2014/main" id="{4139DDDC-2E23-E2AF-D650-14F8B635EE69}"/>
                  </a:ext>
                </a:extLst>
              </p:cNvPr>
              <p:cNvSpPr/>
              <p:nvPr/>
            </p:nvSpPr>
            <p:spPr>
              <a:xfrm rot="-10800000">
                <a:off x="4860438" y="3278139"/>
                <a:ext cx="30668" cy="30668"/>
              </a:xfrm>
              <a:custGeom>
                <a:avLst/>
                <a:gdLst>
                  <a:gd name="connsiteX0" fmla="*/ 0 w 30668"/>
                  <a:gd name="connsiteY0" fmla="*/ 0 h 30668"/>
                  <a:gd name="connsiteX1" fmla="*/ 30668 w 30668"/>
                  <a:gd name="connsiteY1" fmla="*/ 0 h 30668"/>
                  <a:gd name="connsiteX2" fmla="*/ 30668 w 30668"/>
                  <a:gd name="connsiteY2" fmla="*/ 30668 h 30668"/>
                  <a:gd name="connsiteX3" fmla="*/ 0 w 30668"/>
                  <a:gd name="connsiteY3" fmla="*/ 30668 h 30668"/>
                </a:gdLst>
                <a:ahLst/>
                <a:cxnLst>
                  <a:cxn ang="0">
                    <a:pos x="connsiteX0" y="connsiteY0"/>
                  </a:cxn>
                  <a:cxn ang="0">
                    <a:pos x="connsiteX1" y="connsiteY1"/>
                  </a:cxn>
                  <a:cxn ang="0">
                    <a:pos x="connsiteX2" y="connsiteY2"/>
                  </a:cxn>
                  <a:cxn ang="0">
                    <a:pos x="connsiteX3" y="connsiteY3"/>
                  </a:cxn>
                </a:cxnLst>
                <a:rect l="l" t="t" r="r" b="b"/>
                <a:pathLst>
                  <a:path w="30668" h="30668">
                    <a:moveTo>
                      <a:pt x="0" y="0"/>
                    </a:moveTo>
                    <a:lnTo>
                      <a:pt x="30668" y="0"/>
                    </a:lnTo>
                    <a:lnTo>
                      <a:pt x="30668" y="30668"/>
                    </a:lnTo>
                    <a:lnTo>
                      <a:pt x="0" y="30668"/>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87" name="Freeform: Shape 1133">
                <a:extLst>
                  <a:ext uri="{FF2B5EF4-FFF2-40B4-BE49-F238E27FC236}">
                    <a16:creationId xmlns:a16="http://schemas.microsoft.com/office/drawing/2014/main" id="{73ADB511-74CE-13E2-C5DD-8F4E7EDFCB37}"/>
                  </a:ext>
                </a:extLst>
              </p:cNvPr>
              <p:cNvSpPr/>
              <p:nvPr/>
            </p:nvSpPr>
            <p:spPr>
              <a:xfrm rot="-10800000">
                <a:off x="4895636" y="3165604"/>
                <a:ext cx="30668" cy="30668"/>
              </a:xfrm>
              <a:custGeom>
                <a:avLst/>
                <a:gdLst>
                  <a:gd name="connsiteX0" fmla="*/ 0 w 30668"/>
                  <a:gd name="connsiteY0" fmla="*/ 0 h 30668"/>
                  <a:gd name="connsiteX1" fmla="*/ 30668 w 30668"/>
                  <a:gd name="connsiteY1" fmla="*/ 0 h 30668"/>
                  <a:gd name="connsiteX2" fmla="*/ 30668 w 30668"/>
                  <a:gd name="connsiteY2" fmla="*/ 30668 h 30668"/>
                  <a:gd name="connsiteX3" fmla="*/ 0 w 30668"/>
                  <a:gd name="connsiteY3" fmla="*/ 30668 h 30668"/>
                </a:gdLst>
                <a:ahLst/>
                <a:cxnLst>
                  <a:cxn ang="0">
                    <a:pos x="connsiteX0" y="connsiteY0"/>
                  </a:cxn>
                  <a:cxn ang="0">
                    <a:pos x="connsiteX1" y="connsiteY1"/>
                  </a:cxn>
                  <a:cxn ang="0">
                    <a:pos x="connsiteX2" y="connsiteY2"/>
                  </a:cxn>
                  <a:cxn ang="0">
                    <a:pos x="connsiteX3" y="connsiteY3"/>
                  </a:cxn>
                </a:cxnLst>
                <a:rect l="l" t="t" r="r" b="b"/>
                <a:pathLst>
                  <a:path w="30668" h="30668">
                    <a:moveTo>
                      <a:pt x="0" y="0"/>
                    </a:moveTo>
                    <a:lnTo>
                      <a:pt x="30668" y="0"/>
                    </a:lnTo>
                    <a:lnTo>
                      <a:pt x="30668" y="30668"/>
                    </a:lnTo>
                    <a:lnTo>
                      <a:pt x="0" y="30668"/>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grpSp>
        <p:grpSp>
          <p:nvGrpSpPr>
            <p:cNvPr id="67" name="Graphic 4452">
              <a:extLst>
                <a:ext uri="{FF2B5EF4-FFF2-40B4-BE49-F238E27FC236}">
                  <a16:creationId xmlns:a16="http://schemas.microsoft.com/office/drawing/2014/main" id="{6B8A7100-FA9E-F30C-6B6F-1808CA2DD375}"/>
                </a:ext>
              </a:extLst>
            </p:cNvPr>
            <p:cNvGrpSpPr/>
            <p:nvPr/>
          </p:nvGrpSpPr>
          <p:grpSpPr>
            <a:xfrm>
              <a:off x="5391669" y="3481473"/>
              <a:ext cx="213740" cy="321122"/>
              <a:chOff x="5391669" y="3481473"/>
              <a:chExt cx="213740" cy="321122"/>
            </a:xfrm>
            <a:noFill/>
          </p:grpSpPr>
          <p:grpSp>
            <p:nvGrpSpPr>
              <p:cNvPr id="74" name="Graphic 4452">
                <a:extLst>
                  <a:ext uri="{FF2B5EF4-FFF2-40B4-BE49-F238E27FC236}">
                    <a16:creationId xmlns:a16="http://schemas.microsoft.com/office/drawing/2014/main" id="{13E98447-83FB-FA89-B880-236E1B8B0B28}"/>
                  </a:ext>
                </a:extLst>
              </p:cNvPr>
              <p:cNvGrpSpPr/>
              <p:nvPr/>
            </p:nvGrpSpPr>
            <p:grpSpPr>
              <a:xfrm>
                <a:off x="5391669" y="3481473"/>
                <a:ext cx="213740" cy="213690"/>
                <a:chOff x="5391669" y="3481473"/>
                <a:chExt cx="213740" cy="213690"/>
              </a:xfrm>
              <a:noFill/>
            </p:grpSpPr>
            <p:sp>
              <p:nvSpPr>
                <p:cNvPr id="77" name="Freeform: Shape 1123">
                  <a:extLst>
                    <a:ext uri="{FF2B5EF4-FFF2-40B4-BE49-F238E27FC236}">
                      <a16:creationId xmlns:a16="http://schemas.microsoft.com/office/drawing/2014/main" id="{80A82CF2-A29A-4A82-0CFC-A47CBBE8A416}"/>
                    </a:ext>
                  </a:extLst>
                </p:cNvPr>
                <p:cNvSpPr/>
                <p:nvPr/>
              </p:nvSpPr>
              <p:spPr>
                <a:xfrm>
                  <a:off x="5391669" y="3481473"/>
                  <a:ext cx="213740" cy="213690"/>
                </a:xfrm>
                <a:custGeom>
                  <a:avLst/>
                  <a:gdLst>
                    <a:gd name="connsiteX0" fmla="*/ 110369 w 213740"/>
                    <a:gd name="connsiteY0" fmla="*/ 1198 h 213690"/>
                    <a:gd name="connsiteX1" fmla="*/ 119686 w 213740"/>
                    <a:gd name="connsiteY1" fmla="*/ 8553 h 213690"/>
                    <a:gd name="connsiteX2" fmla="*/ 125079 w 213740"/>
                    <a:gd name="connsiteY2" fmla="*/ 9400 h 213690"/>
                    <a:gd name="connsiteX3" fmla="*/ 136223 w 213740"/>
                    <a:gd name="connsiteY3" fmla="*/ 5299 h 213690"/>
                    <a:gd name="connsiteX4" fmla="*/ 142821 w 213740"/>
                    <a:gd name="connsiteY4" fmla="*/ 7439 h 213690"/>
                    <a:gd name="connsiteX5" fmla="*/ 149418 w 213740"/>
                    <a:gd name="connsiteY5" fmla="*/ 17334 h 213690"/>
                    <a:gd name="connsiteX6" fmla="*/ 154321 w 213740"/>
                    <a:gd name="connsiteY6" fmla="*/ 19831 h 213690"/>
                    <a:gd name="connsiteX7" fmla="*/ 166178 w 213740"/>
                    <a:gd name="connsiteY7" fmla="*/ 19340 h 213690"/>
                    <a:gd name="connsiteX8" fmla="*/ 171795 w 213740"/>
                    <a:gd name="connsiteY8" fmla="*/ 23441 h 213690"/>
                    <a:gd name="connsiteX9" fmla="*/ 175004 w 213740"/>
                    <a:gd name="connsiteY9" fmla="*/ 34853 h 213690"/>
                    <a:gd name="connsiteX10" fmla="*/ 178882 w 213740"/>
                    <a:gd name="connsiteY10" fmla="*/ 38731 h 213690"/>
                    <a:gd name="connsiteX11" fmla="*/ 190294 w 213740"/>
                    <a:gd name="connsiteY11" fmla="*/ 41940 h 213690"/>
                    <a:gd name="connsiteX12" fmla="*/ 194395 w 213740"/>
                    <a:gd name="connsiteY12" fmla="*/ 47557 h 213690"/>
                    <a:gd name="connsiteX13" fmla="*/ 193904 w 213740"/>
                    <a:gd name="connsiteY13" fmla="*/ 59414 h 213690"/>
                    <a:gd name="connsiteX14" fmla="*/ 196401 w 213740"/>
                    <a:gd name="connsiteY14" fmla="*/ 64317 h 213690"/>
                    <a:gd name="connsiteX15" fmla="*/ 206296 w 213740"/>
                    <a:gd name="connsiteY15" fmla="*/ 70914 h 213690"/>
                    <a:gd name="connsiteX16" fmla="*/ 208436 w 213740"/>
                    <a:gd name="connsiteY16" fmla="*/ 77512 h 213690"/>
                    <a:gd name="connsiteX17" fmla="*/ 204335 w 213740"/>
                    <a:gd name="connsiteY17" fmla="*/ 88656 h 213690"/>
                    <a:gd name="connsiteX18" fmla="*/ 205182 w 213740"/>
                    <a:gd name="connsiteY18" fmla="*/ 94049 h 213690"/>
                    <a:gd name="connsiteX19" fmla="*/ 212537 w 213740"/>
                    <a:gd name="connsiteY19" fmla="*/ 103366 h 213690"/>
                    <a:gd name="connsiteX20" fmla="*/ 212537 w 213740"/>
                    <a:gd name="connsiteY20" fmla="*/ 110319 h 213690"/>
                    <a:gd name="connsiteX21" fmla="*/ 205182 w 213740"/>
                    <a:gd name="connsiteY21" fmla="*/ 119636 h 213690"/>
                    <a:gd name="connsiteX22" fmla="*/ 204335 w 213740"/>
                    <a:gd name="connsiteY22" fmla="*/ 125029 h 213690"/>
                    <a:gd name="connsiteX23" fmla="*/ 208436 w 213740"/>
                    <a:gd name="connsiteY23" fmla="*/ 136173 h 213690"/>
                    <a:gd name="connsiteX24" fmla="*/ 206296 w 213740"/>
                    <a:gd name="connsiteY24" fmla="*/ 142770 h 213690"/>
                    <a:gd name="connsiteX25" fmla="*/ 196401 w 213740"/>
                    <a:gd name="connsiteY25" fmla="*/ 149368 h 213690"/>
                    <a:gd name="connsiteX26" fmla="*/ 193904 w 213740"/>
                    <a:gd name="connsiteY26" fmla="*/ 154271 h 213690"/>
                    <a:gd name="connsiteX27" fmla="*/ 194395 w 213740"/>
                    <a:gd name="connsiteY27" fmla="*/ 166128 h 213690"/>
                    <a:gd name="connsiteX28" fmla="*/ 190294 w 213740"/>
                    <a:gd name="connsiteY28" fmla="*/ 171745 h 213690"/>
                    <a:gd name="connsiteX29" fmla="*/ 178882 w 213740"/>
                    <a:gd name="connsiteY29" fmla="*/ 174954 h 213690"/>
                    <a:gd name="connsiteX30" fmla="*/ 175004 w 213740"/>
                    <a:gd name="connsiteY30" fmla="*/ 178832 h 213690"/>
                    <a:gd name="connsiteX31" fmla="*/ 171795 w 213740"/>
                    <a:gd name="connsiteY31" fmla="*/ 190244 h 213690"/>
                    <a:gd name="connsiteX32" fmla="*/ 166178 w 213740"/>
                    <a:gd name="connsiteY32" fmla="*/ 194345 h 213690"/>
                    <a:gd name="connsiteX33" fmla="*/ 154321 w 213740"/>
                    <a:gd name="connsiteY33" fmla="*/ 193854 h 213690"/>
                    <a:gd name="connsiteX34" fmla="*/ 149418 w 213740"/>
                    <a:gd name="connsiteY34" fmla="*/ 196350 h 213690"/>
                    <a:gd name="connsiteX35" fmla="*/ 142821 w 213740"/>
                    <a:gd name="connsiteY35" fmla="*/ 206246 h 213690"/>
                    <a:gd name="connsiteX36" fmla="*/ 136223 w 213740"/>
                    <a:gd name="connsiteY36" fmla="*/ 208386 h 213690"/>
                    <a:gd name="connsiteX37" fmla="*/ 125079 w 213740"/>
                    <a:gd name="connsiteY37" fmla="*/ 204285 h 213690"/>
                    <a:gd name="connsiteX38" fmla="*/ 119686 w 213740"/>
                    <a:gd name="connsiteY38" fmla="*/ 205132 h 213690"/>
                    <a:gd name="connsiteX39" fmla="*/ 110369 w 213740"/>
                    <a:gd name="connsiteY39" fmla="*/ 212487 h 213690"/>
                    <a:gd name="connsiteX40" fmla="*/ 103416 w 213740"/>
                    <a:gd name="connsiteY40" fmla="*/ 212487 h 213690"/>
                    <a:gd name="connsiteX41" fmla="*/ 94099 w 213740"/>
                    <a:gd name="connsiteY41" fmla="*/ 205132 h 213690"/>
                    <a:gd name="connsiteX42" fmla="*/ 88706 w 213740"/>
                    <a:gd name="connsiteY42" fmla="*/ 204285 h 213690"/>
                    <a:gd name="connsiteX43" fmla="*/ 77562 w 213740"/>
                    <a:gd name="connsiteY43" fmla="*/ 208386 h 213690"/>
                    <a:gd name="connsiteX44" fmla="*/ 70964 w 213740"/>
                    <a:gd name="connsiteY44" fmla="*/ 206246 h 213690"/>
                    <a:gd name="connsiteX45" fmla="*/ 64367 w 213740"/>
                    <a:gd name="connsiteY45" fmla="*/ 196350 h 213690"/>
                    <a:gd name="connsiteX46" fmla="*/ 59464 w 213740"/>
                    <a:gd name="connsiteY46" fmla="*/ 193854 h 213690"/>
                    <a:gd name="connsiteX47" fmla="*/ 47607 w 213740"/>
                    <a:gd name="connsiteY47" fmla="*/ 194345 h 213690"/>
                    <a:gd name="connsiteX48" fmla="*/ 41990 w 213740"/>
                    <a:gd name="connsiteY48" fmla="*/ 190244 h 213690"/>
                    <a:gd name="connsiteX49" fmla="*/ 38736 w 213740"/>
                    <a:gd name="connsiteY49" fmla="*/ 178877 h 213690"/>
                    <a:gd name="connsiteX50" fmla="*/ 34858 w 213740"/>
                    <a:gd name="connsiteY50" fmla="*/ 174999 h 213690"/>
                    <a:gd name="connsiteX51" fmla="*/ 23447 w 213740"/>
                    <a:gd name="connsiteY51" fmla="*/ 171789 h 213690"/>
                    <a:gd name="connsiteX52" fmla="*/ 19346 w 213740"/>
                    <a:gd name="connsiteY52" fmla="*/ 166173 h 213690"/>
                    <a:gd name="connsiteX53" fmla="*/ 19836 w 213740"/>
                    <a:gd name="connsiteY53" fmla="*/ 154316 h 213690"/>
                    <a:gd name="connsiteX54" fmla="*/ 17340 w 213740"/>
                    <a:gd name="connsiteY54" fmla="*/ 149412 h 213690"/>
                    <a:gd name="connsiteX55" fmla="*/ 7444 w 213740"/>
                    <a:gd name="connsiteY55" fmla="*/ 142815 h 213690"/>
                    <a:gd name="connsiteX56" fmla="*/ 5305 w 213740"/>
                    <a:gd name="connsiteY56" fmla="*/ 136218 h 213690"/>
                    <a:gd name="connsiteX57" fmla="*/ 9405 w 213740"/>
                    <a:gd name="connsiteY57" fmla="*/ 125074 h 213690"/>
                    <a:gd name="connsiteX58" fmla="*/ 8559 w 213740"/>
                    <a:gd name="connsiteY58" fmla="*/ 119680 h 213690"/>
                    <a:gd name="connsiteX59" fmla="*/ 1204 w 213740"/>
                    <a:gd name="connsiteY59" fmla="*/ 110364 h 213690"/>
                    <a:gd name="connsiteX60" fmla="*/ 1204 w 213740"/>
                    <a:gd name="connsiteY60" fmla="*/ 103410 h 213690"/>
                    <a:gd name="connsiteX61" fmla="*/ 8559 w 213740"/>
                    <a:gd name="connsiteY61" fmla="*/ 94094 h 213690"/>
                    <a:gd name="connsiteX62" fmla="*/ 9405 w 213740"/>
                    <a:gd name="connsiteY62" fmla="*/ 88700 h 213690"/>
                    <a:gd name="connsiteX63" fmla="*/ 5305 w 213740"/>
                    <a:gd name="connsiteY63" fmla="*/ 77556 h 213690"/>
                    <a:gd name="connsiteX64" fmla="*/ 7444 w 213740"/>
                    <a:gd name="connsiteY64" fmla="*/ 70959 h 213690"/>
                    <a:gd name="connsiteX65" fmla="*/ 17340 w 213740"/>
                    <a:gd name="connsiteY65" fmla="*/ 64362 h 213690"/>
                    <a:gd name="connsiteX66" fmla="*/ 19836 w 213740"/>
                    <a:gd name="connsiteY66" fmla="*/ 59458 h 213690"/>
                    <a:gd name="connsiteX67" fmla="*/ 19346 w 213740"/>
                    <a:gd name="connsiteY67" fmla="*/ 47601 h 213690"/>
                    <a:gd name="connsiteX68" fmla="*/ 23447 w 213740"/>
                    <a:gd name="connsiteY68" fmla="*/ 41985 h 213690"/>
                    <a:gd name="connsiteX69" fmla="*/ 34858 w 213740"/>
                    <a:gd name="connsiteY69" fmla="*/ 38775 h 213690"/>
                    <a:gd name="connsiteX70" fmla="*/ 38736 w 213740"/>
                    <a:gd name="connsiteY70" fmla="*/ 34897 h 213690"/>
                    <a:gd name="connsiteX71" fmla="*/ 41946 w 213740"/>
                    <a:gd name="connsiteY71" fmla="*/ 23486 h 213690"/>
                    <a:gd name="connsiteX72" fmla="*/ 47562 w 213740"/>
                    <a:gd name="connsiteY72" fmla="*/ 19385 h 213690"/>
                    <a:gd name="connsiteX73" fmla="*/ 59419 w 213740"/>
                    <a:gd name="connsiteY73" fmla="*/ 19875 h 213690"/>
                    <a:gd name="connsiteX74" fmla="*/ 64323 w 213740"/>
                    <a:gd name="connsiteY74" fmla="*/ 17379 h 213690"/>
                    <a:gd name="connsiteX75" fmla="*/ 70920 w 213740"/>
                    <a:gd name="connsiteY75" fmla="*/ 7483 h 213690"/>
                    <a:gd name="connsiteX76" fmla="*/ 77517 w 213740"/>
                    <a:gd name="connsiteY76" fmla="*/ 5344 h 213690"/>
                    <a:gd name="connsiteX77" fmla="*/ 88661 w 213740"/>
                    <a:gd name="connsiteY77" fmla="*/ 9445 h 213690"/>
                    <a:gd name="connsiteX78" fmla="*/ 94055 w 213740"/>
                    <a:gd name="connsiteY78" fmla="*/ 8598 h 213690"/>
                    <a:gd name="connsiteX79" fmla="*/ 103371 w 213740"/>
                    <a:gd name="connsiteY79" fmla="*/ 1243 h 213690"/>
                    <a:gd name="connsiteX80" fmla="*/ 110369 w 213740"/>
                    <a:gd name="connsiteY80" fmla="*/ 1198 h 213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213740" h="213690">
                      <a:moveTo>
                        <a:pt x="110369" y="1198"/>
                      </a:moveTo>
                      <a:lnTo>
                        <a:pt x="119686" y="8553"/>
                      </a:lnTo>
                      <a:cubicBezTo>
                        <a:pt x="121201" y="9757"/>
                        <a:pt x="123252" y="10069"/>
                        <a:pt x="125079" y="9400"/>
                      </a:cubicBezTo>
                      <a:lnTo>
                        <a:pt x="136223" y="5299"/>
                      </a:lnTo>
                      <a:cubicBezTo>
                        <a:pt x="138675" y="4407"/>
                        <a:pt x="141394" y="5299"/>
                        <a:pt x="142821" y="7439"/>
                      </a:cubicBezTo>
                      <a:lnTo>
                        <a:pt x="149418" y="17334"/>
                      </a:lnTo>
                      <a:cubicBezTo>
                        <a:pt x="150488" y="18939"/>
                        <a:pt x="152360" y="19920"/>
                        <a:pt x="154321" y="19831"/>
                      </a:cubicBezTo>
                      <a:lnTo>
                        <a:pt x="166178" y="19340"/>
                      </a:lnTo>
                      <a:cubicBezTo>
                        <a:pt x="168764" y="19251"/>
                        <a:pt x="171082" y="20945"/>
                        <a:pt x="171795" y="23441"/>
                      </a:cubicBezTo>
                      <a:lnTo>
                        <a:pt x="175004" y="34853"/>
                      </a:lnTo>
                      <a:cubicBezTo>
                        <a:pt x="175539" y="36725"/>
                        <a:pt x="177010" y="38196"/>
                        <a:pt x="178882" y="38731"/>
                      </a:cubicBezTo>
                      <a:lnTo>
                        <a:pt x="190294" y="41940"/>
                      </a:lnTo>
                      <a:cubicBezTo>
                        <a:pt x="192790" y="42653"/>
                        <a:pt x="194484" y="44971"/>
                        <a:pt x="194395" y="47557"/>
                      </a:cubicBezTo>
                      <a:lnTo>
                        <a:pt x="193904" y="59414"/>
                      </a:lnTo>
                      <a:cubicBezTo>
                        <a:pt x="193815" y="61375"/>
                        <a:pt x="194751" y="63203"/>
                        <a:pt x="196401" y="64317"/>
                      </a:cubicBezTo>
                      <a:lnTo>
                        <a:pt x="206296" y="70914"/>
                      </a:lnTo>
                      <a:cubicBezTo>
                        <a:pt x="208436" y="72341"/>
                        <a:pt x="209328" y="75105"/>
                        <a:pt x="208436" y="77512"/>
                      </a:cubicBezTo>
                      <a:lnTo>
                        <a:pt x="204335" y="88656"/>
                      </a:lnTo>
                      <a:cubicBezTo>
                        <a:pt x="203666" y="90483"/>
                        <a:pt x="203978" y="92534"/>
                        <a:pt x="205182" y="94049"/>
                      </a:cubicBezTo>
                      <a:lnTo>
                        <a:pt x="212537" y="103366"/>
                      </a:lnTo>
                      <a:cubicBezTo>
                        <a:pt x="214142" y="105416"/>
                        <a:pt x="214142" y="108269"/>
                        <a:pt x="212537" y="110319"/>
                      </a:cubicBezTo>
                      <a:lnTo>
                        <a:pt x="205182" y="119636"/>
                      </a:lnTo>
                      <a:cubicBezTo>
                        <a:pt x="203978" y="121151"/>
                        <a:pt x="203666" y="123202"/>
                        <a:pt x="204335" y="125029"/>
                      </a:cubicBezTo>
                      <a:lnTo>
                        <a:pt x="208436" y="136173"/>
                      </a:lnTo>
                      <a:cubicBezTo>
                        <a:pt x="209328" y="138625"/>
                        <a:pt x="208436" y="141344"/>
                        <a:pt x="206296" y="142770"/>
                      </a:cubicBezTo>
                      <a:lnTo>
                        <a:pt x="196401" y="149368"/>
                      </a:lnTo>
                      <a:cubicBezTo>
                        <a:pt x="194796" y="150437"/>
                        <a:pt x="193815" y="152310"/>
                        <a:pt x="193904" y="154271"/>
                      </a:cubicBezTo>
                      <a:lnTo>
                        <a:pt x="194395" y="166128"/>
                      </a:lnTo>
                      <a:cubicBezTo>
                        <a:pt x="194484" y="168714"/>
                        <a:pt x="192790" y="171031"/>
                        <a:pt x="190294" y="171745"/>
                      </a:cubicBezTo>
                      <a:lnTo>
                        <a:pt x="178882" y="174954"/>
                      </a:lnTo>
                      <a:cubicBezTo>
                        <a:pt x="177010" y="175489"/>
                        <a:pt x="175539" y="176960"/>
                        <a:pt x="175004" y="178832"/>
                      </a:cubicBezTo>
                      <a:lnTo>
                        <a:pt x="171795" y="190244"/>
                      </a:lnTo>
                      <a:cubicBezTo>
                        <a:pt x="171082" y="192740"/>
                        <a:pt x="168764" y="194434"/>
                        <a:pt x="166178" y="194345"/>
                      </a:cubicBezTo>
                      <a:lnTo>
                        <a:pt x="154321" y="193854"/>
                      </a:lnTo>
                      <a:cubicBezTo>
                        <a:pt x="152360" y="193765"/>
                        <a:pt x="150532" y="194701"/>
                        <a:pt x="149418" y="196350"/>
                      </a:cubicBezTo>
                      <a:lnTo>
                        <a:pt x="142821" y="206246"/>
                      </a:lnTo>
                      <a:cubicBezTo>
                        <a:pt x="141394" y="208386"/>
                        <a:pt x="138630" y="209277"/>
                        <a:pt x="136223" y="208386"/>
                      </a:cubicBezTo>
                      <a:lnTo>
                        <a:pt x="125079" y="204285"/>
                      </a:lnTo>
                      <a:cubicBezTo>
                        <a:pt x="123252" y="203616"/>
                        <a:pt x="121201" y="203928"/>
                        <a:pt x="119686" y="205132"/>
                      </a:cubicBezTo>
                      <a:lnTo>
                        <a:pt x="110369" y="212487"/>
                      </a:lnTo>
                      <a:cubicBezTo>
                        <a:pt x="108319" y="214092"/>
                        <a:pt x="105466" y="214092"/>
                        <a:pt x="103416" y="212487"/>
                      </a:cubicBezTo>
                      <a:lnTo>
                        <a:pt x="94099" y="205132"/>
                      </a:lnTo>
                      <a:cubicBezTo>
                        <a:pt x="92584" y="203928"/>
                        <a:pt x="90533" y="203616"/>
                        <a:pt x="88706" y="204285"/>
                      </a:cubicBezTo>
                      <a:lnTo>
                        <a:pt x="77562" y="208386"/>
                      </a:lnTo>
                      <a:cubicBezTo>
                        <a:pt x="75110" y="209277"/>
                        <a:pt x="72391" y="208386"/>
                        <a:pt x="70964" y="206246"/>
                      </a:cubicBezTo>
                      <a:lnTo>
                        <a:pt x="64367" y="196350"/>
                      </a:lnTo>
                      <a:cubicBezTo>
                        <a:pt x="63297" y="194746"/>
                        <a:pt x="61425" y="193765"/>
                        <a:pt x="59464" y="193854"/>
                      </a:cubicBezTo>
                      <a:lnTo>
                        <a:pt x="47607" y="194345"/>
                      </a:lnTo>
                      <a:cubicBezTo>
                        <a:pt x="45021" y="194434"/>
                        <a:pt x="42704" y="192740"/>
                        <a:pt x="41990" y="190244"/>
                      </a:cubicBezTo>
                      <a:lnTo>
                        <a:pt x="38736" y="178877"/>
                      </a:lnTo>
                      <a:cubicBezTo>
                        <a:pt x="38201" y="177005"/>
                        <a:pt x="36730" y="175534"/>
                        <a:pt x="34858" y="174999"/>
                      </a:cubicBezTo>
                      <a:lnTo>
                        <a:pt x="23447" y="171789"/>
                      </a:lnTo>
                      <a:cubicBezTo>
                        <a:pt x="20951" y="171076"/>
                        <a:pt x="19257" y="168758"/>
                        <a:pt x="19346" y="166173"/>
                      </a:cubicBezTo>
                      <a:lnTo>
                        <a:pt x="19836" y="154316"/>
                      </a:lnTo>
                      <a:cubicBezTo>
                        <a:pt x="19925" y="152354"/>
                        <a:pt x="18989" y="150527"/>
                        <a:pt x="17340" y="149412"/>
                      </a:cubicBezTo>
                      <a:lnTo>
                        <a:pt x="7444" y="142815"/>
                      </a:lnTo>
                      <a:cubicBezTo>
                        <a:pt x="5305" y="141389"/>
                        <a:pt x="4413" y="138625"/>
                        <a:pt x="5305" y="136218"/>
                      </a:cubicBezTo>
                      <a:lnTo>
                        <a:pt x="9405" y="125074"/>
                      </a:lnTo>
                      <a:cubicBezTo>
                        <a:pt x="10074" y="123246"/>
                        <a:pt x="9762" y="121196"/>
                        <a:pt x="8559" y="119680"/>
                      </a:cubicBezTo>
                      <a:lnTo>
                        <a:pt x="1204" y="110364"/>
                      </a:lnTo>
                      <a:cubicBezTo>
                        <a:pt x="-401" y="108313"/>
                        <a:pt x="-401" y="105461"/>
                        <a:pt x="1204" y="103410"/>
                      </a:cubicBezTo>
                      <a:lnTo>
                        <a:pt x="8559" y="94094"/>
                      </a:lnTo>
                      <a:cubicBezTo>
                        <a:pt x="9762" y="92578"/>
                        <a:pt x="10074" y="90528"/>
                        <a:pt x="9405" y="88700"/>
                      </a:cubicBezTo>
                      <a:lnTo>
                        <a:pt x="5305" y="77556"/>
                      </a:lnTo>
                      <a:cubicBezTo>
                        <a:pt x="4413" y="75105"/>
                        <a:pt x="5305" y="72385"/>
                        <a:pt x="7444" y="70959"/>
                      </a:cubicBezTo>
                      <a:lnTo>
                        <a:pt x="17340" y="64362"/>
                      </a:lnTo>
                      <a:cubicBezTo>
                        <a:pt x="18945" y="63292"/>
                        <a:pt x="19925" y="61420"/>
                        <a:pt x="19836" y="59458"/>
                      </a:cubicBezTo>
                      <a:lnTo>
                        <a:pt x="19346" y="47601"/>
                      </a:lnTo>
                      <a:cubicBezTo>
                        <a:pt x="19257" y="45016"/>
                        <a:pt x="20951" y="42698"/>
                        <a:pt x="23447" y="41985"/>
                      </a:cubicBezTo>
                      <a:lnTo>
                        <a:pt x="34858" y="38775"/>
                      </a:lnTo>
                      <a:cubicBezTo>
                        <a:pt x="36730" y="38240"/>
                        <a:pt x="38201" y="36769"/>
                        <a:pt x="38736" y="34897"/>
                      </a:cubicBezTo>
                      <a:lnTo>
                        <a:pt x="41946" y="23486"/>
                      </a:lnTo>
                      <a:cubicBezTo>
                        <a:pt x="42659" y="20990"/>
                        <a:pt x="44977" y="19296"/>
                        <a:pt x="47562" y="19385"/>
                      </a:cubicBezTo>
                      <a:lnTo>
                        <a:pt x="59419" y="19875"/>
                      </a:lnTo>
                      <a:cubicBezTo>
                        <a:pt x="61381" y="19964"/>
                        <a:pt x="63208" y="19028"/>
                        <a:pt x="64323" y="17379"/>
                      </a:cubicBezTo>
                      <a:lnTo>
                        <a:pt x="70920" y="7483"/>
                      </a:lnTo>
                      <a:cubicBezTo>
                        <a:pt x="72346" y="5344"/>
                        <a:pt x="75110" y="4452"/>
                        <a:pt x="77517" y="5344"/>
                      </a:cubicBezTo>
                      <a:lnTo>
                        <a:pt x="88661" y="9445"/>
                      </a:lnTo>
                      <a:cubicBezTo>
                        <a:pt x="90489" y="10113"/>
                        <a:pt x="92539" y="9801"/>
                        <a:pt x="94055" y="8598"/>
                      </a:cubicBezTo>
                      <a:lnTo>
                        <a:pt x="103371" y="1243"/>
                      </a:lnTo>
                      <a:cubicBezTo>
                        <a:pt x="105466" y="-407"/>
                        <a:pt x="108319" y="-407"/>
                        <a:pt x="110369" y="1198"/>
                      </a:cubicBez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78" name="Freeform: Shape 1124">
                  <a:extLst>
                    <a:ext uri="{FF2B5EF4-FFF2-40B4-BE49-F238E27FC236}">
                      <a16:creationId xmlns:a16="http://schemas.microsoft.com/office/drawing/2014/main" id="{5D7C3EA7-1D23-00B9-7298-4B07A8BE1992}"/>
                    </a:ext>
                  </a:extLst>
                </p:cNvPr>
                <p:cNvSpPr/>
                <p:nvPr/>
              </p:nvSpPr>
              <p:spPr>
                <a:xfrm>
                  <a:off x="5441727" y="3530679"/>
                  <a:ext cx="113668" cy="113668"/>
                </a:xfrm>
                <a:custGeom>
                  <a:avLst/>
                  <a:gdLst>
                    <a:gd name="connsiteX0" fmla="*/ 113668 w 113668"/>
                    <a:gd name="connsiteY0" fmla="*/ 56834 h 113668"/>
                    <a:gd name="connsiteX1" fmla="*/ 56834 w 113668"/>
                    <a:gd name="connsiteY1" fmla="*/ 113668 h 113668"/>
                    <a:gd name="connsiteX2" fmla="*/ 0 w 113668"/>
                    <a:gd name="connsiteY2" fmla="*/ 56834 h 113668"/>
                    <a:gd name="connsiteX3" fmla="*/ 56834 w 113668"/>
                    <a:gd name="connsiteY3" fmla="*/ 0 h 113668"/>
                    <a:gd name="connsiteX4" fmla="*/ 113668 w 113668"/>
                    <a:gd name="connsiteY4" fmla="*/ 56834 h 1136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8" h="113668">
                      <a:moveTo>
                        <a:pt x="113668" y="56834"/>
                      </a:moveTo>
                      <a:cubicBezTo>
                        <a:pt x="113668" y="88223"/>
                        <a:pt x="88223" y="113668"/>
                        <a:pt x="56834" y="113668"/>
                      </a:cubicBezTo>
                      <a:cubicBezTo>
                        <a:pt x="25445" y="113668"/>
                        <a:pt x="0" y="88223"/>
                        <a:pt x="0" y="56834"/>
                      </a:cubicBezTo>
                      <a:cubicBezTo>
                        <a:pt x="0" y="25445"/>
                        <a:pt x="25445" y="0"/>
                        <a:pt x="56834" y="0"/>
                      </a:cubicBezTo>
                      <a:cubicBezTo>
                        <a:pt x="88223" y="0"/>
                        <a:pt x="113668" y="25445"/>
                        <a:pt x="113668" y="56834"/>
                      </a:cubicBez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grpSp>
          <p:sp>
            <p:nvSpPr>
              <p:cNvPr id="75" name="Freeform: Shape 1121">
                <a:extLst>
                  <a:ext uri="{FF2B5EF4-FFF2-40B4-BE49-F238E27FC236}">
                    <a16:creationId xmlns:a16="http://schemas.microsoft.com/office/drawing/2014/main" id="{87CE1973-9DF0-DB8B-D451-A22B398C7068}"/>
                  </a:ext>
                </a:extLst>
              </p:cNvPr>
              <p:cNvSpPr/>
              <p:nvPr/>
            </p:nvSpPr>
            <p:spPr>
              <a:xfrm>
                <a:off x="5489245" y="3703187"/>
                <a:ext cx="70964" cy="99408"/>
              </a:xfrm>
              <a:custGeom>
                <a:avLst/>
                <a:gdLst>
                  <a:gd name="connsiteX0" fmla="*/ 0 w 70964"/>
                  <a:gd name="connsiteY0" fmla="*/ 6241 h 99408"/>
                  <a:gd name="connsiteX1" fmla="*/ 20193 w 70964"/>
                  <a:gd name="connsiteY1" fmla="*/ 95035 h 99408"/>
                  <a:gd name="connsiteX2" fmla="*/ 30490 w 70964"/>
                  <a:gd name="connsiteY2" fmla="*/ 96685 h 99408"/>
                  <a:gd name="connsiteX3" fmla="*/ 39628 w 70964"/>
                  <a:gd name="connsiteY3" fmla="*/ 81306 h 99408"/>
                  <a:gd name="connsiteX4" fmla="*/ 47651 w 70964"/>
                  <a:gd name="connsiteY4" fmla="*/ 79568 h 99408"/>
                  <a:gd name="connsiteX5" fmla="*/ 62139 w 70964"/>
                  <a:gd name="connsiteY5" fmla="*/ 89686 h 99408"/>
                  <a:gd name="connsiteX6" fmla="*/ 70831 w 70964"/>
                  <a:gd name="connsiteY6" fmla="*/ 83891 h 99408"/>
                  <a:gd name="connsiteX7" fmla="*/ 52733 w 70964"/>
                  <a:gd name="connsiteY7" fmla="*/ 0 h 9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64" h="99408">
                    <a:moveTo>
                      <a:pt x="0" y="6241"/>
                    </a:moveTo>
                    <a:lnTo>
                      <a:pt x="20193" y="95035"/>
                    </a:lnTo>
                    <a:cubicBezTo>
                      <a:pt x="21307" y="99983"/>
                      <a:pt x="27904" y="101009"/>
                      <a:pt x="30490" y="96685"/>
                    </a:cubicBezTo>
                    <a:lnTo>
                      <a:pt x="39628" y="81306"/>
                    </a:lnTo>
                    <a:cubicBezTo>
                      <a:pt x="41277" y="78498"/>
                      <a:pt x="44977" y="77695"/>
                      <a:pt x="47651" y="79568"/>
                    </a:cubicBezTo>
                    <a:lnTo>
                      <a:pt x="62139" y="89686"/>
                    </a:lnTo>
                    <a:cubicBezTo>
                      <a:pt x="66329" y="92628"/>
                      <a:pt x="71901" y="88884"/>
                      <a:pt x="70831" y="83891"/>
                    </a:cubicBezTo>
                    <a:lnTo>
                      <a:pt x="52733" y="0"/>
                    </a:lnTo>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76" name="Freeform: Shape 1122">
                <a:extLst>
                  <a:ext uri="{FF2B5EF4-FFF2-40B4-BE49-F238E27FC236}">
                    <a16:creationId xmlns:a16="http://schemas.microsoft.com/office/drawing/2014/main" id="{8BC39723-51B8-777A-2B33-177E4498687A}"/>
                  </a:ext>
                </a:extLst>
              </p:cNvPr>
              <p:cNvSpPr/>
              <p:nvPr/>
            </p:nvSpPr>
            <p:spPr>
              <a:xfrm>
                <a:off x="5425814" y="3695163"/>
                <a:ext cx="59330" cy="107269"/>
              </a:xfrm>
              <a:custGeom>
                <a:avLst/>
                <a:gdLst>
                  <a:gd name="connsiteX0" fmla="*/ 19881 w 59330"/>
                  <a:gd name="connsiteY0" fmla="*/ 0 h 107269"/>
                  <a:gd name="connsiteX1" fmla="*/ 134 w 59330"/>
                  <a:gd name="connsiteY1" fmla="*/ 91915 h 107269"/>
                  <a:gd name="connsiteX2" fmla="*/ 8826 w 59330"/>
                  <a:gd name="connsiteY2" fmla="*/ 97710 h 107269"/>
                  <a:gd name="connsiteX3" fmla="*/ 23313 w 59330"/>
                  <a:gd name="connsiteY3" fmla="*/ 87591 h 107269"/>
                  <a:gd name="connsiteX4" fmla="*/ 31337 w 59330"/>
                  <a:gd name="connsiteY4" fmla="*/ 89330 h 107269"/>
                  <a:gd name="connsiteX5" fmla="*/ 40386 w 59330"/>
                  <a:gd name="connsiteY5" fmla="*/ 104530 h 107269"/>
                  <a:gd name="connsiteX6" fmla="*/ 50683 w 59330"/>
                  <a:gd name="connsiteY6" fmla="*/ 102836 h 107269"/>
                  <a:gd name="connsiteX7" fmla="*/ 59330 w 59330"/>
                  <a:gd name="connsiteY7" fmla="*/ 62629 h 10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330" h="107269">
                    <a:moveTo>
                      <a:pt x="19881" y="0"/>
                    </a:moveTo>
                    <a:lnTo>
                      <a:pt x="134" y="91915"/>
                    </a:lnTo>
                    <a:cubicBezTo>
                      <a:pt x="-936" y="96908"/>
                      <a:pt x="4636" y="100607"/>
                      <a:pt x="8826" y="97710"/>
                    </a:cubicBezTo>
                    <a:lnTo>
                      <a:pt x="23313" y="87591"/>
                    </a:lnTo>
                    <a:cubicBezTo>
                      <a:pt x="25988" y="85719"/>
                      <a:pt x="29687" y="86521"/>
                      <a:pt x="31337" y="89330"/>
                    </a:cubicBezTo>
                    <a:lnTo>
                      <a:pt x="40386" y="104530"/>
                    </a:lnTo>
                    <a:cubicBezTo>
                      <a:pt x="42971" y="108898"/>
                      <a:pt x="49613" y="107829"/>
                      <a:pt x="50683" y="102836"/>
                    </a:cubicBezTo>
                    <a:lnTo>
                      <a:pt x="59330" y="62629"/>
                    </a:lnTo>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grpSp>
        <p:sp>
          <p:nvSpPr>
            <p:cNvPr id="68" name="Freeform: Shape 1114">
              <a:extLst>
                <a:ext uri="{FF2B5EF4-FFF2-40B4-BE49-F238E27FC236}">
                  <a16:creationId xmlns:a16="http://schemas.microsoft.com/office/drawing/2014/main" id="{5CFAFA6C-58B1-6612-2985-DA4D3AEFD616}"/>
                </a:ext>
              </a:extLst>
            </p:cNvPr>
            <p:cNvSpPr/>
            <p:nvPr/>
          </p:nvSpPr>
          <p:spPr>
            <a:xfrm>
              <a:off x="5112135" y="3385228"/>
              <a:ext cx="32495" cy="32495"/>
            </a:xfrm>
            <a:custGeom>
              <a:avLst/>
              <a:gdLst>
                <a:gd name="connsiteX0" fmla="*/ 0 w 32495"/>
                <a:gd name="connsiteY0" fmla="*/ 0 h 32495"/>
                <a:gd name="connsiteX1" fmla="*/ 32496 w 32495"/>
                <a:gd name="connsiteY1" fmla="*/ 0 h 32495"/>
                <a:gd name="connsiteX2" fmla="*/ 32496 w 32495"/>
                <a:gd name="connsiteY2" fmla="*/ 32496 h 32495"/>
                <a:gd name="connsiteX3" fmla="*/ 0 w 32495"/>
                <a:gd name="connsiteY3" fmla="*/ 32496 h 32495"/>
              </a:gdLst>
              <a:ahLst/>
              <a:cxnLst>
                <a:cxn ang="0">
                  <a:pos x="connsiteX0" y="connsiteY0"/>
                </a:cxn>
                <a:cxn ang="0">
                  <a:pos x="connsiteX1" y="connsiteY1"/>
                </a:cxn>
                <a:cxn ang="0">
                  <a:pos x="connsiteX2" y="connsiteY2"/>
                </a:cxn>
                <a:cxn ang="0">
                  <a:pos x="connsiteX3" y="connsiteY3"/>
                </a:cxn>
              </a:cxnLst>
              <a:rect l="l" t="t" r="r" b="b"/>
              <a:pathLst>
                <a:path w="32495" h="32495">
                  <a:moveTo>
                    <a:pt x="0" y="0"/>
                  </a:moveTo>
                  <a:lnTo>
                    <a:pt x="32496" y="0"/>
                  </a:lnTo>
                  <a:lnTo>
                    <a:pt x="32496" y="32496"/>
                  </a:lnTo>
                  <a:lnTo>
                    <a:pt x="0" y="32496"/>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69" name="Freeform: Shape 1115">
              <a:extLst>
                <a:ext uri="{FF2B5EF4-FFF2-40B4-BE49-F238E27FC236}">
                  <a16:creationId xmlns:a16="http://schemas.microsoft.com/office/drawing/2014/main" id="{AD6EDECE-6376-8E58-CD00-56B65C30C29B}"/>
                </a:ext>
              </a:extLst>
            </p:cNvPr>
            <p:cNvSpPr/>
            <p:nvPr/>
          </p:nvSpPr>
          <p:spPr>
            <a:xfrm>
              <a:off x="5112135" y="3453295"/>
              <a:ext cx="32495" cy="32495"/>
            </a:xfrm>
            <a:custGeom>
              <a:avLst/>
              <a:gdLst>
                <a:gd name="connsiteX0" fmla="*/ 0 w 32495"/>
                <a:gd name="connsiteY0" fmla="*/ 0 h 32495"/>
                <a:gd name="connsiteX1" fmla="*/ 32496 w 32495"/>
                <a:gd name="connsiteY1" fmla="*/ 0 h 32495"/>
                <a:gd name="connsiteX2" fmla="*/ 32496 w 32495"/>
                <a:gd name="connsiteY2" fmla="*/ 32496 h 32495"/>
                <a:gd name="connsiteX3" fmla="*/ 0 w 32495"/>
                <a:gd name="connsiteY3" fmla="*/ 32496 h 32495"/>
              </a:gdLst>
              <a:ahLst/>
              <a:cxnLst>
                <a:cxn ang="0">
                  <a:pos x="connsiteX0" y="connsiteY0"/>
                </a:cxn>
                <a:cxn ang="0">
                  <a:pos x="connsiteX1" y="connsiteY1"/>
                </a:cxn>
                <a:cxn ang="0">
                  <a:pos x="connsiteX2" y="connsiteY2"/>
                </a:cxn>
                <a:cxn ang="0">
                  <a:pos x="connsiteX3" y="connsiteY3"/>
                </a:cxn>
              </a:cxnLst>
              <a:rect l="l" t="t" r="r" b="b"/>
              <a:pathLst>
                <a:path w="32495" h="32495">
                  <a:moveTo>
                    <a:pt x="0" y="0"/>
                  </a:moveTo>
                  <a:lnTo>
                    <a:pt x="32496" y="0"/>
                  </a:lnTo>
                  <a:lnTo>
                    <a:pt x="32496" y="32496"/>
                  </a:lnTo>
                  <a:lnTo>
                    <a:pt x="0" y="32496"/>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70" name="Freeform: Shape 1116">
              <a:extLst>
                <a:ext uri="{FF2B5EF4-FFF2-40B4-BE49-F238E27FC236}">
                  <a16:creationId xmlns:a16="http://schemas.microsoft.com/office/drawing/2014/main" id="{4AA0A83D-8F2E-3085-C63C-93D3A276919C}"/>
                </a:ext>
              </a:extLst>
            </p:cNvPr>
            <p:cNvSpPr/>
            <p:nvPr/>
          </p:nvSpPr>
          <p:spPr>
            <a:xfrm>
              <a:off x="5112135" y="3521407"/>
              <a:ext cx="32495" cy="32495"/>
            </a:xfrm>
            <a:custGeom>
              <a:avLst/>
              <a:gdLst>
                <a:gd name="connsiteX0" fmla="*/ 0 w 32495"/>
                <a:gd name="connsiteY0" fmla="*/ 0 h 32495"/>
                <a:gd name="connsiteX1" fmla="*/ 32496 w 32495"/>
                <a:gd name="connsiteY1" fmla="*/ 0 h 32495"/>
                <a:gd name="connsiteX2" fmla="*/ 32496 w 32495"/>
                <a:gd name="connsiteY2" fmla="*/ 32496 h 32495"/>
                <a:gd name="connsiteX3" fmla="*/ 0 w 32495"/>
                <a:gd name="connsiteY3" fmla="*/ 32496 h 32495"/>
              </a:gdLst>
              <a:ahLst/>
              <a:cxnLst>
                <a:cxn ang="0">
                  <a:pos x="connsiteX0" y="connsiteY0"/>
                </a:cxn>
                <a:cxn ang="0">
                  <a:pos x="connsiteX1" y="connsiteY1"/>
                </a:cxn>
                <a:cxn ang="0">
                  <a:pos x="connsiteX2" y="connsiteY2"/>
                </a:cxn>
                <a:cxn ang="0">
                  <a:pos x="connsiteX3" y="connsiteY3"/>
                </a:cxn>
              </a:cxnLst>
              <a:rect l="l" t="t" r="r" b="b"/>
              <a:pathLst>
                <a:path w="32495" h="32495">
                  <a:moveTo>
                    <a:pt x="0" y="0"/>
                  </a:moveTo>
                  <a:lnTo>
                    <a:pt x="32496" y="0"/>
                  </a:lnTo>
                  <a:lnTo>
                    <a:pt x="32496" y="32496"/>
                  </a:lnTo>
                  <a:lnTo>
                    <a:pt x="0" y="32496"/>
                  </a:lnTo>
                  <a:close/>
                </a:path>
              </a:pathLst>
            </a:custGeom>
            <a:noFill/>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71" name="Freeform: Shape 1117">
              <a:extLst>
                <a:ext uri="{FF2B5EF4-FFF2-40B4-BE49-F238E27FC236}">
                  <a16:creationId xmlns:a16="http://schemas.microsoft.com/office/drawing/2014/main" id="{6E096BFD-9362-1D5E-5617-008D21AF5F30}"/>
                </a:ext>
              </a:extLst>
            </p:cNvPr>
            <p:cNvSpPr/>
            <p:nvPr/>
          </p:nvSpPr>
          <p:spPr>
            <a:xfrm>
              <a:off x="5164333" y="3401454"/>
              <a:ext cx="160517" cy="4457"/>
            </a:xfrm>
            <a:custGeom>
              <a:avLst/>
              <a:gdLst>
                <a:gd name="connsiteX0" fmla="*/ 0 w 160517"/>
                <a:gd name="connsiteY0" fmla="*/ 0 h 4457"/>
                <a:gd name="connsiteX1" fmla="*/ 160517 w 160517"/>
                <a:gd name="connsiteY1" fmla="*/ 0 h 4457"/>
              </a:gdLst>
              <a:ahLst/>
              <a:cxnLst>
                <a:cxn ang="0">
                  <a:pos x="connsiteX0" y="connsiteY0"/>
                </a:cxn>
                <a:cxn ang="0">
                  <a:pos x="connsiteX1" y="connsiteY1"/>
                </a:cxn>
              </a:cxnLst>
              <a:rect l="l" t="t" r="r" b="b"/>
              <a:pathLst>
                <a:path w="160517" h="4457">
                  <a:moveTo>
                    <a:pt x="0" y="0"/>
                  </a:moveTo>
                  <a:lnTo>
                    <a:pt x="160517" y="0"/>
                  </a:lnTo>
                </a:path>
              </a:pathLst>
            </a:custGeom>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72" name="Freeform: Shape 1118">
              <a:extLst>
                <a:ext uri="{FF2B5EF4-FFF2-40B4-BE49-F238E27FC236}">
                  <a16:creationId xmlns:a16="http://schemas.microsoft.com/office/drawing/2014/main" id="{A91CE3F8-BD42-A6FD-9D03-9A9760F0E3FD}"/>
                </a:ext>
              </a:extLst>
            </p:cNvPr>
            <p:cNvSpPr/>
            <p:nvPr/>
          </p:nvSpPr>
          <p:spPr>
            <a:xfrm>
              <a:off x="5164333" y="3469565"/>
              <a:ext cx="189090" cy="4457"/>
            </a:xfrm>
            <a:custGeom>
              <a:avLst/>
              <a:gdLst>
                <a:gd name="connsiteX0" fmla="*/ 0 w 189090"/>
                <a:gd name="connsiteY0" fmla="*/ 0 h 4457"/>
                <a:gd name="connsiteX1" fmla="*/ 189090 w 189090"/>
                <a:gd name="connsiteY1" fmla="*/ 0 h 4457"/>
              </a:gdLst>
              <a:ahLst/>
              <a:cxnLst>
                <a:cxn ang="0">
                  <a:pos x="connsiteX0" y="connsiteY0"/>
                </a:cxn>
                <a:cxn ang="0">
                  <a:pos x="connsiteX1" y="connsiteY1"/>
                </a:cxn>
              </a:cxnLst>
              <a:rect l="l" t="t" r="r" b="b"/>
              <a:pathLst>
                <a:path w="189090" h="4457">
                  <a:moveTo>
                    <a:pt x="0" y="0"/>
                  </a:moveTo>
                  <a:lnTo>
                    <a:pt x="189090" y="0"/>
                  </a:lnTo>
                </a:path>
              </a:pathLst>
            </a:custGeom>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73" name="Freeform: Shape 1119">
              <a:extLst>
                <a:ext uri="{FF2B5EF4-FFF2-40B4-BE49-F238E27FC236}">
                  <a16:creationId xmlns:a16="http://schemas.microsoft.com/office/drawing/2014/main" id="{8D62CC86-6FEB-76C1-E85C-893A251C8297}"/>
                </a:ext>
              </a:extLst>
            </p:cNvPr>
            <p:cNvSpPr/>
            <p:nvPr/>
          </p:nvSpPr>
          <p:spPr>
            <a:xfrm>
              <a:off x="5164333" y="3537677"/>
              <a:ext cx="160517" cy="4457"/>
            </a:xfrm>
            <a:custGeom>
              <a:avLst/>
              <a:gdLst>
                <a:gd name="connsiteX0" fmla="*/ 0 w 160517"/>
                <a:gd name="connsiteY0" fmla="*/ 0 h 4457"/>
                <a:gd name="connsiteX1" fmla="*/ 160517 w 160517"/>
                <a:gd name="connsiteY1" fmla="*/ 0 h 4457"/>
              </a:gdLst>
              <a:ahLst/>
              <a:cxnLst>
                <a:cxn ang="0">
                  <a:pos x="connsiteX0" y="connsiteY0"/>
                </a:cxn>
                <a:cxn ang="0">
                  <a:pos x="connsiteX1" y="connsiteY1"/>
                </a:cxn>
              </a:cxnLst>
              <a:rect l="l" t="t" r="r" b="b"/>
              <a:pathLst>
                <a:path w="160517" h="4457">
                  <a:moveTo>
                    <a:pt x="0" y="0"/>
                  </a:moveTo>
                  <a:lnTo>
                    <a:pt x="160517" y="0"/>
                  </a:lnTo>
                </a:path>
              </a:pathLst>
            </a:custGeom>
            <a:ln w="12700" cap="flat">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Oval 2"/>
          <p:cNvSpPr/>
          <p:nvPr/>
        </p:nvSpPr>
        <p:spPr>
          <a:xfrm>
            <a:off x="800100" y="1473200"/>
            <a:ext cx="355600" cy="355600"/>
          </a:xfrm>
          <a:prstGeom prst="ellipse">
            <a:avLst/>
          </a:prstGeom>
          <a:noFill/>
          <a:ln w="19050">
            <a:solidFill>
              <a:srgbClr val="8FA7C4"/>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200" b="1">
                <a:solidFill>
                  <a:srgbClr val="8FA7C4"/>
                </a:solidFill>
                <a:latin typeface="Amazon Ember"/>
              </a:rPr>
              <a:t>1</a:t>
            </a:r>
          </a:p>
        </p:txBody>
      </p:sp>
      <p:sp>
        <p:nvSpPr>
          <p:cNvPr id="4" name="TextBox 3"/>
          <p:cNvSpPr txBox="1"/>
          <p:nvPr/>
        </p:nvSpPr>
        <p:spPr>
          <a:xfrm>
            <a:off x="1371600" y="1428750"/>
            <a:ext cx="9525000" cy="412750"/>
          </a:xfrm>
          <a:prstGeom prst="rect">
            <a:avLst/>
          </a:prstGeom>
          <a:noFill/>
          <a:ln>
            <a:noFill/>
          </a:ln>
        </p:spPr>
        <p:txBody>
          <a:bodyPr wrap="square" tIns="0">
            <a:noAutofit/>
          </a:bodyPr>
          <a:lstStyle/>
          <a:p>
            <a:pPr algn="l"/>
            <a:r>
              <a:rPr sz="2800" b="1">
                <a:solidFill>
                  <a:srgbClr val="8FA7C4"/>
                </a:solidFill>
                <a:latin typeface="Amazon Ember"/>
              </a:rPr>
              <a:t>Topic A</a:t>
            </a:r>
          </a:p>
        </p:txBody>
      </p:sp>
      <p:sp>
        <p:nvSpPr>
          <p:cNvPr id="5" name="Rectangle 4"/>
          <p:cNvSpPr/>
          <p:nvPr/>
        </p:nvSpPr>
        <p:spPr>
          <a:xfrm>
            <a:off x="609600" y="2159000"/>
            <a:ext cx="10972800" cy="762000"/>
          </a:xfrm>
          <a:prstGeom prst="rect">
            <a:avLst/>
          </a:prstGeom>
          <a:solidFill>
            <a:srgbClr val="FFFFFF">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609600" y="2159000"/>
            <a:ext cx="0" cy="762000"/>
          </a:xfrm>
          <a:prstGeom prst="line">
            <a:avLst/>
          </a:prstGeom>
          <a:ln w="50800">
            <a:solidFill>
              <a:srgbClr val="FF990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00100" y="2362200"/>
            <a:ext cx="355600" cy="355600"/>
          </a:xfrm>
          <a:prstGeom prst="ellipse">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200" b="1">
                <a:solidFill>
                  <a:srgbClr val="FFFFFF"/>
                </a:solidFill>
                <a:latin typeface="Amazon Ember"/>
              </a:rPr>
              <a:t>2</a:t>
            </a:r>
          </a:p>
        </p:txBody>
      </p:sp>
      <p:sp>
        <p:nvSpPr>
          <p:cNvPr id="8" name="TextBox 7"/>
          <p:cNvSpPr txBox="1"/>
          <p:nvPr/>
        </p:nvSpPr>
        <p:spPr>
          <a:xfrm>
            <a:off x="1371600" y="2317750"/>
            <a:ext cx="9525000" cy="412750"/>
          </a:xfrm>
          <a:prstGeom prst="rect">
            <a:avLst/>
          </a:prstGeom>
          <a:noFill/>
          <a:ln>
            <a:noFill/>
          </a:ln>
        </p:spPr>
        <p:txBody>
          <a:bodyPr wrap="square" tIns="0">
            <a:noAutofit/>
          </a:bodyPr>
          <a:lstStyle/>
          <a:p>
            <a:pPr algn="l"/>
            <a:r>
              <a:rPr sz="2800" b="1">
                <a:solidFill>
                  <a:srgbClr val="FFFFFF"/>
                </a:solidFill>
                <a:latin typeface="Amazon Ember"/>
              </a:rPr>
              <a:t>Topic B</a:t>
            </a:r>
          </a:p>
        </p:txBody>
      </p:sp>
      <p:sp>
        <p:nvSpPr>
          <p:cNvPr id="9" name="Oval 8"/>
          <p:cNvSpPr/>
          <p:nvPr/>
        </p:nvSpPr>
        <p:spPr>
          <a:xfrm>
            <a:off x="800100" y="3251200"/>
            <a:ext cx="355600" cy="355600"/>
          </a:xfrm>
          <a:prstGeom prst="ellipse">
            <a:avLst/>
          </a:prstGeom>
          <a:noFill/>
          <a:ln w="19050">
            <a:solidFill>
              <a:srgbClr val="8FA7C4"/>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200" b="1">
                <a:solidFill>
                  <a:srgbClr val="8FA7C4"/>
                </a:solidFill>
                <a:latin typeface="Amazon Ember"/>
              </a:rPr>
              <a:t>3</a:t>
            </a:r>
          </a:p>
        </p:txBody>
      </p:sp>
      <p:sp>
        <p:nvSpPr>
          <p:cNvPr id="10" name="TextBox 9"/>
          <p:cNvSpPr txBox="1"/>
          <p:nvPr/>
        </p:nvSpPr>
        <p:spPr>
          <a:xfrm>
            <a:off x="1371600" y="3206750"/>
            <a:ext cx="9525000" cy="412750"/>
          </a:xfrm>
          <a:prstGeom prst="rect">
            <a:avLst/>
          </a:prstGeom>
          <a:noFill/>
          <a:ln>
            <a:noFill/>
          </a:ln>
        </p:spPr>
        <p:txBody>
          <a:bodyPr wrap="square" tIns="0">
            <a:noAutofit/>
          </a:bodyPr>
          <a:lstStyle/>
          <a:p>
            <a:pPr algn="l"/>
            <a:r>
              <a:rPr sz="2800" b="1">
                <a:solidFill>
                  <a:srgbClr val="8FA7C4"/>
                </a:solidFill>
                <a:latin typeface="Amazon Ember"/>
              </a:rPr>
              <a:t>Topic C</a:t>
            </a:r>
          </a:p>
        </p:txBody>
      </p:sp>
      <p:sp>
        <p:nvSpPr>
          <p:cNvPr id="11" name="Oval 10"/>
          <p:cNvSpPr/>
          <p:nvPr/>
        </p:nvSpPr>
        <p:spPr>
          <a:xfrm>
            <a:off x="800100" y="4140200"/>
            <a:ext cx="355600" cy="355600"/>
          </a:xfrm>
          <a:prstGeom prst="ellipse">
            <a:avLst/>
          </a:prstGeom>
          <a:noFill/>
          <a:ln w="19050">
            <a:solidFill>
              <a:srgbClr val="8FA7C4"/>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200" b="1">
                <a:solidFill>
                  <a:srgbClr val="8FA7C4"/>
                </a:solidFill>
                <a:latin typeface="Amazon Ember"/>
              </a:rPr>
              <a:t>4</a:t>
            </a:r>
          </a:p>
        </p:txBody>
      </p:sp>
      <p:sp>
        <p:nvSpPr>
          <p:cNvPr id="12" name="TextBox 11"/>
          <p:cNvSpPr txBox="1"/>
          <p:nvPr/>
        </p:nvSpPr>
        <p:spPr>
          <a:xfrm>
            <a:off x="1371600" y="4095750"/>
            <a:ext cx="9525000" cy="412750"/>
          </a:xfrm>
          <a:prstGeom prst="rect">
            <a:avLst/>
          </a:prstGeom>
          <a:noFill/>
          <a:ln>
            <a:noFill/>
          </a:ln>
        </p:spPr>
        <p:txBody>
          <a:bodyPr wrap="square" tIns="0">
            <a:noAutofit/>
          </a:bodyPr>
          <a:lstStyle/>
          <a:p>
            <a:pPr algn="l"/>
            <a:r>
              <a:rPr sz="2800" b="1">
                <a:solidFill>
                  <a:srgbClr val="8FA7C4"/>
                </a:solidFill>
                <a:latin typeface="Amazon Ember"/>
              </a:rPr>
              <a:t>Topic D</a:t>
            </a:r>
          </a:p>
        </p:txBody>
      </p:sp>
      <p:sp>
        <p:nvSpPr>
          <p:cNvPr id="13" name="Oval 12"/>
          <p:cNvSpPr/>
          <p:nvPr/>
        </p:nvSpPr>
        <p:spPr>
          <a:xfrm>
            <a:off x="800100" y="5029200"/>
            <a:ext cx="355600" cy="355600"/>
          </a:xfrm>
          <a:prstGeom prst="ellipse">
            <a:avLst/>
          </a:prstGeom>
          <a:noFill/>
          <a:ln w="19050">
            <a:solidFill>
              <a:srgbClr val="8FA7C4"/>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200" b="1">
                <a:solidFill>
                  <a:srgbClr val="8FA7C4"/>
                </a:solidFill>
                <a:latin typeface="Amazon Ember"/>
              </a:rPr>
              <a:t>5</a:t>
            </a:r>
          </a:p>
        </p:txBody>
      </p:sp>
      <p:sp>
        <p:nvSpPr>
          <p:cNvPr id="14" name="TextBox 13"/>
          <p:cNvSpPr txBox="1"/>
          <p:nvPr/>
        </p:nvSpPr>
        <p:spPr>
          <a:xfrm>
            <a:off x="1371600" y="4984750"/>
            <a:ext cx="9525000" cy="412750"/>
          </a:xfrm>
          <a:prstGeom prst="rect">
            <a:avLst/>
          </a:prstGeom>
          <a:noFill/>
          <a:ln>
            <a:noFill/>
          </a:ln>
        </p:spPr>
        <p:txBody>
          <a:bodyPr wrap="square" tIns="0">
            <a:noAutofit/>
          </a:bodyPr>
          <a:lstStyle/>
          <a:p>
            <a:pPr algn="l"/>
            <a:r>
              <a:rPr sz="2800" b="1">
                <a:solidFill>
                  <a:srgbClr val="8FA7C4"/>
                </a:solidFill>
                <a:latin typeface="Amazon Ember"/>
              </a:rPr>
              <a:t>Topic 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1270000"/>
            <a:ext cx="3486150" cy="4445000"/>
          </a:xfrm>
          <a:prstGeom prst="roundRect">
            <a:avLst>
              <a:gd name="adj" fmla="val 5000"/>
            </a:avLst>
          </a:prstGeom>
          <a:solidFill>
            <a:srgbClr val="FFFFFF">
              <a:alpha val="8000"/>
            </a:srgbClr>
          </a:solidFill>
          <a:ln w="19050">
            <a:solidFill>
              <a:srgbClr val="8FA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3600" y="1524000"/>
            <a:ext cx="2978150" cy="444500"/>
          </a:xfrm>
          <a:prstGeom prst="rect">
            <a:avLst/>
          </a:prstGeom>
          <a:noFill/>
          <a:ln>
            <a:noFill/>
          </a:ln>
        </p:spPr>
        <p:txBody>
          <a:bodyPr wrap="square" tIns="0">
            <a:noAutofit/>
          </a:bodyPr>
          <a:lstStyle/>
          <a:p>
            <a:pPr algn="l"/>
            <a:r>
              <a:rPr sz="2400" b="1">
                <a:solidFill>
                  <a:srgbClr val="FFFFFF"/>
                </a:solidFill>
                <a:latin typeface="Amazon Ember"/>
              </a:rPr>
              <a:t>Phase 1</a:t>
            </a:r>
          </a:p>
        </p:txBody>
      </p:sp>
      <p:sp>
        <p:nvSpPr>
          <p:cNvPr id="4" name="TextBox 3"/>
          <p:cNvSpPr txBox="1"/>
          <p:nvPr/>
        </p:nvSpPr>
        <p:spPr>
          <a:xfrm>
            <a:off x="863600" y="2032000"/>
            <a:ext cx="2978150" cy="635000"/>
          </a:xfrm>
          <a:prstGeom prst="rect">
            <a:avLst/>
          </a:prstGeom>
          <a:noFill/>
          <a:ln>
            <a:noFill/>
          </a:ln>
        </p:spPr>
        <p:txBody>
          <a:bodyPr wrap="square" tIns="0">
            <a:noAutofit/>
          </a:bodyPr>
          <a:lstStyle/>
          <a:p>
            <a:pPr algn="l"/>
            <a:r>
              <a:rPr sz="1400">
                <a:solidFill>
                  <a:srgbClr val="8FA7C4"/>
                </a:solidFill>
                <a:latin typeface="Amazon Ember"/>
              </a:rPr>
              <a:t>Description</a:t>
            </a:r>
          </a:p>
        </p:txBody>
      </p:sp>
      <p:sp>
        <p:nvSpPr>
          <p:cNvPr id="5" name="Rounded Rectangle 4"/>
          <p:cNvSpPr/>
          <p:nvPr/>
        </p:nvSpPr>
        <p:spPr>
          <a:xfrm>
            <a:off x="4349750" y="1270000"/>
            <a:ext cx="3486150" cy="4445000"/>
          </a:xfrm>
          <a:prstGeom prst="roundRect">
            <a:avLst>
              <a:gd name="adj" fmla="val 5000"/>
            </a:avLst>
          </a:prstGeom>
          <a:solidFill>
            <a:srgbClr val="FFFFFF">
              <a:alpha val="8000"/>
            </a:srgbClr>
          </a:solidFill>
          <a:ln w="19050">
            <a:solidFill>
              <a:srgbClr val="8FA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603750" y="1524000"/>
            <a:ext cx="2978150" cy="444500"/>
          </a:xfrm>
          <a:prstGeom prst="rect">
            <a:avLst/>
          </a:prstGeom>
          <a:noFill/>
          <a:ln>
            <a:noFill/>
          </a:ln>
        </p:spPr>
        <p:txBody>
          <a:bodyPr wrap="square" tIns="0">
            <a:noAutofit/>
          </a:bodyPr>
          <a:lstStyle/>
          <a:p>
            <a:pPr algn="l"/>
            <a:r>
              <a:rPr sz="2400" b="1">
                <a:solidFill>
                  <a:srgbClr val="FFFFFF"/>
                </a:solidFill>
                <a:latin typeface="Amazon Ember"/>
              </a:rPr>
              <a:t>Phase 2</a:t>
            </a:r>
          </a:p>
        </p:txBody>
      </p:sp>
      <p:sp>
        <p:nvSpPr>
          <p:cNvPr id="7" name="TextBox 6"/>
          <p:cNvSpPr txBox="1"/>
          <p:nvPr/>
        </p:nvSpPr>
        <p:spPr>
          <a:xfrm>
            <a:off x="4603750" y="2032000"/>
            <a:ext cx="2978150" cy="635000"/>
          </a:xfrm>
          <a:prstGeom prst="rect">
            <a:avLst/>
          </a:prstGeom>
          <a:noFill/>
          <a:ln>
            <a:noFill/>
          </a:ln>
        </p:spPr>
        <p:txBody>
          <a:bodyPr wrap="square" tIns="0">
            <a:noAutofit/>
          </a:bodyPr>
          <a:lstStyle/>
          <a:p>
            <a:pPr algn="l"/>
            <a:r>
              <a:rPr sz="1400">
                <a:solidFill>
                  <a:srgbClr val="8FA7C4"/>
                </a:solidFill>
                <a:latin typeface="Amazon Ember"/>
              </a:rPr>
              <a:t>Description</a:t>
            </a:r>
          </a:p>
        </p:txBody>
      </p:sp>
      <p:sp>
        <p:nvSpPr>
          <p:cNvPr id="8" name="Rounded Rectangle 7"/>
          <p:cNvSpPr/>
          <p:nvPr/>
        </p:nvSpPr>
        <p:spPr>
          <a:xfrm>
            <a:off x="8089900" y="1270000"/>
            <a:ext cx="3492500" cy="4445000"/>
          </a:xfrm>
          <a:prstGeom prst="roundRect">
            <a:avLst>
              <a:gd name="adj" fmla="val 5000"/>
            </a:avLst>
          </a:prstGeom>
          <a:solidFill>
            <a:srgbClr val="FFFFFF">
              <a:alpha val="8000"/>
            </a:srgbClr>
          </a:solidFill>
          <a:ln w="19050">
            <a:solidFill>
              <a:srgbClr val="8FA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43900" y="1524000"/>
            <a:ext cx="2984500" cy="444500"/>
          </a:xfrm>
          <a:prstGeom prst="rect">
            <a:avLst/>
          </a:prstGeom>
          <a:noFill/>
          <a:ln>
            <a:noFill/>
          </a:ln>
        </p:spPr>
        <p:txBody>
          <a:bodyPr wrap="square" tIns="0">
            <a:noAutofit/>
          </a:bodyPr>
          <a:lstStyle/>
          <a:p>
            <a:pPr algn="l"/>
            <a:r>
              <a:rPr sz="2400" b="1">
                <a:solidFill>
                  <a:srgbClr val="FFFFFF"/>
                </a:solidFill>
                <a:latin typeface="Amazon Ember"/>
              </a:rPr>
              <a:t>Phase 3</a:t>
            </a:r>
          </a:p>
        </p:txBody>
      </p:sp>
      <p:sp>
        <p:nvSpPr>
          <p:cNvPr id="10" name="TextBox 9"/>
          <p:cNvSpPr txBox="1"/>
          <p:nvPr/>
        </p:nvSpPr>
        <p:spPr>
          <a:xfrm>
            <a:off x="8343900" y="2032000"/>
            <a:ext cx="2984500" cy="635000"/>
          </a:xfrm>
          <a:prstGeom prst="rect">
            <a:avLst/>
          </a:prstGeom>
          <a:noFill/>
          <a:ln>
            <a:noFill/>
          </a:ln>
        </p:spPr>
        <p:txBody>
          <a:bodyPr wrap="square" tIns="0">
            <a:noAutofit/>
          </a:bodyPr>
          <a:lstStyle/>
          <a:p>
            <a:pPr algn="l"/>
            <a:r>
              <a:rPr sz="1400">
                <a:solidFill>
                  <a:srgbClr val="8FA7C4"/>
                </a:solidFill>
                <a:latin typeface="Amazon Ember"/>
              </a:rPr>
              <a:t>Description</a:t>
            </a:r>
          </a:p>
        </p:txBody>
      </p:sp>
      <p:sp>
        <p:nvSpPr>
          <p:cNvPr id="11" name="Rectangle 10"/>
          <p:cNvSpPr/>
          <p:nvPr/>
        </p:nvSpPr>
        <p:spPr>
          <a:xfrm>
            <a:off x="0" y="0"/>
            <a:ext cx="12192000" cy="6858000"/>
          </a:xfrm>
          <a:prstGeom prst="rect">
            <a:avLst/>
          </a:prstGeom>
          <a:solidFill>
            <a:srgbClr val="000000">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49750" y="1270000"/>
            <a:ext cx="3486150" cy="4445000"/>
          </a:xfrm>
          <a:prstGeom prst="roundRect">
            <a:avLst>
              <a:gd name="adj" fmla="val 5000"/>
            </a:avLst>
          </a:prstGeom>
          <a:solidFill>
            <a:srgbClr val="FFFFFF">
              <a:alpha val="8000"/>
            </a:srgbClr>
          </a:solidFill>
          <a:ln w="254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03750" y="1524000"/>
            <a:ext cx="2978150" cy="444500"/>
          </a:xfrm>
          <a:prstGeom prst="rect">
            <a:avLst/>
          </a:prstGeom>
          <a:noFill/>
          <a:ln>
            <a:noFill/>
          </a:ln>
        </p:spPr>
        <p:txBody>
          <a:bodyPr wrap="square" tIns="0">
            <a:noAutofit/>
          </a:bodyPr>
          <a:lstStyle/>
          <a:p>
            <a:pPr algn="l"/>
            <a:r>
              <a:rPr sz="2400" b="1">
                <a:solidFill>
                  <a:srgbClr val="FFFFFF"/>
                </a:solidFill>
                <a:latin typeface="Amazon Ember"/>
              </a:rPr>
              <a:t>Phase 2</a:t>
            </a:r>
          </a:p>
        </p:txBody>
      </p:sp>
      <p:sp>
        <p:nvSpPr>
          <p:cNvPr id="14" name="TextBox 13"/>
          <p:cNvSpPr txBox="1"/>
          <p:nvPr/>
        </p:nvSpPr>
        <p:spPr>
          <a:xfrm>
            <a:off x="4603750" y="2032000"/>
            <a:ext cx="2978150" cy="635000"/>
          </a:xfrm>
          <a:prstGeom prst="rect">
            <a:avLst/>
          </a:prstGeom>
          <a:noFill/>
          <a:ln>
            <a:noFill/>
          </a:ln>
        </p:spPr>
        <p:txBody>
          <a:bodyPr wrap="square" tIns="0">
            <a:noAutofit/>
          </a:bodyPr>
          <a:lstStyle/>
          <a:p>
            <a:pPr algn="l"/>
            <a:r>
              <a:rPr sz="1400">
                <a:solidFill>
                  <a:srgbClr val="8FA7C4"/>
                </a:solidFill>
                <a:latin typeface="Amazon Ember"/>
              </a:rPr>
              <a:t>Description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089150" y="1460500"/>
            <a:ext cx="571500" cy="571500"/>
          </a:xfrm>
          <a:prstGeom prst="ellipse">
            <a:avLst/>
          </a:prstGeom>
          <a:solidFill>
            <a:srgbClr val="FF9900">
              <a:alpha val="15000"/>
            </a:srgbClr>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3600" y="2159000"/>
            <a:ext cx="3022600" cy="355600"/>
          </a:xfrm>
          <a:prstGeom prst="rect">
            <a:avLst/>
          </a:prstGeom>
          <a:noFill/>
          <a:ln>
            <a:noFill/>
          </a:ln>
        </p:spPr>
        <p:txBody>
          <a:bodyPr wrap="square" tIns="0">
            <a:noAutofit/>
          </a:bodyPr>
          <a:lstStyle/>
          <a:p>
            <a:pPr algn="ctr"/>
            <a:r>
              <a:rPr sz="1800" b="1">
                <a:solidFill>
                  <a:srgbClr val="FFFFFF"/>
                </a:solidFill>
                <a:latin typeface="Amazon Ember"/>
              </a:rPr>
              <a:t>Point 1</a:t>
            </a:r>
          </a:p>
        </p:txBody>
      </p:sp>
      <p:sp>
        <p:nvSpPr>
          <p:cNvPr id="4" name="TextBox 3"/>
          <p:cNvSpPr txBox="1"/>
          <p:nvPr/>
        </p:nvSpPr>
        <p:spPr>
          <a:xfrm>
            <a:off x="863600" y="2540000"/>
            <a:ext cx="3022600" cy="508000"/>
          </a:xfrm>
          <a:prstGeom prst="rect">
            <a:avLst/>
          </a:prstGeom>
          <a:noFill/>
          <a:ln>
            <a:noFill/>
          </a:ln>
        </p:spPr>
        <p:txBody>
          <a:bodyPr wrap="square" tIns="0">
            <a:noAutofit/>
          </a:bodyPr>
          <a:lstStyle/>
          <a:p>
            <a:pPr algn="ctr"/>
            <a:r>
              <a:rPr sz="1300">
                <a:solidFill>
                  <a:srgbClr val="8FA7C4"/>
                </a:solidFill>
                <a:latin typeface="Amazon Ember"/>
              </a:rPr>
              <a:t>Description</a:t>
            </a:r>
          </a:p>
        </p:txBody>
      </p:sp>
      <p:sp>
        <p:nvSpPr>
          <p:cNvPr id="5" name="Oval 4"/>
          <p:cNvSpPr/>
          <p:nvPr/>
        </p:nvSpPr>
        <p:spPr>
          <a:xfrm>
            <a:off x="5810250" y="1460500"/>
            <a:ext cx="571500" cy="571500"/>
          </a:xfrm>
          <a:prstGeom prst="ellipse">
            <a:avLst/>
          </a:prstGeom>
          <a:solidFill>
            <a:srgbClr val="42A5F5">
              <a:alpha val="15000"/>
            </a:srgbClr>
          </a:solidFill>
          <a:ln w="1905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84700" y="2159000"/>
            <a:ext cx="3022600" cy="355600"/>
          </a:xfrm>
          <a:prstGeom prst="rect">
            <a:avLst/>
          </a:prstGeom>
          <a:noFill/>
          <a:ln>
            <a:noFill/>
          </a:ln>
        </p:spPr>
        <p:txBody>
          <a:bodyPr wrap="square" tIns="0">
            <a:noAutofit/>
          </a:bodyPr>
          <a:lstStyle/>
          <a:p>
            <a:pPr algn="ctr"/>
            <a:r>
              <a:rPr sz="1800" b="1">
                <a:solidFill>
                  <a:srgbClr val="FFFFFF"/>
                </a:solidFill>
                <a:latin typeface="Amazon Ember"/>
              </a:rPr>
              <a:t>Point 2</a:t>
            </a:r>
          </a:p>
        </p:txBody>
      </p:sp>
      <p:sp>
        <p:nvSpPr>
          <p:cNvPr id="7" name="TextBox 6"/>
          <p:cNvSpPr txBox="1"/>
          <p:nvPr/>
        </p:nvSpPr>
        <p:spPr>
          <a:xfrm>
            <a:off x="4584700" y="2540000"/>
            <a:ext cx="3022600" cy="508000"/>
          </a:xfrm>
          <a:prstGeom prst="rect">
            <a:avLst/>
          </a:prstGeom>
          <a:noFill/>
          <a:ln>
            <a:noFill/>
          </a:ln>
        </p:spPr>
        <p:txBody>
          <a:bodyPr wrap="square" tIns="0">
            <a:noAutofit/>
          </a:bodyPr>
          <a:lstStyle/>
          <a:p>
            <a:pPr algn="ctr"/>
            <a:r>
              <a:rPr sz="1300">
                <a:solidFill>
                  <a:srgbClr val="8FA7C4"/>
                </a:solidFill>
                <a:latin typeface="Amazon Ember"/>
              </a:rPr>
              <a:t>Description</a:t>
            </a:r>
          </a:p>
        </p:txBody>
      </p:sp>
      <p:sp>
        <p:nvSpPr>
          <p:cNvPr id="8" name="Oval 7"/>
          <p:cNvSpPr/>
          <p:nvPr/>
        </p:nvSpPr>
        <p:spPr>
          <a:xfrm>
            <a:off x="9531350" y="1460500"/>
            <a:ext cx="571500" cy="571500"/>
          </a:xfrm>
          <a:prstGeom prst="ellipse">
            <a:avLst/>
          </a:prstGeom>
          <a:solidFill>
            <a:srgbClr val="AB47BC">
              <a:alpha val="15000"/>
            </a:srgbClr>
          </a:solidFill>
          <a:ln w="19050">
            <a:solidFill>
              <a:srgbClr val="AB47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05800" y="2159000"/>
            <a:ext cx="3022600" cy="355600"/>
          </a:xfrm>
          <a:prstGeom prst="rect">
            <a:avLst/>
          </a:prstGeom>
          <a:noFill/>
          <a:ln>
            <a:noFill/>
          </a:ln>
        </p:spPr>
        <p:txBody>
          <a:bodyPr wrap="square" tIns="0">
            <a:noAutofit/>
          </a:bodyPr>
          <a:lstStyle/>
          <a:p>
            <a:pPr algn="ctr"/>
            <a:r>
              <a:rPr sz="1800" b="1">
                <a:solidFill>
                  <a:srgbClr val="FFFFFF"/>
                </a:solidFill>
                <a:latin typeface="Amazon Ember"/>
              </a:rPr>
              <a:t>Point 3</a:t>
            </a:r>
          </a:p>
        </p:txBody>
      </p:sp>
      <p:sp>
        <p:nvSpPr>
          <p:cNvPr id="10" name="TextBox 9"/>
          <p:cNvSpPr txBox="1"/>
          <p:nvPr/>
        </p:nvSpPr>
        <p:spPr>
          <a:xfrm>
            <a:off x="8305800" y="2540000"/>
            <a:ext cx="3022600" cy="508000"/>
          </a:xfrm>
          <a:prstGeom prst="rect">
            <a:avLst/>
          </a:prstGeom>
          <a:noFill/>
          <a:ln>
            <a:noFill/>
          </a:ln>
        </p:spPr>
        <p:txBody>
          <a:bodyPr wrap="square" tIns="0">
            <a:noAutofit/>
          </a:bodyPr>
          <a:lstStyle/>
          <a:p>
            <a:pPr algn="ctr"/>
            <a:r>
              <a:rPr sz="1300">
                <a:solidFill>
                  <a:srgbClr val="8FA7C4"/>
                </a:solidFill>
                <a:latin typeface="Amazon Ember"/>
              </a:rPr>
              <a:t>Description</a:t>
            </a:r>
          </a:p>
        </p:txBody>
      </p:sp>
      <p:sp>
        <p:nvSpPr>
          <p:cNvPr id="11" name="Oval 10"/>
          <p:cNvSpPr/>
          <p:nvPr/>
        </p:nvSpPr>
        <p:spPr>
          <a:xfrm>
            <a:off x="3949700" y="3778250"/>
            <a:ext cx="571500" cy="571500"/>
          </a:xfrm>
          <a:prstGeom prst="ellipse">
            <a:avLst/>
          </a:prstGeom>
          <a:solidFill>
            <a:srgbClr val="00C853">
              <a:alpha val="15000"/>
            </a:srgbClr>
          </a:solidFill>
          <a:ln w="19050">
            <a:solidFill>
              <a:srgbClr val="00C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24150" y="4476750"/>
            <a:ext cx="3022600" cy="355600"/>
          </a:xfrm>
          <a:prstGeom prst="rect">
            <a:avLst/>
          </a:prstGeom>
          <a:noFill/>
          <a:ln>
            <a:noFill/>
          </a:ln>
        </p:spPr>
        <p:txBody>
          <a:bodyPr wrap="square" tIns="0">
            <a:noAutofit/>
          </a:bodyPr>
          <a:lstStyle/>
          <a:p>
            <a:pPr algn="ctr"/>
            <a:r>
              <a:rPr sz="1800" b="1">
                <a:solidFill>
                  <a:srgbClr val="FFFFFF"/>
                </a:solidFill>
                <a:latin typeface="Amazon Ember"/>
              </a:rPr>
              <a:t>Point 4</a:t>
            </a:r>
          </a:p>
        </p:txBody>
      </p:sp>
      <p:sp>
        <p:nvSpPr>
          <p:cNvPr id="13" name="TextBox 12"/>
          <p:cNvSpPr txBox="1"/>
          <p:nvPr/>
        </p:nvSpPr>
        <p:spPr>
          <a:xfrm>
            <a:off x="2724150" y="4857750"/>
            <a:ext cx="3022600" cy="508000"/>
          </a:xfrm>
          <a:prstGeom prst="rect">
            <a:avLst/>
          </a:prstGeom>
          <a:noFill/>
          <a:ln>
            <a:noFill/>
          </a:ln>
        </p:spPr>
        <p:txBody>
          <a:bodyPr wrap="square" tIns="0">
            <a:noAutofit/>
          </a:bodyPr>
          <a:lstStyle/>
          <a:p>
            <a:pPr algn="ctr"/>
            <a:r>
              <a:rPr sz="1300">
                <a:solidFill>
                  <a:srgbClr val="8FA7C4"/>
                </a:solidFill>
                <a:latin typeface="Amazon Ember"/>
              </a:rPr>
              <a:t>Description</a:t>
            </a:r>
          </a:p>
        </p:txBody>
      </p:sp>
      <p:sp>
        <p:nvSpPr>
          <p:cNvPr id="14" name="Oval 13"/>
          <p:cNvSpPr/>
          <p:nvPr/>
        </p:nvSpPr>
        <p:spPr>
          <a:xfrm>
            <a:off x="7670800" y="3778250"/>
            <a:ext cx="571500" cy="571500"/>
          </a:xfrm>
          <a:prstGeom prst="ellipse">
            <a:avLst/>
          </a:prstGeom>
          <a:solidFill>
            <a:srgbClr val="FF5C85">
              <a:alpha val="15000"/>
            </a:srgbClr>
          </a:solidFill>
          <a:ln w="19050">
            <a:solidFill>
              <a:srgbClr val="FF5C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5250" y="4476750"/>
            <a:ext cx="3022600" cy="355600"/>
          </a:xfrm>
          <a:prstGeom prst="rect">
            <a:avLst/>
          </a:prstGeom>
          <a:noFill/>
          <a:ln>
            <a:noFill/>
          </a:ln>
        </p:spPr>
        <p:txBody>
          <a:bodyPr wrap="square" tIns="0">
            <a:noAutofit/>
          </a:bodyPr>
          <a:lstStyle/>
          <a:p>
            <a:pPr algn="ctr"/>
            <a:r>
              <a:rPr sz="1800" b="1">
                <a:solidFill>
                  <a:srgbClr val="FFFFFF"/>
                </a:solidFill>
                <a:latin typeface="Amazon Ember"/>
              </a:rPr>
              <a:t>Point 5</a:t>
            </a:r>
          </a:p>
        </p:txBody>
      </p:sp>
      <p:sp>
        <p:nvSpPr>
          <p:cNvPr id="16" name="TextBox 15"/>
          <p:cNvSpPr txBox="1"/>
          <p:nvPr/>
        </p:nvSpPr>
        <p:spPr>
          <a:xfrm>
            <a:off x="6445250" y="4857750"/>
            <a:ext cx="3022600" cy="508000"/>
          </a:xfrm>
          <a:prstGeom prst="rect">
            <a:avLst/>
          </a:prstGeom>
          <a:noFill/>
          <a:ln>
            <a:noFill/>
          </a:ln>
        </p:spPr>
        <p:txBody>
          <a:bodyPr wrap="square" tIns="0">
            <a:noAutofit/>
          </a:bodyPr>
          <a:lstStyle/>
          <a:p>
            <a:pPr algn="ctr"/>
            <a:r>
              <a:rPr sz="1300">
                <a:solidFill>
                  <a:srgbClr val="8FA7C4"/>
                </a:solidFill>
                <a:latin typeface="Amazon Ember"/>
              </a:rPr>
              <a:t>Description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2159000"/>
            <a:ext cx="5080000" cy="317500"/>
          </a:xfrm>
          <a:prstGeom prst="rect">
            <a:avLst/>
          </a:prstGeom>
          <a:noFill/>
          <a:ln>
            <a:noFill/>
          </a:ln>
        </p:spPr>
        <p:txBody>
          <a:bodyPr wrap="square" tIns="0">
            <a:noAutofit/>
          </a:bodyPr>
          <a:lstStyle/>
          <a:p>
            <a:pPr algn="l"/>
            <a:r>
              <a:rPr sz="1600">
                <a:solidFill>
                  <a:srgbClr val="FF9900"/>
                </a:solidFill>
                <a:latin typeface="Amazon Ember"/>
              </a:rPr>
              <a:t>Introducing</a:t>
            </a:r>
          </a:p>
        </p:txBody>
      </p:sp>
      <p:sp>
        <p:nvSpPr>
          <p:cNvPr id="3" name="TextBox 2"/>
          <p:cNvSpPr txBox="1"/>
          <p:nvPr/>
        </p:nvSpPr>
        <p:spPr>
          <a:xfrm>
            <a:off x="609600" y="2476500"/>
            <a:ext cx="7620000" cy="2222500"/>
          </a:xfrm>
          <a:prstGeom prst="rect">
            <a:avLst/>
          </a:prstGeom>
          <a:noFill/>
          <a:ln>
            <a:noFill/>
          </a:ln>
        </p:spPr>
        <p:txBody>
          <a:bodyPr wrap="square" tIns="0">
            <a:noAutofit/>
          </a:bodyPr>
          <a:lstStyle/>
          <a:p>
            <a:pPr algn="l"/>
            <a:r>
              <a:rPr sz="6400" b="1">
                <a:solidFill>
                  <a:srgbClr val="FFFFFF"/>
                </a:solidFill>
                <a:latin typeface="Amazon Ember"/>
              </a:rPr>
              <a:t>The Next</a:t>
            </a:r>
          </a:p>
          <a:p>
            <a:pPr algn="l"/>
            <a:r>
              <a:rPr sz="6400" b="1">
                <a:solidFill>
                  <a:srgbClr val="FF9900"/>
                </a:solidFill>
                <a:latin typeface="Amazon Ember"/>
              </a:rPr>
              <a:t>Big Thing</a:t>
            </a:r>
          </a:p>
        </p:txBody>
      </p:sp>
      <p:sp>
        <p:nvSpPr>
          <p:cNvPr id="4" name="TextBox 3"/>
          <p:cNvSpPr txBox="1"/>
          <p:nvPr/>
        </p:nvSpPr>
        <p:spPr>
          <a:xfrm>
            <a:off x="609600" y="4762500"/>
            <a:ext cx="5080000" cy="381000"/>
          </a:xfrm>
          <a:prstGeom prst="rect">
            <a:avLst/>
          </a:prstGeom>
          <a:noFill/>
          <a:ln>
            <a:noFill/>
          </a:ln>
        </p:spPr>
        <p:txBody>
          <a:bodyPr wrap="square" tIns="0">
            <a:noAutofit/>
          </a:bodyPr>
          <a:lstStyle/>
          <a:p>
            <a:pPr algn="l"/>
            <a:r>
              <a:rPr sz="1600">
                <a:solidFill>
                  <a:srgbClr val="8FA7C4"/>
                </a:solidFill>
                <a:latin typeface="Amazon Ember"/>
              </a:rPr>
              <a:t>A short description that supports the title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622550" y="1460500"/>
            <a:ext cx="1270000" cy="1270000"/>
          </a:xfrm>
          <a:prstGeom prst="ellipse">
            <a:avLst/>
          </a:prstGeom>
          <a:solidFill>
            <a:srgbClr val="161E2C"/>
          </a:solidFill>
          <a:ln w="31750" cap="flat">
            <a:gradFill rotWithShape="1">
              <a:gsLst>
                <a:gs pos="0">
                  <a:srgbClr val="FF9900"/>
                </a:gs>
                <a:gs pos="100000">
                  <a:srgbClr val="FBD332"/>
                </a:gs>
              </a:gsLst>
              <a:lin ang="135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984500"/>
            <a:ext cx="5295900" cy="508000"/>
          </a:xfrm>
          <a:prstGeom prst="rect">
            <a:avLst/>
          </a:prstGeom>
          <a:noFill/>
          <a:ln>
            <a:noFill/>
          </a:ln>
        </p:spPr>
        <p:txBody>
          <a:bodyPr wrap="square" tIns="0">
            <a:noAutofit/>
          </a:bodyPr>
          <a:lstStyle/>
          <a:p>
            <a:pPr algn="ctr"/>
            <a:r>
              <a:rPr sz="3200" b="1">
                <a:solidFill>
                  <a:srgbClr val="FFFFFF"/>
                </a:solidFill>
                <a:latin typeface="Amazon Ember"/>
              </a:rPr>
              <a:t>Title</a:t>
            </a:r>
          </a:p>
        </p:txBody>
      </p:sp>
      <p:sp>
        <p:nvSpPr>
          <p:cNvPr id="4" name="TextBox 3"/>
          <p:cNvSpPr txBox="1"/>
          <p:nvPr/>
        </p:nvSpPr>
        <p:spPr>
          <a:xfrm>
            <a:off x="927100" y="3524250"/>
            <a:ext cx="4660900" cy="508000"/>
          </a:xfrm>
          <a:prstGeom prst="rect">
            <a:avLst/>
          </a:prstGeom>
          <a:noFill/>
          <a:ln>
            <a:noFill/>
          </a:ln>
        </p:spPr>
        <p:txBody>
          <a:bodyPr wrap="square" tIns="0">
            <a:noAutofit/>
          </a:bodyPr>
          <a:lstStyle/>
          <a:p>
            <a:pPr algn="ctr"/>
            <a:r>
              <a:rPr sz="1400">
                <a:solidFill>
                  <a:srgbClr val="8FA7C4"/>
                </a:solidFill>
                <a:latin typeface="Amazon Ember"/>
              </a:rPr>
              <a:t>A brief description of the service and its core value proposition</a:t>
            </a:r>
          </a:p>
        </p:txBody>
      </p:sp>
      <p:cxnSp>
        <p:nvCxnSpPr>
          <p:cNvPr id="5" name="Connector 4"/>
          <p:cNvCxnSpPr/>
          <p:nvPr/>
        </p:nvCxnSpPr>
        <p:spPr>
          <a:xfrm>
            <a:off x="6286500" y="1460500"/>
            <a:ext cx="0" cy="3810000"/>
          </a:xfrm>
          <a:prstGeom prst="line">
            <a:avLst/>
          </a:prstGeom>
          <a:ln w="25400">
            <a:gradFill rotWithShape="1">
              <a:gsLst>
                <a:gs pos="0">
                  <a:srgbClr val="FF9900"/>
                </a:gs>
                <a:gs pos="50000">
                  <a:srgbClr val="AB47BC"/>
                </a:gs>
                <a:gs pos="100000">
                  <a:srgbClr val="42A5F5"/>
                </a:gs>
              </a:gsLst>
              <a:lin ang="5400000" scaled="1"/>
            </a:gra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6223000" y="1714500"/>
            <a:ext cx="133350" cy="133350"/>
          </a:xfrm>
          <a:prstGeom prst="ellipse">
            <a:avLst/>
          </a:prstGeom>
          <a:solidFill>
            <a:srgbClr val="FF9900"/>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7000" y="1619250"/>
            <a:ext cx="4762500" cy="355600"/>
          </a:xfrm>
          <a:prstGeom prst="rect">
            <a:avLst/>
          </a:prstGeom>
          <a:noFill/>
          <a:ln>
            <a:noFill/>
          </a:ln>
        </p:spPr>
        <p:txBody>
          <a:bodyPr wrap="square" tIns="0">
            <a:noAutofit/>
          </a:bodyPr>
          <a:lstStyle/>
          <a:p>
            <a:pPr algn="l"/>
            <a:r>
              <a:rPr sz="1800" b="1">
                <a:solidFill>
                  <a:srgbClr val="FFFFFF"/>
                </a:solidFill>
                <a:latin typeface="Amazon Ember"/>
              </a:rPr>
              <a:t>Feature 1</a:t>
            </a:r>
          </a:p>
        </p:txBody>
      </p:sp>
      <p:sp>
        <p:nvSpPr>
          <p:cNvPr id="8" name="TextBox 7"/>
          <p:cNvSpPr txBox="1"/>
          <p:nvPr/>
        </p:nvSpPr>
        <p:spPr>
          <a:xfrm>
            <a:off x="6477000" y="1936750"/>
            <a:ext cx="4762500" cy="285750"/>
          </a:xfrm>
          <a:prstGeom prst="rect">
            <a:avLst/>
          </a:prstGeom>
          <a:noFill/>
          <a:ln>
            <a:noFill/>
          </a:ln>
        </p:spPr>
        <p:txBody>
          <a:bodyPr wrap="square" tIns="0">
            <a:noAutofit/>
          </a:bodyPr>
          <a:lstStyle/>
          <a:p>
            <a:pPr algn="l"/>
            <a:r>
              <a:rPr sz="1300">
                <a:solidFill>
                  <a:srgbClr val="8FA7C4"/>
                </a:solidFill>
                <a:latin typeface="Amazon Ember"/>
              </a:rPr>
              <a:t>Description</a:t>
            </a:r>
          </a:p>
        </p:txBody>
      </p:sp>
      <p:sp>
        <p:nvSpPr>
          <p:cNvPr id="9" name="Oval 8"/>
          <p:cNvSpPr/>
          <p:nvPr/>
        </p:nvSpPr>
        <p:spPr>
          <a:xfrm>
            <a:off x="6223000" y="2667000"/>
            <a:ext cx="133350" cy="133350"/>
          </a:xfrm>
          <a:prstGeom prst="ellipse">
            <a:avLst/>
          </a:prstGeom>
          <a:solidFill>
            <a:srgbClr val="AB47BC"/>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77000" y="2571750"/>
            <a:ext cx="4762500" cy="355600"/>
          </a:xfrm>
          <a:prstGeom prst="rect">
            <a:avLst/>
          </a:prstGeom>
          <a:noFill/>
          <a:ln>
            <a:noFill/>
          </a:ln>
        </p:spPr>
        <p:txBody>
          <a:bodyPr wrap="square" tIns="0">
            <a:noAutofit/>
          </a:bodyPr>
          <a:lstStyle/>
          <a:p>
            <a:pPr algn="l"/>
            <a:r>
              <a:rPr sz="1800" b="1">
                <a:solidFill>
                  <a:srgbClr val="FFFFFF"/>
                </a:solidFill>
                <a:latin typeface="Amazon Ember"/>
              </a:rPr>
              <a:t>Feature 2</a:t>
            </a:r>
          </a:p>
        </p:txBody>
      </p:sp>
      <p:sp>
        <p:nvSpPr>
          <p:cNvPr id="11" name="TextBox 10"/>
          <p:cNvSpPr txBox="1"/>
          <p:nvPr/>
        </p:nvSpPr>
        <p:spPr>
          <a:xfrm>
            <a:off x="6477000" y="2889250"/>
            <a:ext cx="4762500" cy="285750"/>
          </a:xfrm>
          <a:prstGeom prst="rect">
            <a:avLst/>
          </a:prstGeom>
          <a:noFill/>
          <a:ln>
            <a:noFill/>
          </a:ln>
        </p:spPr>
        <p:txBody>
          <a:bodyPr wrap="square" tIns="0">
            <a:noAutofit/>
          </a:bodyPr>
          <a:lstStyle/>
          <a:p>
            <a:pPr algn="l"/>
            <a:r>
              <a:rPr sz="1300">
                <a:solidFill>
                  <a:srgbClr val="8FA7C4"/>
                </a:solidFill>
                <a:latin typeface="Amazon Ember"/>
              </a:rPr>
              <a:t>Description</a:t>
            </a:r>
          </a:p>
        </p:txBody>
      </p:sp>
      <p:sp>
        <p:nvSpPr>
          <p:cNvPr id="12" name="Oval 11"/>
          <p:cNvSpPr/>
          <p:nvPr/>
        </p:nvSpPr>
        <p:spPr>
          <a:xfrm>
            <a:off x="6223000" y="3619500"/>
            <a:ext cx="133350" cy="133350"/>
          </a:xfrm>
          <a:prstGeom prst="ellipse">
            <a:avLst/>
          </a:prstGeom>
          <a:solidFill>
            <a:srgbClr val="42A5F5"/>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77000" y="3524250"/>
            <a:ext cx="4762500" cy="355600"/>
          </a:xfrm>
          <a:prstGeom prst="rect">
            <a:avLst/>
          </a:prstGeom>
          <a:noFill/>
          <a:ln>
            <a:noFill/>
          </a:ln>
        </p:spPr>
        <p:txBody>
          <a:bodyPr wrap="square" tIns="0">
            <a:noAutofit/>
          </a:bodyPr>
          <a:lstStyle/>
          <a:p>
            <a:pPr algn="l"/>
            <a:r>
              <a:rPr sz="1800" b="1">
                <a:solidFill>
                  <a:srgbClr val="FFFFFF"/>
                </a:solidFill>
                <a:latin typeface="Amazon Ember"/>
              </a:rPr>
              <a:t>Feature 3</a:t>
            </a:r>
          </a:p>
        </p:txBody>
      </p:sp>
      <p:sp>
        <p:nvSpPr>
          <p:cNvPr id="14" name="TextBox 13"/>
          <p:cNvSpPr txBox="1"/>
          <p:nvPr/>
        </p:nvSpPr>
        <p:spPr>
          <a:xfrm>
            <a:off x="6477000" y="3841750"/>
            <a:ext cx="4762500" cy="285750"/>
          </a:xfrm>
          <a:prstGeom prst="rect">
            <a:avLst/>
          </a:prstGeom>
          <a:noFill/>
          <a:ln>
            <a:noFill/>
          </a:ln>
        </p:spPr>
        <p:txBody>
          <a:bodyPr wrap="square" tIns="0">
            <a:noAutofit/>
          </a:bodyPr>
          <a:lstStyle/>
          <a:p>
            <a:pPr algn="l"/>
            <a:r>
              <a:rPr sz="1300">
                <a:solidFill>
                  <a:srgbClr val="8FA7C4"/>
                </a:solidFill>
                <a:latin typeface="Amazon Ember"/>
              </a:rPr>
              <a:t>Description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1270000"/>
            <a:ext cx="2603500" cy="2667000"/>
          </a:xfrm>
          <a:prstGeom prst="roundRect">
            <a:avLst>
              <a:gd name="adj" fmla="val 4000"/>
            </a:avLst>
          </a:prstGeom>
          <a:solidFill>
            <a:srgbClr val="FFFFFF">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09600" y="1270000"/>
            <a:ext cx="2603500" cy="0"/>
          </a:xfrm>
          <a:prstGeom prst="line">
            <a:avLst/>
          </a:prstGeom>
          <a:ln w="38100">
            <a:solidFill>
              <a:srgbClr val="0077E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1460500"/>
            <a:ext cx="2222500" cy="355600"/>
          </a:xfrm>
          <a:prstGeom prst="rect">
            <a:avLst/>
          </a:prstGeom>
          <a:noFill/>
          <a:ln>
            <a:noFill/>
          </a:ln>
        </p:spPr>
        <p:txBody>
          <a:bodyPr wrap="square" tIns="0">
            <a:noAutofit/>
          </a:bodyPr>
          <a:lstStyle/>
          <a:p>
            <a:pPr algn="l"/>
            <a:r>
              <a:rPr sz="2000" b="1">
                <a:solidFill>
                  <a:srgbClr val="FFFFFF"/>
                </a:solidFill>
                <a:latin typeface="Amazon Ember"/>
              </a:rPr>
              <a:t>Option A</a:t>
            </a:r>
          </a:p>
        </p:txBody>
      </p:sp>
      <p:sp>
        <p:nvSpPr>
          <p:cNvPr id="5" name="TextBox 4"/>
          <p:cNvSpPr txBox="1"/>
          <p:nvPr/>
        </p:nvSpPr>
        <p:spPr>
          <a:xfrm>
            <a:off x="800100" y="1905000"/>
            <a:ext cx="2222500" cy="1270000"/>
          </a:xfrm>
          <a:prstGeom prst="rect">
            <a:avLst/>
          </a:prstGeom>
          <a:noFill/>
          <a:ln>
            <a:noFill/>
          </a:ln>
        </p:spPr>
        <p:txBody>
          <a:bodyPr wrap="square" tIns="0">
            <a:noAutofit/>
          </a:bodyPr>
          <a:lstStyle/>
          <a:p>
            <a:pPr algn="l"/>
            <a:r>
              <a:rPr sz="1300">
                <a:solidFill>
                  <a:srgbClr val="8FA7C4"/>
                </a:solidFill>
                <a:latin typeface="Amazon Ember"/>
              </a:rPr>
              <a:t>Description</a:t>
            </a:r>
          </a:p>
        </p:txBody>
      </p:sp>
      <p:sp>
        <p:nvSpPr>
          <p:cNvPr id="6" name="Rounded Rectangle 5"/>
          <p:cNvSpPr/>
          <p:nvPr/>
        </p:nvSpPr>
        <p:spPr>
          <a:xfrm>
            <a:off x="3403600" y="1270000"/>
            <a:ext cx="2603500" cy="2667000"/>
          </a:xfrm>
          <a:prstGeom prst="roundRect">
            <a:avLst>
              <a:gd name="adj" fmla="val 4000"/>
            </a:avLst>
          </a:prstGeom>
          <a:solidFill>
            <a:srgbClr val="FFFFFF">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3403600" y="1270000"/>
            <a:ext cx="2603500" cy="0"/>
          </a:xfrm>
          <a:prstGeom prst="line">
            <a:avLst/>
          </a:prstGeom>
          <a:ln w="38100">
            <a:solidFill>
              <a:srgbClr val="00E5E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594100" y="1460500"/>
            <a:ext cx="2222500" cy="355600"/>
          </a:xfrm>
          <a:prstGeom prst="rect">
            <a:avLst/>
          </a:prstGeom>
          <a:noFill/>
          <a:ln>
            <a:noFill/>
          </a:ln>
        </p:spPr>
        <p:txBody>
          <a:bodyPr wrap="square" tIns="0">
            <a:noAutofit/>
          </a:bodyPr>
          <a:lstStyle/>
          <a:p>
            <a:pPr algn="l"/>
            <a:r>
              <a:rPr sz="2000" b="1">
                <a:solidFill>
                  <a:srgbClr val="FFFFFF"/>
                </a:solidFill>
                <a:latin typeface="Amazon Ember"/>
              </a:rPr>
              <a:t>Option B</a:t>
            </a:r>
          </a:p>
        </p:txBody>
      </p:sp>
      <p:sp>
        <p:nvSpPr>
          <p:cNvPr id="9" name="TextBox 8"/>
          <p:cNvSpPr txBox="1"/>
          <p:nvPr/>
        </p:nvSpPr>
        <p:spPr>
          <a:xfrm>
            <a:off x="3594100" y="1905000"/>
            <a:ext cx="2222500" cy="1270000"/>
          </a:xfrm>
          <a:prstGeom prst="rect">
            <a:avLst/>
          </a:prstGeom>
          <a:noFill/>
          <a:ln>
            <a:noFill/>
          </a:ln>
        </p:spPr>
        <p:txBody>
          <a:bodyPr wrap="square" tIns="0">
            <a:noAutofit/>
          </a:bodyPr>
          <a:lstStyle/>
          <a:p>
            <a:pPr algn="l"/>
            <a:r>
              <a:rPr sz="1300">
                <a:solidFill>
                  <a:srgbClr val="8FA7C4"/>
                </a:solidFill>
                <a:latin typeface="Amazon Ember"/>
              </a:rPr>
              <a:t>Description</a:t>
            </a:r>
          </a:p>
        </p:txBody>
      </p:sp>
      <p:sp>
        <p:nvSpPr>
          <p:cNvPr id="10" name="Rounded Rectangle 9"/>
          <p:cNvSpPr/>
          <p:nvPr/>
        </p:nvSpPr>
        <p:spPr>
          <a:xfrm>
            <a:off x="6197600" y="1270000"/>
            <a:ext cx="2603500" cy="2667000"/>
          </a:xfrm>
          <a:prstGeom prst="roundRect">
            <a:avLst>
              <a:gd name="adj" fmla="val 4000"/>
            </a:avLst>
          </a:prstGeom>
          <a:solidFill>
            <a:srgbClr val="FFFFFF">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6197600" y="1270000"/>
            <a:ext cx="2603500" cy="0"/>
          </a:xfrm>
          <a:prstGeom prst="line">
            <a:avLst/>
          </a:prstGeom>
          <a:ln w="38100">
            <a:solidFill>
              <a:srgbClr val="00E56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388100" y="1460500"/>
            <a:ext cx="2222500" cy="355600"/>
          </a:xfrm>
          <a:prstGeom prst="rect">
            <a:avLst/>
          </a:prstGeom>
          <a:noFill/>
          <a:ln>
            <a:noFill/>
          </a:ln>
        </p:spPr>
        <p:txBody>
          <a:bodyPr wrap="square" tIns="0">
            <a:noAutofit/>
          </a:bodyPr>
          <a:lstStyle/>
          <a:p>
            <a:pPr algn="l"/>
            <a:r>
              <a:rPr sz="2000" b="1">
                <a:solidFill>
                  <a:srgbClr val="FFFFFF"/>
                </a:solidFill>
                <a:latin typeface="Amazon Ember"/>
              </a:rPr>
              <a:t>Option C</a:t>
            </a:r>
          </a:p>
        </p:txBody>
      </p:sp>
      <p:sp>
        <p:nvSpPr>
          <p:cNvPr id="13" name="TextBox 12"/>
          <p:cNvSpPr txBox="1"/>
          <p:nvPr/>
        </p:nvSpPr>
        <p:spPr>
          <a:xfrm>
            <a:off x="6388100" y="1905000"/>
            <a:ext cx="2222500" cy="1270000"/>
          </a:xfrm>
          <a:prstGeom prst="rect">
            <a:avLst/>
          </a:prstGeom>
          <a:noFill/>
          <a:ln>
            <a:noFill/>
          </a:ln>
        </p:spPr>
        <p:txBody>
          <a:bodyPr wrap="square" tIns="0">
            <a:noAutofit/>
          </a:bodyPr>
          <a:lstStyle/>
          <a:p>
            <a:pPr algn="l"/>
            <a:r>
              <a:rPr sz="1300">
                <a:solidFill>
                  <a:srgbClr val="8FA7C4"/>
                </a:solidFill>
                <a:latin typeface="Amazon Ember"/>
              </a:rPr>
              <a:t>Description</a:t>
            </a:r>
          </a:p>
        </p:txBody>
      </p:sp>
      <p:sp>
        <p:nvSpPr>
          <p:cNvPr id="14" name="Rounded Rectangle 13"/>
          <p:cNvSpPr/>
          <p:nvPr/>
        </p:nvSpPr>
        <p:spPr>
          <a:xfrm>
            <a:off x="8991600" y="1270000"/>
            <a:ext cx="2590800" cy="2667000"/>
          </a:xfrm>
          <a:prstGeom prst="roundRect">
            <a:avLst>
              <a:gd name="adj" fmla="val 4000"/>
            </a:avLst>
          </a:prstGeom>
          <a:solidFill>
            <a:srgbClr val="FFFFFF">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8991600" y="1270000"/>
            <a:ext cx="2590800" cy="0"/>
          </a:xfrm>
          <a:prstGeom prst="line">
            <a:avLst/>
          </a:prstGeom>
          <a:ln w="38100">
            <a:solidFill>
              <a:srgbClr val="04E5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182100" y="1460500"/>
            <a:ext cx="2209800" cy="355600"/>
          </a:xfrm>
          <a:prstGeom prst="rect">
            <a:avLst/>
          </a:prstGeom>
          <a:noFill/>
          <a:ln>
            <a:noFill/>
          </a:ln>
        </p:spPr>
        <p:txBody>
          <a:bodyPr wrap="square" tIns="0">
            <a:noAutofit/>
          </a:bodyPr>
          <a:lstStyle/>
          <a:p>
            <a:pPr algn="l"/>
            <a:r>
              <a:rPr sz="2000" b="1">
                <a:solidFill>
                  <a:srgbClr val="FFFFFF"/>
                </a:solidFill>
                <a:latin typeface="Amazon Ember"/>
              </a:rPr>
              <a:t>Option D</a:t>
            </a:r>
          </a:p>
        </p:txBody>
      </p:sp>
      <p:sp>
        <p:nvSpPr>
          <p:cNvPr id="17" name="TextBox 16"/>
          <p:cNvSpPr txBox="1"/>
          <p:nvPr/>
        </p:nvSpPr>
        <p:spPr>
          <a:xfrm>
            <a:off x="9182100" y="1905000"/>
            <a:ext cx="2209800" cy="1270000"/>
          </a:xfrm>
          <a:prstGeom prst="rect">
            <a:avLst/>
          </a:prstGeom>
          <a:noFill/>
          <a:ln>
            <a:noFill/>
          </a:ln>
        </p:spPr>
        <p:txBody>
          <a:bodyPr wrap="square" tIns="0">
            <a:noAutofit/>
          </a:bodyPr>
          <a:lstStyle/>
          <a:p>
            <a:pPr algn="l"/>
            <a:r>
              <a:rPr sz="1300">
                <a:solidFill>
                  <a:srgbClr val="8FA7C4"/>
                </a:solidFill>
                <a:latin typeface="Amazon Ember"/>
              </a:rPr>
              <a:t>Description</a:t>
            </a:r>
          </a:p>
        </p:txBody>
      </p:sp>
      <p:sp>
        <p:nvSpPr>
          <p:cNvPr id="18" name="TextBox 17"/>
          <p:cNvSpPr txBox="1"/>
          <p:nvPr/>
        </p:nvSpPr>
        <p:spPr>
          <a:xfrm>
            <a:off x="609600" y="4191000"/>
            <a:ext cx="1708150" cy="336550"/>
          </a:xfrm>
          <a:prstGeom prst="rect">
            <a:avLst/>
          </a:prstGeom>
          <a:noFill/>
          <a:ln>
            <a:noFill/>
          </a:ln>
        </p:spPr>
        <p:txBody>
          <a:bodyPr wrap="square">
            <a:noAutofit/>
          </a:bodyPr>
          <a:lstStyle/>
          <a:p>
            <a:pPr algn="ctr"/>
            <a:r>
              <a:rPr sz="1400" b="1">
                <a:solidFill>
                  <a:srgbClr val="0077E5"/>
                </a:solidFill>
                <a:latin typeface="Amazon Ember"/>
              </a:rPr>
              <a:t>EASIER</a:t>
            </a:r>
          </a:p>
        </p:txBody>
      </p:sp>
      <p:cxnSp>
        <p:nvCxnSpPr>
          <p:cNvPr id="19" name="Connector 18"/>
          <p:cNvCxnSpPr/>
          <p:nvPr/>
        </p:nvCxnSpPr>
        <p:spPr>
          <a:xfrm>
            <a:off x="2317750" y="4356100"/>
            <a:ext cx="7556500" cy="0"/>
          </a:xfrm>
          <a:prstGeom prst="line">
            <a:avLst/>
          </a:prstGeom>
          <a:ln w="19050">
            <a:gradFill rotWithShape="1">
              <a:gsLst>
                <a:gs pos="0">
                  <a:srgbClr val="0077E5"/>
                </a:gs>
                <a:gs pos="100000">
                  <a:srgbClr val="04E500"/>
                </a:gs>
              </a:gsLst>
              <a:lin ang="0" scaled="1"/>
            </a:gradFill>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874250" y="4191000"/>
            <a:ext cx="1708150" cy="336550"/>
          </a:xfrm>
          <a:prstGeom prst="rect">
            <a:avLst/>
          </a:prstGeom>
          <a:noFill/>
          <a:ln>
            <a:noFill/>
          </a:ln>
        </p:spPr>
        <p:txBody>
          <a:bodyPr wrap="square">
            <a:noAutofit/>
          </a:bodyPr>
          <a:lstStyle/>
          <a:p>
            <a:pPr algn="ctr"/>
            <a:r>
              <a:rPr sz="1400" b="1">
                <a:solidFill>
                  <a:srgbClr val="04E500"/>
                </a:solidFill>
                <a:latin typeface="Amazon Ember"/>
              </a:rPr>
              <a:t>COMPLEX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6096000" y="1143000"/>
            <a:ext cx="0" cy="4064000"/>
          </a:xfrm>
          <a:prstGeom prst="line">
            <a:avLst/>
          </a:prstGeom>
          <a:ln w="12700">
            <a:solidFill>
              <a:srgbClr val="8FA7C4"/>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524000" y="3175000"/>
            <a:ext cx="9144000" cy="0"/>
          </a:xfrm>
          <a:prstGeom prst="line">
            <a:avLst/>
          </a:prstGeom>
          <a:ln w="12700">
            <a:solidFill>
              <a:srgbClr val="8FA7C4"/>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61000" y="889000"/>
            <a:ext cx="1270000" cy="254000"/>
          </a:xfrm>
          <a:prstGeom prst="rect">
            <a:avLst/>
          </a:prstGeom>
          <a:noFill/>
          <a:ln>
            <a:noFill/>
          </a:ln>
        </p:spPr>
        <p:txBody>
          <a:bodyPr wrap="square" tIns="0">
            <a:noAutofit/>
          </a:bodyPr>
          <a:lstStyle/>
          <a:p>
            <a:pPr algn="ctr"/>
            <a:r>
              <a:rPr sz="1200" b="1">
                <a:solidFill>
                  <a:srgbClr val="8FA7C4"/>
                </a:solidFill>
                <a:latin typeface="Amazon Ember"/>
              </a:rPr>
              <a:t>HIGH IMPACT</a:t>
            </a:r>
          </a:p>
        </p:txBody>
      </p:sp>
      <p:sp>
        <p:nvSpPr>
          <p:cNvPr id="5" name="TextBox 4"/>
          <p:cNvSpPr txBox="1"/>
          <p:nvPr/>
        </p:nvSpPr>
        <p:spPr>
          <a:xfrm>
            <a:off x="5461000" y="5207000"/>
            <a:ext cx="1270000" cy="254000"/>
          </a:xfrm>
          <a:prstGeom prst="rect">
            <a:avLst/>
          </a:prstGeom>
          <a:noFill/>
          <a:ln>
            <a:noFill/>
          </a:ln>
        </p:spPr>
        <p:txBody>
          <a:bodyPr wrap="square" tIns="0">
            <a:noAutofit/>
          </a:bodyPr>
          <a:lstStyle/>
          <a:p>
            <a:pPr algn="ctr"/>
            <a:r>
              <a:rPr sz="1200" b="1">
                <a:solidFill>
                  <a:srgbClr val="8FA7C4"/>
                </a:solidFill>
                <a:latin typeface="Amazon Ember"/>
              </a:rPr>
              <a:t>LOW IMPACT</a:t>
            </a:r>
          </a:p>
        </p:txBody>
      </p:sp>
      <p:sp>
        <p:nvSpPr>
          <p:cNvPr id="6" name="TextBox 5"/>
          <p:cNvSpPr txBox="1"/>
          <p:nvPr/>
        </p:nvSpPr>
        <p:spPr>
          <a:xfrm>
            <a:off x="889000" y="3048000"/>
            <a:ext cx="635000" cy="254000"/>
          </a:xfrm>
          <a:prstGeom prst="rect">
            <a:avLst/>
          </a:prstGeom>
          <a:noFill/>
          <a:ln>
            <a:noFill/>
          </a:ln>
        </p:spPr>
        <p:txBody>
          <a:bodyPr wrap="square" tIns="0">
            <a:noAutofit/>
          </a:bodyPr>
          <a:lstStyle/>
          <a:p>
            <a:pPr algn="ctr"/>
            <a:r>
              <a:rPr sz="1200" b="1">
                <a:solidFill>
                  <a:srgbClr val="8FA7C4"/>
                </a:solidFill>
                <a:latin typeface="Amazon Ember"/>
              </a:rPr>
              <a:t>LOW</a:t>
            </a:r>
          </a:p>
          <a:p>
            <a:pPr algn="ctr"/>
            <a:r>
              <a:rPr sz="1200" b="1">
                <a:solidFill>
                  <a:srgbClr val="8FA7C4"/>
                </a:solidFill>
                <a:latin typeface="Amazon Ember"/>
              </a:rPr>
              <a:t>EFFORT</a:t>
            </a:r>
          </a:p>
        </p:txBody>
      </p:sp>
      <p:sp>
        <p:nvSpPr>
          <p:cNvPr id="7" name="TextBox 6"/>
          <p:cNvSpPr txBox="1"/>
          <p:nvPr/>
        </p:nvSpPr>
        <p:spPr>
          <a:xfrm>
            <a:off x="10668000" y="3048000"/>
            <a:ext cx="635000" cy="254000"/>
          </a:xfrm>
          <a:prstGeom prst="rect">
            <a:avLst/>
          </a:prstGeom>
          <a:noFill/>
          <a:ln>
            <a:noFill/>
          </a:ln>
        </p:spPr>
        <p:txBody>
          <a:bodyPr wrap="square" tIns="0">
            <a:noAutofit/>
          </a:bodyPr>
          <a:lstStyle/>
          <a:p>
            <a:pPr algn="ctr"/>
            <a:r>
              <a:rPr sz="1200" b="1">
                <a:solidFill>
                  <a:srgbClr val="8FA7C4"/>
                </a:solidFill>
                <a:latin typeface="Amazon Ember"/>
              </a:rPr>
              <a:t>HIGH</a:t>
            </a:r>
          </a:p>
          <a:p>
            <a:pPr algn="ctr"/>
            <a:r>
              <a:rPr sz="1200" b="1">
                <a:solidFill>
                  <a:srgbClr val="8FA7C4"/>
                </a:solidFill>
                <a:latin typeface="Amazon Ember"/>
              </a:rPr>
              <a:t>EFFORT</a:t>
            </a:r>
          </a:p>
        </p:txBody>
      </p:sp>
      <p:sp>
        <p:nvSpPr>
          <p:cNvPr id="8" name="Rounded Rectangle 7"/>
          <p:cNvSpPr/>
          <p:nvPr/>
        </p:nvSpPr>
        <p:spPr>
          <a:xfrm>
            <a:off x="1651000" y="1270000"/>
            <a:ext cx="4349750" cy="1809750"/>
          </a:xfrm>
          <a:prstGeom prst="roundRect">
            <a:avLst>
              <a:gd name="adj" fmla="val 4000"/>
            </a:avLst>
          </a:prstGeom>
          <a:solidFill>
            <a:srgbClr val="00C853">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778000" y="1397000"/>
            <a:ext cx="1905000" cy="317500"/>
          </a:xfrm>
          <a:prstGeom prst="rect">
            <a:avLst/>
          </a:prstGeom>
          <a:noFill/>
          <a:ln>
            <a:noFill/>
          </a:ln>
        </p:spPr>
        <p:txBody>
          <a:bodyPr wrap="square" tIns="0">
            <a:noAutofit/>
          </a:bodyPr>
          <a:lstStyle/>
          <a:p>
            <a:pPr algn="l"/>
            <a:r>
              <a:rPr sz="1800" b="1">
                <a:solidFill>
                  <a:srgbClr val="FFFFFF"/>
                </a:solidFill>
                <a:latin typeface="Amazon Ember"/>
              </a:rPr>
              <a:t>Quick Wins</a:t>
            </a:r>
          </a:p>
        </p:txBody>
      </p:sp>
      <p:sp>
        <p:nvSpPr>
          <p:cNvPr id="10" name="Rounded Rectangle 9"/>
          <p:cNvSpPr/>
          <p:nvPr/>
        </p:nvSpPr>
        <p:spPr>
          <a:xfrm>
            <a:off x="6191250" y="1270000"/>
            <a:ext cx="4349750" cy="1809750"/>
          </a:xfrm>
          <a:prstGeom prst="roundRect">
            <a:avLst>
              <a:gd name="adj" fmla="val 4000"/>
            </a:avLst>
          </a:prstGeom>
          <a:solidFill>
            <a:srgbClr val="42A5F5">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18250" y="1397000"/>
            <a:ext cx="1905000" cy="317500"/>
          </a:xfrm>
          <a:prstGeom prst="rect">
            <a:avLst/>
          </a:prstGeom>
          <a:noFill/>
          <a:ln>
            <a:noFill/>
          </a:ln>
        </p:spPr>
        <p:txBody>
          <a:bodyPr wrap="square" tIns="0">
            <a:noAutofit/>
          </a:bodyPr>
          <a:lstStyle/>
          <a:p>
            <a:pPr algn="l"/>
            <a:r>
              <a:rPr sz="1800" b="1">
                <a:solidFill>
                  <a:srgbClr val="FFFFFF"/>
                </a:solidFill>
                <a:latin typeface="Amazon Ember"/>
              </a:rPr>
              <a:t>Strategic Bets</a:t>
            </a:r>
          </a:p>
        </p:txBody>
      </p:sp>
      <p:sp>
        <p:nvSpPr>
          <p:cNvPr id="12" name="Rounded Rectangle 11"/>
          <p:cNvSpPr/>
          <p:nvPr/>
        </p:nvSpPr>
        <p:spPr>
          <a:xfrm>
            <a:off x="1651000" y="3270250"/>
            <a:ext cx="4349750" cy="1809750"/>
          </a:xfrm>
          <a:prstGeom prst="roundRect">
            <a:avLst>
              <a:gd name="adj" fmla="val 4000"/>
            </a:avLst>
          </a:prstGeom>
          <a:solidFill>
            <a:srgbClr val="FFFFFF">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78000" y="3397250"/>
            <a:ext cx="1905000" cy="317500"/>
          </a:xfrm>
          <a:prstGeom prst="rect">
            <a:avLst/>
          </a:prstGeom>
          <a:noFill/>
          <a:ln>
            <a:noFill/>
          </a:ln>
        </p:spPr>
        <p:txBody>
          <a:bodyPr wrap="square" tIns="0">
            <a:noAutofit/>
          </a:bodyPr>
          <a:lstStyle/>
          <a:p>
            <a:pPr algn="l"/>
            <a:r>
              <a:rPr sz="1800" b="1">
                <a:solidFill>
                  <a:srgbClr val="8FA7C4"/>
                </a:solidFill>
                <a:latin typeface="Amazon Ember"/>
              </a:rPr>
              <a:t>Low Priority</a:t>
            </a:r>
          </a:p>
        </p:txBody>
      </p:sp>
      <p:sp>
        <p:nvSpPr>
          <p:cNvPr id="14" name="Rounded Rectangle 13"/>
          <p:cNvSpPr/>
          <p:nvPr/>
        </p:nvSpPr>
        <p:spPr>
          <a:xfrm>
            <a:off x="6191250" y="3270250"/>
            <a:ext cx="4349750" cy="1809750"/>
          </a:xfrm>
          <a:prstGeom prst="roundRect">
            <a:avLst>
              <a:gd name="adj" fmla="val 4000"/>
            </a:avLst>
          </a:prstGeom>
          <a:solidFill>
            <a:srgbClr val="FF5C85">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18250" y="3397250"/>
            <a:ext cx="1905000" cy="317500"/>
          </a:xfrm>
          <a:prstGeom prst="rect">
            <a:avLst/>
          </a:prstGeom>
          <a:noFill/>
          <a:ln>
            <a:noFill/>
          </a:ln>
        </p:spPr>
        <p:txBody>
          <a:bodyPr wrap="square" tIns="0">
            <a:noAutofit/>
          </a:bodyPr>
          <a:lstStyle/>
          <a:p>
            <a:pPr algn="l"/>
            <a:r>
              <a:rPr sz="1800" b="1">
                <a:solidFill>
                  <a:srgbClr val="8FA7C4"/>
                </a:solidFill>
                <a:latin typeface="Amazon Ember"/>
              </a:rPr>
              <a:t>Reconsider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609600" y="1270000"/>
            <a:ext cx="0" cy="38100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62000" y="1301750"/>
            <a:ext cx="1905000" cy="317500"/>
          </a:xfrm>
          <a:prstGeom prst="rect">
            <a:avLst/>
          </a:prstGeom>
          <a:noFill/>
          <a:ln>
            <a:noFill/>
          </a:ln>
        </p:spPr>
        <p:txBody>
          <a:bodyPr wrap="square" tIns="0">
            <a:noAutofit/>
          </a:bodyPr>
          <a:lstStyle/>
          <a:p>
            <a:pPr algn="l"/>
            <a:r>
              <a:rPr sz="1800" b="1">
                <a:solidFill>
                  <a:srgbClr val="FFFFFF"/>
                </a:solidFill>
                <a:latin typeface="Amazon Ember"/>
              </a:rPr>
              <a:t>Topic A</a:t>
            </a:r>
          </a:p>
        </p:txBody>
      </p:sp>
      <p:sp>
        <p:nvSpPr>
          <p:cNvPr id="4" name="TextBox 3"/>
          <p:cNvSpPr txBox="1"/>
          <p:nvPr/>
        </p:nvSpPr>
        <p:spPr>
          <a:xfrm>
            <a:off x="762000" y="1651000"/>
            <a:ext cx="10160000" cy="508000"/>
          </a:xfrm>
          <a:prstGeom prst="rect">
            <a:avLst/>
          </a:prstGeom>
          <a:noFill/>
          <a:ln>
            <a:noFill/>
          </a:ln>
        </p:spPr>
        <p:txBody>
          <a:bodyPr wrap="square" tIns="0">
            <a:noAutofit/>
          </a:bodyPr>
          <a:lstStyle/>
          <a:p>
            <a:pPr algn="l"/>
            <a:r>
              <a:rPr sz="1400">
                <a:solidFill>
                  <a:srgbClr val="8FA7C4"/>
                </a:solidFill>
                <a:latin typeface="Amazon Ember"/>
              </a:rPr>
              <a:t>Description text for the first topic area</a:t>
            </a:r>
          </a:p>
        </p:txBody>
      </p:sp>
      <p:cxnSp>
        <p:nvCxnSpPr>
          <p:cNvPr id="5" name="Connector 4"/>
          <p:cNvCxnSpPr/>
          <p:nvPr/>
        </p:nvCxnSpPr>
        <p:spPr>
          <a:xfrm>
            <a:off x="609600" y="2254250"/>
            <a:ext cx="10972800" cy="0"/>
          </a:xfrm>
          <a:prstGeom prst="line">
            <a:avLst/>
          </a:prstGeom>
          <a:ln w="6350">
            <a:solidFill>
              <a:srgbClr val="8FA7C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600" y="2381250"/>
            <a:ext cx="0" cy="38100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2000" y="2413000"/>
            <a:ext cx="1905000" cy="317500"/>
          </a:xfrm>
          <a:prstGeom prst="rect">
            <a:avLst/>
          </a:prstGeom>
          <a:noFill/>
          <a:ln>
            <a:noFill/>
          </a:ln>
        </p:spPr>
        <p:txBody>
          <a:bodyPr wrap="square" tIns="0">
            <a:noAutofit/>
          </a:bodyPr>
          <a:lstStyle/>
          <a:p>
            <a:pPr algn="l"/>
            <a:r>
              <a:rPr sz="1800" b="1">
                <a:solidFill>
                  <a:srgbClr val="FFFFFF"/>
                </a:solidFill>
                <a:latin typeface="Amazon Ember"/>
              </a:rPr>
              <a:t>Topic B</a:t>
            </a:r>
          </a:p>
        </p:txBody>
      </p:sp>
      <p:sp>
        <p:nvSpPr>
          <p:cNvPr id="8" name="TextBox 7"/>
          <p:cNvSpPr txBox="1"/>
          <p:nvPr/>
        </p:nvSpPr>
        <p:spPr>
          <a:xfrm>
            <a:off x="762000" y="2762250"/>
            <a:ext cx="10160000" cy="508000"/>
          </a:xfrm>
          <a:prstGeom prst="rect">
            <a:avLst/>
          </a:prstGeom>
          <a:noFill/>
          <a:ln>
            <a:noFill/>
          </a:ln>
        </p:spPr>
        <p:txBody>
          <a:bodyPr wrap="square" tIns="0">
            <a:noAutofit/>
          </a:bodyPr>
          <a:lstStyle/>
          <a:p>
            <a:pPr algn="l"/>
            <a:r>
              <a:rPr sz="1400">
                <a:solidFill>
                  <a:srgbClr val="8FA7C4"/>
                </a:solidFill>
                <a:latin typeface="Amazon Ember"/>
              </a:rPr>
              <a:t>Description text for the second topic area</a:t>
            </a:r>
          </a:p>
        </p:txBody>
      </p:sp>
      <p:cxnSp>
        <p:nvCxnSpPr>
          <p:cNvPr id="9" name="Connector 8"/>
          <p:cNvCxnSpPr/>
          <p:nvPr/>
        </p:nvCxnSpPr>
        <p:spPr>
          <a:xfrm>
            <a:off x="609600" y="3365500"/>
            <a:ext cx="10972800" cy="0"/>
          </a:xfrm>
          <a:prstGeom prst="line">
            <a:avLst/>
          </a:prstGeom>
          <a:ln w="6350">
            <a:solidFill>
              <a:srgbClr val="8FA7C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600" y="3492500"/>
            <a:ext cx="0" cy="38100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62000" y="3524250"/>
            <a:ext cx="1905000" cy="317500"/>
          </a:xfrm>
          <a:prstGeom prst="rect">
            <a:avLst/>
          </a:prstGeom>
          <a:noFill/>
          <a:ln>
            <a:noFill/>
          </a:ln>
        </p:spPr>
        <p:txBody>
          <a:bodyPr wrap="square" tIns="0">
            <a:noAutofit/>
          </a:bodyPr>
          <a:lstStyle/>
          <a:p>
            <a:pPr algn="l"/>
            <a:r>
              <a:rPr sz="1800" b="1">
                <a:solidFill>
                  <a:srgbClr val="FFFFFF"/>
                </a:solidFill>
                <a:latin typeface="Amazon Ember"/>
              </a:rPr>
              <a:t>Topic C</a:t>
            </a:r>
          </a:p>
        </p:txBody>
      </p:sp>
      <p:sp>
        <p:nvSpPr>
          <p:cNvPr id="12" name="TextBox 11"/>
          <p:cNvSpPr txBox="1"/>
          <p:nvPr/>
        </p:nvSpPr>
        <p:spPr>
          <a:xfrm>
            <a:off x="762000" y="3873500"/>
            <a:ext cx="10160000" cy="508000"/>
          </a:xfrm>
          <a:prstGeom prst="rect">
            <a:avLst/>
          </a:prstGeom>
          <a:noFill/>
          <a:ln>
            <a:noFill/>
          </a:ln>
        </p:spPr>
        <p:txBody>
          <a:bodyPr wrap="square" tIns="0">
            <a:noAutofit/>
          </a:bodyPr>
          <a:lstStyle/>
          <a:p>
            <a:pPr algn="l"/>
            <a:r>
              <a:rPr sz="1400">
                <a:solidFill>
                  <a:srgbClr val="8FA7C4"/>
                </a:solidFill>
                <a:latin typeface="Amazon Ember"/>
              </a:rPr>
              <a:t>Description text for the third topic area</a:t>
            </a:r>
          </a:p>
        </p:txBody>
      </p:sp>
      <p:cxnSp>
        <p:nvCxnSpPr>
          <p:cNvPr id="13" name="Connector 12"/>
          <p:cNvCxnSpPr/>
          <p:nvPr/>
        </p:nvCxnSpPr>
        <p:spPr>
          <a:xfrm>
            <a:off x="609600" y="4476750"/>
            <a:ext cx="10972800" cy="0"/>
          </a:xfrm>
          <a:prstGeom prst="line">
            <a:avLst/>
          </a:prstGeom>
          <a:ln w="6350">
            <a:solidFill>
              <a:srgbClr val="8FA7C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9600" y="4730750"/>
            <a:ext cx="10972800" cy="635000"/>
          </a:xfrm>
          <a:prstGeom prst="roundRect">
            <a:avLst>
              <a:gd name="adj" fmla="val 50000"/>
            </a:avLst>
          </a:prstGeom>
          <a:gradFill rotWithShape="1">
            <a:gsLst>
              <a:gs pos="0">
                <a:srgbClr val="002060"/>
              </a:gs>
              <a:gs pos="100000">
                <a:srgbClr val="8105FF"/>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9000" y="4857750"/>
            <a:ext cx="10414000" cy="381000"/>
          </a:xfrm>
          <a:prstGeom prst="rect">
            <a:avLst/>
          </a:prstGeom>
          <a:noFill/>
          <a:ln>
            <a:noFill/>
          </a:ln>
        </p:spPr>
        <p:txBody>
          <a:bodyPr wrap="square" tIns="0">
            <a:noAutofit/>
          </a:bodyPr>
          <a:lstStyle/>
          <a:p>
            <a:pPr algn="l"/>
            <a:r>
              <a:rPr sz="1800" b="1">
                <a:solidFill>
                  <a:srgbClr val="FFFFFF"/>
                </a:solidFill>
                <a:latin typeface="Amazon Ember"/>
              </a:rPr>
              <a:t>Conclusion: Summary takeaway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00" y="1587500"/>
            <a:ext cx="9652000" cy="3492500"/>
          </a:xfrm>
          <a:custGeom>
            <a:avLst/>
            <a:gdLst/>
            <a:ahLst/>
            <a:cxnLst/>
            <a:rect l="l" t="t" r="r" b="b"/>
            <a:pathLst>
              <a:path w="9652000" h="3492500" fill="none">
                <a:moveTo>
                  <a:pt x="0" y="3492500"/>
                </a:moveTo>
                <a:lnTo>
                  <a:pt x="1377950" y="3492500"/>
                </a:lnTo>
                <a:cubicBezTo>
                  <a:pt x="1930400" y="3492500"/>
                  <a:pt x="2203450" y="2330450"/>
                  <a:pt x="2755900" y="2330450"/>
                </a:cubicBezTo>
                <a:lnTo>
                  <a:pt x="4133850" y="2330450"/>
                </a:lnTo>
                <a:cubicBezTo>
                  <a:pt x="4686300" y="2330450"/>
                  <a:pt x="4965700" y="1162050"/>
                  <a:pt x="5518150" y="1162050"/>
                </a:cubicBezTo>
                <a:lnTo>
                  <a:pt x="6896100" y="1162050"/>
                </a:lnTo>
                <a:cubicBezTo>
                  <a:pt x="7448550" y="1162050"/>
                  <a:pt x="7721600" y="0"/>
                  <a:pt x="8274050" y="0"/>
                </a:cubicBezTo>
                <a:lnTo>
                  <a:pt x="9652000" y="0"/>
                </a:lnTo>
              </a:path>
            </a:pathLst>
          </a:custGeom>
          <a:ln w="444500" cap="flat">
            <a:gradFill rotWithShape="1">
              <a:gsLst>
                <a:gs pos="0">
                  <a:srgbClr val="FF9900"/>
                </a:gs>
                <a:gs pos="33000">
                  <a:srgbClr val="FF5C85"/>
                </a:gs>
                <a:gs pos="66000">
                  <a:srgbClr val="AB47BC"/>
                </a:gs>
                <a:gs pos="100000">
                  <a:srgbClr val="42A5F5"/>
                </a:gs>
              </a:gsLst>
              <a:lin ang="0" scaled="1"/>
            </a:gradFill>
          </a:ln>
        </p:spPr>
        <p:txBody>
          <a:bodyPr rtlCol="0" anchor="ctr"/>
          <a:lstStyle/>
          <a:p>
            <a:pPr algn="ctr"/>
            <a:endParaRPr/>
          </a:p>
        </p:txBody>
      </p:sp>
      <p:sp>
        <p:nvSpPr>
          <p:cNvPr id="3" name="Oval 2"/>
          <p:cNvSpPr/>
          <p:nvPr/>
        </p:nvSpPr>
        <p:spPr>
          <a:xfrm>
            <a:off x="1733550" y="4857750"/>
            <a:ext cx="444500" cy="444500"/>
          </a:xfrm>
          <a:prstGeom prst="ellipse">
            <a:avLst/>
          </a:prstGeom>
          <a:solidFill>
            <a:srgbClr val="FFC166"/>
          </a:solidFill>
          <a:ln>
            <a:noFill/>
          </a:ln>
          <a:effectLst>
            <a:outerShdw blurRad="38100" dist="19050" dir="8100000" algn="b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93800" y="4508500"/>
            <a:ext cx="1524000" cy="317500"/>
          </a:xfrm>
          <a:prstGeom prst="rect">
            <a:avLst/>
          </a:prstGeom>
          <a:noFill/>
          <a:ln>
            <a:noFill/>
          </a:ln>
        </p:spPr>
        <p:txBody>
          <a:bodyPr wrap="square" tIns="0">
            <a:noAutofit/>
          </a:bodyPr>
          <a:lstStyle/>
          <a:p>
            <a:pPr algn="ctr"/>
            <a:r>
              <a:rPr sz="1600" b="1">
                <a:solidFill>
                  <a:srgbClr val="FFFFFF"/>
                </a:solidFill>
                <a:latin typeface="Amazon Ember"/>
              </a:rPr>
              <a:t>Phase 1</a:t>
            </a:r>
          </a:p>
        </p:txBody>
      </p:sp>
      <p:sp>
        <p:nvSpPr>
          <p:cNvPr id="5" name="TextBox 4"/>
          <p:cNvSpPr txBox="1"/>
          <p:nvPr/>
        </p:nvSpPr>
        <p:spPr>
          <a:xfrm>
            <a:off x="1193800" y="5365750"/>
            <a:ext cx="1524000" cy="285750"/>
          </a:xfrm>
          <a:prstGeom prst="rect">
            <a:avLst/>
          </a:prstGeom>
          <a:noFill/>
          <a:ln>
            <a:noFill/>
          </a:ln>
        </p:spPr>
        <p:txBody>
          <a:bodyPr wrap="square" tIns="0">
            <a:noAutofit/>
          </a:bodyPr>
          <a:lstStyle/>
          <a:p>
            <a:pPr algn="ctr"/>
            <a:r>
              <a:rPr sz="1200">
                <a:solidFill>
                  <a:srgbClr val="8FA7C4"/>
                </a:solidFill>
                <a:latin typeface="Amazon Ember"/>
              </a:rPr>
              <a:t>Description</a:t>
            </a:r>
          </a:p>
        </p:txBody>
      </p:sp>
      <p:sp>
        <p:nvSpPr>
          <p:cNvPr id="6" name="Oval 5"/>
          <p:cNvSpPr/>
          <p:nvPr/>
        </p:nvSpPr>
        <p:spPr>
          <a:xfrm>
            <a:off x="4489450" y="3689350"/>
            <a:ext cx="444500" cy="444500"/>
          </a:xfrm>
          <a:prstGeom prst="ellipse">
            <a:avLst/>
          </a:prstGeom>
          <a:solidFill>
            <a:srgbClr val="FF9DB5"/>
          </a:solidFill>
          <a:ln>
            <a:noFill/>
          </a:ln>
          <a:effectLst>
            <a:outerShdw blurRad="38100" dist="19050" dir="8100000" algn="b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49700" y="3340100"/>
            <a:ext cx="1524000" cy="317500"/>
          </a:xfrm>
          <a:prstGeom prst="rect">
            <a:avLst/>
          </a:prstGeom>
          <a:noFill/>
          <a:ln>
            <a:noFill/>
          </a:ln>
        </p:spPr>
        <p:txBody>
          <a:bodyPr wrap="square" tIns="0">
            <a:noAutofit/>
          </a:bodyPr>
          <a:lstStyle/>
          <a:p>
            <a:pPr algn="ctr"/>
            <a:r>
              <a:rPr sz="1600" b="1">
                <a:solidFill>
                  <a:srgbClr val="FFFFFF"/>
                </a:solidFill>
                <a:latin typeface="Amazon Ember"/>
              </a:rPr>
              <a:t>Phase 2</a:t>
            </a:r>
          </a:p>
        </p:txBody>
      </p:sp>
      <p:sp>
        <p:nvSpPr>
          <p:cNvPr id="8" name="TextBox 7"/>
          <p:cNvSpPr txBox="1"/>
          <p:nvPr/>
        </p:nvSpPr>
        <p:spPr>
          <a:xfrm>
            <a:off x="3949700" y="4197350"/>
            <a:ext cx="1524000" cy="285750"/>
          </a:xfrm>
          <a:prstGeom prst="rect">
            <a:avLst/>
          </a:prstGeom>
          <a:noFill/>
          <a:ln>
            <a:noFill/>
          </a:ln>
        </p:spPr>
        <p:txBody>
          <a:bodyPr wrap="square" tIns="0">
            <a:noAutofit/>
          </a:bodyPr>
          <a:lstStyle/>
          <a:p>
            <a:pPr algn="ctr"/>
            <a:r>
              <a:rPr sz="1200">
                <a:solidFill>
                  <a:srgbClr val="8FA7C4"/>
                </a:solidFill>
                <a:latin typeface="Amazon Ember"/>
              </a:rPr>
              <a:t>Description</a:t>
            </a:r>
          </a:p>
        </p:txBody>
      </p:sp>
      <p:sp>
        <p:nvSpPr>
          <p:cNvPr id="9" name="Oval 8"/>
          <p:cNvSpPr/>
          <p:nvPr/>
        </p:nvSpPr>
        <p:spPr>
          <a:xfrm>
            <a:off x="7251700" y="2527300"/>
            <a:ext cx="444500" cy="444500"/>
          </a:xfrm>
          <a:prstGeom prst="ellipse">
            <a:avLst/>
          </a:prstGeom>
          <a:solidFill>
            <a:srgbClr val="CC90D6"/>
          </a:solidFill>
          <a:ln>
            <a:noFill/>
          </a:ln>
          <a:effectLst>
            <a:outerShdw blurRad="38100" dist="19050" dir="8100000" algn="b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11950" y="2178050"/>
            <a:ext cx="1524000" cy="317500"/>
          </a:xfrm>
          <a:prstGeom prst="rect">
            <a:avLst/>
          </a:prstGeom>
          <a:noFill/>
          <a:ln>
            <a:noFill/>
          </a:ln>
        </p:spPr>
        <p:txBody>
          <a:bodyPr wrap="square" tIns="0">
            <a:noAutofit/>
          </a:bodyPr>
          <a:lstStyle/>
          <a:p>
            <a:pPr algn="ctr"/>
            <a:r>
              <a:rPr sz="1600" b="1">
                <a:solidFill>
                  <a:srgbClr val="FFFFFF"/>
                </a:solidFill>
                <a:latin typeface="Amazon Ember"/>
              </a:rPr>
              <a:t>Phase 3</a:t>
            </a:r>
          </a:p>
        </p:txBody>
      </p:sp>
      <p:sp>
        <p:nvSpPr>
          <p:cNvPr id="11" name="TextBox 10"/>
          <p:cNvSpPr txBox="1"/>
          <p:nvPr/>
        </p:nvSpPr>
        <p:spPr>
          <a:xfrm>
            <a:off x="6711950" y="3035300"/>
            <a:ext cx="1524000" cy="285750"/>
          </a:xfrm>
          <a:prstGeom prst="rect">
            <a:avLst/>
          </a:prstGeom>
          <a:noFill/>
          <a:ln>
            <a:noFill/>
          </a:ln>
        </p:spPr>
        <p:txBody>
          <a:bodyPr wrap="square" tIns="0">
            <a:noAutofit/>
          </a:bodyPr>
          <a:lstStyle/>
          <a:p>
            <a:pPr algn="ctr"/>
            <a:r>
              <a:rPr sz="1200">
                <a:solidFill>
                  <a:srgbClr val="8FA7C4"/>
                </a:solidFill>
                <a:latin typeface="Amazon Ember"/>
              </a:rPr>
              <a:t>Description</a:t>
            </a:r>
          </a:p>
        </p:txBody>
      </p:sp>
      <p:sp>
        <p:nvSpPr>
          <p:cNvPr id="12" name="Oval 11"/>
          <p:cNvSpPr/>
          <p:nvPr/>
        </p:nvSpPr>
        <p:spPr>
          <a:xfrm>
            <a:off x="10007600" y="1365250"/>
            <a:ext cx="444500" cy="444500"/>
          </a:xfrm>
          <a:prstGeom prst="ellipse">
            <a:avLst/>
          </a:prstGeom>
          <a:solidFill>
            <a:srgbClr val="8DC9F9"/>
          </a:solidFill>
          <a:ln>
            <a:noFill/>
          </a:ln>
          <a:effectLst>
            <a:outerShdw blurRad="38100" dist="19050" dir="8100000" algn="b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67850" y="1016000"/>
            <a:ext cx="1524000" cy="317500"/>
          </a:xfrm>
          <a:prstGeom prst="rect">
            <a:avLst/>
          </a:prstGeom>
          <a:noFill/>
          <a:ln>
            <a:noFill/>
          </a:ln>
        </p:spPr>
        <p:txBody>
          <a:bodyPr wrap="square" tIns="0">
            <a:noAutofit/>
          </a:bodyPr>
          <a:lstStyle/>
          <a:p>
            <a:pPr algn="ctr"/>
            <a:r>
              <a:rPr sz="1600" b="1">
                <a:solidFill>
                  <a:srgbClr val="FFFFFF"/>
                </a:solidFill>
                <a:latin typeface="Amazon Ember"/>
              </a:rPr>
              <a:t>Phase 4</a:t>
            </a:r>
          </a:p>
        </p:txBody>
      </p:sp>
      <p:sp>
        <p:nvSpPr>
          <p:cNvPr id="14" name="TextBox 13"/>
          <p:cNvSpPr txBox="1"/>
          <p:nvPr/>
        </p:nvSpPr>
        <p:spPr>
          <a:xfrm>
            <a:off x="9467850" y="1873250"/>
            <a:ext cx="1524000" cy="285750"/>
          </a:xfrm>
          <a:prstGeom prst="rect">
            <a:avLst/>
          </a:prstGeom>
          <a:noFill/>
          <a:ln>
            <a:noFill/>
          </a:ln>
        </p:spPr>
        <p:txBody>
          <a:bodyPr wrap="square" tIns="0">
            <a:noAutofit/>
          </a:bodyPr>
          <a:lstStyle/>
          <a:p>
            <a:pPr algn="ctr"/>
            <a:r>
              <a:rPr sz="1200">
                <a:solidFill>
                  <a:srgbClr val="8FA7C4"/>
                </a:solidFill>
                <a:latin typeface="Amazon Ember"/>
              </a:rPr>
              <a:t>Description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3790950" y="1397000"/>
            <a:ext cx="0" cy="3683000"/>
          </a:xfrm>
          <a:prstGeom prst="line">
            <a:avLst/>
          </a:prstGeom>
          <a:ln w="6350">
            <a:solidFill>
              <a:srgbClr val="8FA7C4"/>
            </a:solidFill>
            <a:prstDash val="sysDot"/>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5384800" y="1397000"/>
            <a:ext cx="0" cy="3683000"/>
          </a:xfrm>
          <a:prstGeom prst="line">
            <a:avLst/>
          </a:prstGeom>
          <a:ln w="6350">
            <a:solidFill>
              <a:srgbClr val="8FA7C4"/>
            </a:solidFill>
            <a:prstDash val="sysDot"/>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978650" y="1397000"/>
            <a:ext cx="0" cy="3683000"/>
          </a:xfrm>
          <a:prstGeom prst="line">
            <a:avLst/>
          </a:prstGeom>
          <a:ln w="6350">
            <a:solidFill>
              <a:srgbClr val="8FA7C4"/>
            </a:solidFill>
            <a:prstDash val="sysDot"/>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572500" y="1397000"/>
            <a:ext cx="0" cy="3683000"/>
          </a:xfrm>
          <a:prstGeom prst="line">
            <a:avLst/>
          </a:prstGeom>
          <a:ln w="6350">
            <a:solidFill>
              <a:srgbClr val="8FA7C4"/>
            </a:solidFill>
            <a:prstDash val="sysDot"/>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166350" y="1397000"/>
            <a:ext cx="0" cy="3683000"/>
          </a:xfrm>
          <a:prstGeom prst="line">
            <a:avLst/>
          </a:prstGeom>
          <a:ln w="6350">
            <a:solidFill>
              <a:srgbClr val="8FA7C4"/>
            </a:solidFill>
            <a:prstDash val="sysDot"/>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222500" y="1206500"/>
            <a:ext cx="1543050" cy="190500"/>
          </a:xfrm>
          <a:prstGeom prst="rect">
            <a:avLst/>
          </a:prstGeom>
          <a:noFill/>
          <a:ln>
            <a:noFill/>
          </a:ln>
        </p:spPr>
        <p:txBody>
          <a:bodyPr wrap="square" tIns="0">
            <a:noAutofit/>
          </a:bodyPr>
          <a:lstStyle/>
          <a:p>
            <a:pPr algn="ctr"/>
            <a:r>
              <a:rPr sz="1100">
                <a:solidFill>
                  <a:srgbClr val="8FA7C4"/>
                </a:solidFill>
                <a:latin typeface="Amazon Ember"/>
              </a:rPr>
              <a:t>Jan</a:t>
            </a:r>
          </a:p>
        </p:txBody>
      </p:sp>
      <p:sp>
        <p:nvSpPr>
          <p:cNvPr id="8" name="TextBox 7"/>
          <p:cNvSpPr txBox="1"/>
          <p:nvPr/>
        </p:nvSpPr>
        <p:spPr>
          <a:xfrm>
            <a:off x="3816350" y="1206500"/>
            <a:ext cx="1543050" cy="190500"/>
          </a:xfrm>
          <a:prstGeom prst="rect">
            <a:avLst/>
          </a:prstGeom>
          <a:noFill/>
          <a:ln>
            <a:noFill/>
          </a:ln>
        </p:spPr>
        <p:txBody>
          <a:bodyPr wrap="square" tIns="0">
            <a:noAutofit/>
          </a:bodyPr>
          <a:lstStyle/>
          <a:p>
            <a:pPr algn="ctr"/>
            <a:r>
              <a:rPr sz="1100">
                <a:solidFill>
                  <a:srgbClr val="8FA7C4"/>
                </a:solidFill>
                <a:latin typeface="Amazon Ember"/>
              </a:rPr>
              <a:t>Feb</a:t>
            </a:r>
          </a:p>
        </p:txBody>
      </p:sp>
      <p:sp>
        <p:nvSpPr>
          <p:cNvPr id="9" name="TextBox 8"/>
          <p:cNvSpPr txBox="1"/>
          <p:nvPr/>
        </p:nvSpPr>
        <p:spPr>
          <a:xfrm>
            <a:off x="5410200" y="1206500"/>
            <a:ext cx="1543050" cy="190500"/>
          </a:xfrm>
          <a:prstGeom prst="rect">
            <a:avLst/>
          </a:prstGeom>
          <a:noFill/>
          <a:ln>
            <a:noFill/>
          </a:ln>
        </p:spPr>
        <p:txBody>
          <a:bodyPr wrap="square" tIns="0">
            <a:noAutofit/>
          </a:bodyPr>
          <a:lstStyle/>
          <a:p>
            <a:pPr algn="ctr"/>
            <a:r>
              <a:rPr sz="1100">
                <a:solidFill>
                  <a:srgbClr val="8FA7C4"/>
                </a:solidFill>
                <a:latin typeface="Amazon Ember"/>
              </a:rPr>
              <a:t>Mar</a:t>
            </a:r>
          </a:p>
        </p:txBody>
      </p:sp>
      <p:sp>
        <p:nvSpPr>
          <p:cNvPr id="10" name="TextBox 9"/>
          <p:cNvSpPr txBox="1"/>
          <p:nvPr/>
        </p:nvSpPr>
        <p:spPr>
          <a:xfrm>
            <a:off x="7004050" y="1206500"/>
            <a:ext cx="1543050" cy="190500"/>
          </a:xfrm>
          <a:prstGeom prst="rect">
            <a:avLst/>
          </a:prstGeom>
          <a:noFill/>
          <a:ln>
            <a:noFill/>
          </a:ln>
        </p:spPr>
        <p:txBody>
          <a:bodyPr wrap="square" tIns="0">
            <a:noAutofit/>
          </a:bodyPr>
          <a:lstStyle/>
          <a:p>
            <a:pPr algn="ctr"/>
            <a:r>
              <a:rPr sz="1100">
                <a:solidFill>
                  <a:srgbClr val="8FA7C4"/>
                </a:solidFill>
                <a:latin typeface="Amazon Ember"/>
              </a:rPr>
              <a:t>Apr</a:t>
            </a:r>
          </a:p>
        </p:txBody>
      </p:sp>
      <p:sp>
        <p:nvSpPr>
          <p:cNvPr id="11" name="TextBox 10"/>
          <p:cNvSpPr txBox="1"/>
          <p:nvPr/>
        </p:nvSpPr>
        <p:spPr>
          <a:xfrm>
            <a:off x="8597900" y="1206500"/>
            <a:ext cx="1543050" cy="190500"/>
          </a:xfrm>
          <a:prstGeom prst="rect">
            <a:avLst/>
          </a:prstGeom>
          <a:noFill/>
          <a:ln>
            <a:noFill/>
          </a:ln>
        </p:spPr>
        <p:txBody>
          <a:bodyPr wrap="square" tIns="0">
            <a:noAutofit/>
          </a:bodyPr>
          <a:lstStyle/>
          <a:p>
            <a:pPr algn="ctr"/>
            <a:r>
              <a:rPr sz="1100">
                <a:solidFill>
                  <a:srgbClr val="8FA7C4"/>
                </a:solidFill>
                <a:latin typeface="Amazon Ember"/>
              </a:rPr>
              <a:t>May</a:t>
            </a:r>
          </a:p>
        </p:txBody>
      </p:sp>
      <p:sp>
        <p:nvSpPr>
          <p:cNvPr id="12" name="TextBox 11"/>
          <p:cNvSpPr txBox="1"/>
          <p:nvPr/>
        </p:nvSpPr>
        <p:spPr>
          <a:xfrm>
            <a:off x="10191750" y="1206500"/>
            <a:ext cx="1555750" cy="190500"/>
          </a:xfrm>
          <a:prstGeom prst="rect">
            <a:avLst/>
          </a:prstGeom>
          <a:noFill/>
          <a:ln>
            <a:noFill/>
          </a:ln>
        </p:spPr>
        <p:txBody>
          <a:bodyPr wrap="square" tIns="0">
            <a:noAutofit/>
          </a:bodyPr>
          <a:lstStyle/>
          <a:p>
            <a:pPr algn="ctr"/>
            <a:r>
              <a:rPr sz="1100">
                <a:solidFill>
                  <a:srgbClr val="8FA7C4"/>
                </a:solidFill>
                <a:latin typeface="Amazon Ember"/>
              </a:rPr>
              <a:t>Jun</a:t>
            </a:r>
          </a:p>
        </p:txBody>
      </p:sp>
      <p:cxnSp>
        <p:nvCxnSpPr>
          <p:cNvPr id="13" name="Connector 12"/>
          <p:cNvCxnSpPr/>
          <p:nvPr/>
        </p:nvCxnSpPr>
        <p:spPr>
          <a:xfrm>
            <a:off x="2222500" y="1409700"/>
            <a:ext cx="9525000" cy="0"/>
          </a:xfrm>
          <a:prstGeom prst="line">
            <a:avLst/>
          </a:prstGeom>
          <a:ln w="6350">
            <a:solidFill>
              <a:srgbClr val="8FA7C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1631950"/>
            <a:ext cx="1524000" cy="228600"/>
          </a:xfrm>
          <a:prstGeom prst="rect">
            <a:avLst/>
          </a:prstGeom>
          <a:noFill/>
          <a:ln>
            <a:noFill/>
          </a:ln>
        </p:spPr>
        <p:txBody>
          <a:bodyPr wrap="square" tIns="0">
            <a:noAutofit/>
          </a:bodyPr>
          <a:lstStyle/>
          <a:p>
            <a:pPr algn="r"/>
            <a:r>
              <a:rPr sz="1300" b="1">
                <a:solidFill>
                  <a:srgbClr val="FFFFFF"/>
                </a:solidFill>
                <a:latin typeface="Amazon Ember"/>
              </a:rPr>
              <a:t>Requirements</a:t>
            </a:r>
          </a:p>
        </p:txBody>
      </p:sp>
      <p:sp>
        <p:nvSpPr>
          <p:cNvPr id="15" name="TextBox 14"/>
          <p:cNvSpPr txBox="1"/>
          <p:nvPr/>
        </p:nvSpPr>
        <p:spPr>
          <a:xfrm>
            <a:off x="609600" y="2381250"/>
            <a:ext cx="1524000" cy="228600"/>
          </a:xfrm>
          <a:prstGeom prst="rect">
            <a:avLst/>
          </a:prstGeom>
          <a:noFill/>
          <a:ln>
            <a:noFill/>
          </a:ln>
        </p:spPr>
        <p:txBody>
          <a:bodyPr wrap="square" tIns="0">
            <a:noAutofit/>
          </a:bodyPr>
          <a:lstStyle/>
          <a:p>
            <a:pPr algn="r"/>
            <a:r>
              <a:rPr sz="1300" b="1">
                <a:solidFill>
                  <a:srgbClr val="FFFFFF"/>
                </a:solidFill>
                <a:latin typeface="Amazon Ember"/>
              </a:rPr>
              <a:t>Design</a:t>
            </a:r>
          </a:p>
        </p:txBody>
      </p:sp>
      <p:sp>
        <p:nvSpPr>
          <p:cNvPr id="16" name="TextBox 15"/>
          <p:cNvSpPr txBox="1"/>
          <p:nvPr/>
        </p:nvSpPr>
        <p:spPr>
          <a:xfrm>
            <a:off x="609600" y="3130550"/>
            <a:ext cx="1524000" cy="228600"/>
          </a:xfrm>
          <a:prstGeom prst="rect">
            <a:avLst/>
          </a:prstGeom>
          <a:noFill/>
          <a:ln>
            <a:noFill/>
          </a:ln>
        </p:spPr>
        <p:txBody>
          <a:bodyPr wrap="square" tIns="0">
            <a:noAutofit/>
          </a:bodyPr>
          <a:lstStyle/>
          <a:p>
            <a:pPr algn="r"/>
            <a:r>
              <a:rPr sz="1300" b="1">
                <a:solidFill>
                  <a:srgbClr val="FFFFFF"/>
                </a:solidFill>
                <a:latin typeface="Amazon Ember"/>
              </a:rPr>
              <a:t>Development</a:t>
            </a:r>
          </a:p>
        </p:txBody>
      </p:sp>
      <p:sp>
        <p:nvSpPr>
          <p:cNvPr id="17" name="TextBox 16"/>
          <p:cNvSpPr txBox="1"/>
          <p:nvPr/>
        </p:nvSpPr>
        <p:spPr>
          <a:xfrm>
            <a:off x="609600" y="3879850"/>
            <a:ext cx="1524000" cy="228600"/>
          </a:xfrm>
          <a:prstGeom prst="rect">
            <a:avLst/>
          </a:prstGeom>
          <a:noFill/>
          <a:ln>
            <a:noFill/>
          </a:ln>
        </p:spPr>
        <p:txBody>
          <a:bodyPr wrap="square" tIns="0">
            <a:noAutofit/>
          </a:bodyPr>
          <a:lstStyle/>
          <a:p>
            <a:pPr algn="r"/>
            <a:r>
              <a:rPr sz="1300" b="1">
                <a:solidFill>
                  <a:srgbClr val="FFFFFF"/>
                </a:solidFill>
                <a:latin typeface="Amazon Ember"/>
              </a:rPr>
              <a:t>Testing</a:t>
            </a:r>
          </a:p>
        </p:txBody>
      </p:sp>
      <p:sp>
        <p:nvSpPr>
          <p:cNvPr id="18" name="TextBox 17"/>
          <p:cNvSpPr txBox="1"/>
          <p:nvPr/>
        </p:nvSpPr>
        <p:spPr>
          <a:xfrm>
            <a:off x="609600" y="4622800"/>
            <a:ext cx="1524000" cy="228600"/>
          </a:xfrm>
          <a:prstGeom prst="rect">
            <a:avLst/>
          </a:prstGeom>
          <a:noFill/>
          <a:ln>
            <a:noFill/>
          </a:ln>
        </p:spPr>
        <p:txBody>
          <a:bodyPr wrap="square" tIns="0">
            <a:noAutofit/>
          </a:bodyPr>
          <a:lstStyle/>
          <a:p>
            <a:pPr algn="r"/>
            <a:r>
              <a:rPr sz="1300" b="1">
                <a:solidFill>
                  <a:srgbClr val="FFFFFF"/>
                </a:solidFill>
                <a:latin typeface="Amazon Ember"/>
              </a:rPr>
              <a:t>Release</a:t>
            </a:r>
          </a:p>
        </p:txBody>
      </p:sp>
      <p:sp>
        <p:nvSpPr>
          <p:cNvPr id="19" name="Rounded Rectangle 18"/>
          <p:cNvSpPr/>
          <p:nvPr/>
        </p:nvSpPr>
        <p:spPr>
          <a:xfrm>
            <a:off x="2222500" y="1631950"/>
            <a:ext cx="3136900" cy="228600"/>
          </a:xfrm>
          <a:prstGeom prst="roundRect">
            <a:avLst>
              <a:gd name="adj" fmla="val 50000"/>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816350" y="2381250"/>
            <a:ext cx="3136900" cy="228600"/>
          </a:xfrm>
          <a:prstGeom prst="roundRect">
            <a:avLst>
              <a:gd name="adj" fmla="val 50000"/>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10200" y="3130550"/>
            <a:ext cx="4730750" cy="228600"/>
          </a:xfrm>
          <a:prstGeom prst="roundRect">
            <a:avLst>
              <a:gd name="adj" fmla="val 50000"/>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597900" y="3879850"/>
            <a:ext cx="3149600" cy="228600"/>
          </a:xfrm>
          <a:prstGeom prst="roundRect">
            <a:avLst>
              <a:gd name="adj" fmla="val 50000"/>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191750" y="4622800"/>
            <a:ext cx="1555750" cy="228600"/>
          </a:xfrm>
          <a:prstGeom prst="roundRect">
            <a:avLst>
              <a:gd name="adj" fmla="val 50000"/>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6978650" y="1206500"/>
            <a:ext cx="0" cy="3937000"/>
          </a:xfrm>
          <a:prstGeom prst="line">
            <a:avLst/>
          </a:prstGeom>
          <a:ln w="19050">
            <a:solidFill>
              <a:srgbClr val="FF5C85"/>
            </a:solidFill>
            <a:prstDash val="dash"/>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800850" y="1079500"/>
            <a:ext cx="355600" cy="152400"/>
          </a:xfrm>
          <a:prstGeom prst="roundRect">
            <a:avLst>
              <a:gd name="adj" fmla="val 50000"/>
            </a:avLst>
          </a:prstGeom>
          <a:solidFill>
            <a:srgbClr val="FF5C85"/>
          </a:solidFill>
          <a:ln>
            <a:noFill/>
          </a:ln>
        </p:spPr>
        <p:style>
          <a:lnRef idx="1">
            <a:schemeClr val="accent1"/>
          </a:lnRef>
          <a:fillRef idx="3">
            <a:schemeClr val="accent1"/>
          </a:fillRef>
          <a:effectRef idx="2">
            <a:schemeClr val="accent1"/>
          </a:effectRef>
          <a:fontRef idx="minor">
            <a:schemeClr val="lt1"/>
          </a:fontRef>
        </p:style>
        <p:txBody>
          <a:bodyPr wrap="none" rtlCol="0" anchor="ctr" lIns="19050" rIns="19050">
            <a:noAutofit/>
          </a:bodyPr>
          <a:lstStyle/>
          <a:p>
            <a:pPr algn="ctr"/>
            <a:r>
              <a:rPr sz="800" b="1">
                <a:solidFill>
                  <a:srgbClr val="FFFFFF"/>
                </a:solidFill>
                <a:latin typeface="Amazon Ember"/>
              </a:rPr>
              <a:t>Today</a:t>
            </a:r>
          </a:p>
        </p:txBody>
      </p:sp>
      <p:sp>
        <p:nvSpPr>
          <p:cNvPr id="26" name="Diamond 25"/>
          <p:cNvSpPr/>
          <p:nvPr/>
        </p:nvSpPr>
        <p:spPr>
          <a:xfrm>
            <a:off x="11779250" y="4673600"/>
            <a:ext cx="127000" cy="127000"/>
          </a:xfrm>
          <a:prstGeom prst="diamond">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143000"/>
            <a:ext cx="4445000" cy="381000"/>
          </a:xfrm>
          <a:prstGeom prst="rect">
            <a:avLst/>
          </a:prstGeom>
          <a:noFill/>
          <a:ln>
            <a:noFill/>
          </a:ln>
        </p:spPr>
        <p:txBody>
          <a:bodyPr wrap="square" tIns="0">
            <a:noAutofit/>
          </a:bodyPr>
          <a:lstStyle/>
          <a:p>
            <a:pPr algn="l"/>
            <a:r>
              <a:rPr sz="2800" b="1">
                <a:solidFill>
                  <a:srgbClr val="FFFFFF"/>
                </a:solidFill>
                <a:latin typeface="Amazon Ember"/>
              </a:rPr>
              <a:t>Customer Name</a:t>
            </a:r>
          </a:p>
        </p:txBody>
      </p:sp>
      <p:sp>
        <p:nvSpPr>
          <p:cNvPr id="3" name="TextBox 2"/>
          <p:cNvSpPr txBox="1"/>
          <p:nvPr/>
        </p:nvSpPr>
        <p:spPr>
          <a:xfrm>
            <a:off x="609600" y="1492250"/>
            <a:ext cx="4445000" cy="222250"/>
          </a:xfrm>
          <a:prstGeom prst="rect">
            <a:avLst/>
          </a:prstGeom>
          <a:noFill/>
          <a:ln>
            <a:noFill/>
          </a:ln>
        </p:spPr>
        <p:txBody>
          <a:bodyPr wrap="square" tIns="0">
            <a:noAutofit/>
          </a:bodyPr>
          <a:lstStyle/>
          <a:p>
            <a:pPr algn="l"/>
            <a:r>
              <a:rPr sz="1400">
                <a:solidFill>
                  <a:srgbClr val="FF9900"/>
                </a:solidFill>
                <a:latin typeface="Amazon Ember"/>
              </a:rPr>
              <a:t>Project Name / Subtitle</a:t>
            </a:r>
          </a:p>
        </p:txBody>
      </p:sp>
      <p:sp>
        <p:nvSpPr>
          <p:cNvPr id="4" name="Rounded Rectangle 3"/>
          <p:cNvSpPr/>
          <p:nvPr/>
        </p:nvSpPr>
        <p:spPr>
          <a:xfrm>
            <a:off x="9677400" y="1143000"/>
            <a:ext cx="1270000" cy="889000"/>
          </a:xfrm>
          <a:prstGeom prst="roundRect">
            <a:avLst>
              <a:gd name="adj" fmla="val 6000"/>
            </a:avLst>
          </a:prstGeom>
          <a:solidFill>
            <a:srgbClr val="FFFFFF">
              <a:alpha val="6000"/>
            </a:srgbClr>
          </a:solidFill>
          <a:ln w="12700">
            <a:solidFill>
              <a:srgbClr val="8FA7C4"/>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1200">
                <a:solidFill>
                  <a:srgbClr val="8FA7C4"/>
                </a:solidFill>
                <a:latin typeface="Amazon Ember"/>
              </a:rPr>
              <a:t>Logo</a:t>
            </a:r>
          </a:p>
        </p:txBody>
      </p:sp>
      <p:sp>
        <p:nvSpPr>
          <p:cNvPr id="5" name="Rounded Rectangle 4"/>
          <p:cNvSpPr/>
          <p:nvPr/>
        </p:nvSpPr>
        <p:spPr>
          <a:xfrm>
            <a:off x="609600" y="2159000"/>
            <a:ext cx="6985000" cy="279400"/>
          </a:xfrm>
          <a:prstGeom prst="roundRect">
            <a:avLst>
              <a:gd name="adj" fmla="val 30000"/>
            </a:avLst>
          </a:prstGeom>
          <a:solidFill>
            <a:srgbClr val="FFFFFF">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2000" y="2190750"/>
            <a:ext cx="2032000" cy="228600"/>
          </a:xfrm>
          <a:prstGeom prst="rect">
            <a:avLst/>
          </a:prstGeom>
          <a:noFill/>
          <a:ln>
            <a:noFill/>
          </a:ln>
        </p:spPr>
        <p:txBody>
          <a:bodyPr wrap="square" tIns="0">
            <a:noAutofit/>
          </a:bodyPr>
          <a:lstStyle/>
          <a:p>
            <a:pPr algn="l"/>
            <a:r>
              <a:rPr sz="1400" b="1">
                <a:solidFill>
                  <a:srgbClr val="FFFFFF"/>
                </a:solidFill>
                <a:latin typeface="Amazon Ember"/>
              </a:rPr>
              <a:t>Use Case</a:t>
            </a:r>
          </a:p>
        </p:txBody>
      </p:sp>
      <p:cxnSp>
        <p:nvCxnSpPr>
          <p:cNvPr id="7" name="Connector 6"/>
          <p:cNvCxnSpPr/>
          <p:nvPr/>
        </p:nvCxnSpPr>
        <p:spPr>
          <a:xfrm>
            <a:off x="2921000" y="2190750"/>
            <a:ext cx="0" cy="215900"/>
          </a:xfrm>
          <a:prstGeom prst="line">
            <a:avLst/>
          </a:prstGeom>
          <a:ln w="25400">
            <a:solidFill>
              <a:srgbClr val="8FA7C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079750" y="2190750"/>
            <a:ext cx="2032000" cy="228600"/>
          </a:xfrm>
          <a:prstGeom prst="rect">
            <a:avLst/>
          </a:prstGeom>
          <a:noFill/>
          <a:ln>
            <a:noFill/>
          </a:ln>
        </p:spPr>
        <p:txBody>
          <a:bodyPr wrap="square" tIns="0">
            <a:noAutofit/>
          </a:bodyPr>
          <a:lstStyle/>
          <a:p>
            <a:pPr algn="l"/>
            <a:r>
              <a:rPr sz="1400" b="1">
                <a:solidFill>
                  <a:srgbClr val="FFFFFF"/>
                </a:solidFill>
                <a:latin typeface="Amazon Ember"/>
              </a:rPr>
              <a:t>Solution</a:t>
            </a:r>
          </a:p>
        </p:txBody>
      </p:sp>
      <p:cxnSp>
        <p:nvCxnSpPr>
          <p:cNvPr id="9" name="Connector 8"/>
          <p:cNvCxnSpPr/>
          <p:nvPr/>
        </p:nvCxnSpPr>
        <p:spPr>
          <a:xfrm>
            <a:off x="5238750" y="2190750"/>
            <a:ext cx="0" cy="215900"/>
          </a:xfrm>
          <a:prstGeom prst="line">
            <a:avLst/>
          </a:prstGeom>
          <a:ln w="25400">
            <a:solidFill>
              <a:srgbClr val="8FA7C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397500" y="2190750"/>
            <a:ext cx="2032000" cy="228600"/>
          </a:xfrm>
          <a:prstGeom prst="rect">
            <a:avLst/>
          </a:prstGeom>
          <a:noFill/>
          <a:ln>
            <a:noFill/>
          </a:ln>
        </p:spPr>
        <p:txBody>
          <a:bodyPr wrap="square" tIns="0">
            <a:noAutofit/>
          </a:bodyPr>
          <a:lstStyle/>
          <a:p>
            <a:pPr algn="l"/>
            <a:r>
              <a:rPr sz="1400" b="1">
                <a:solidFill>
                  <a:srgbClr val="FFFFFF"/>
                </a:solidFill>
                <a:latin typeface="Amazon Ember"/>
              </a:rPr>
              <a:t>Result</a:t>
            </a:r>
          </a:p>
        </p:txBody>
      </p:sp>
      <p:sp>
        <p:nvSpPr>
          <p:cNvPr id="11" name="TextBox 10"/>
          <p:cNvSpPr txBox="1"/>
          <p:nvPr/>
        </p:nvSpPr>
        <p:spPr>
          <a:xfrm>
            <a:off x="762000" y="2540000"/>
            <a:ext cx="2032000" cy="762000"/>
          </a:xfrm>
          <a:prstGeom prst="rect">
            <a:avLst/>
          </a:prstGeom>
          <a:noFill/>
          <a:ln>
            <a:noFill/>
          </a:ln>
        </p:spPr>
        <p:txBody>
          <a:bodyPr wrap="square" tIns="0">
            <a:noAutofit/>
          </a:bodyPr>
          <a:lstStyle/>
          <a:p>
            <a:pPr algn="l"/>
            <a:r>
              <a:rPr sz="1300">
                <a:solidFill>
                  <a:srgbClr val="8FA7C4"/>
                </a:solidFill>
                <a:latin typeface="Amazon Ember"/>
              </a:rPr>
              <a:t>Use case description goes here</a:t>
            </a:r>
          </a:p>
        </p:txBody>
      </p:sp>
      <p:cxnSp>
        <p:nvCxnSpPr>
          <p:cNvPr id="12" name="Connector 11"/>
          <p:cNvCxnSpPr/>
          <p:nvPr/>
        </p:nvCxnSpPr>
        <p:spPr>
          <a:xfrm>
            <a:off x="2921000" y="2540000"/>
            <a:ext cx="0" cy="635000"/>
          </a:xfrm>
          <a:prstGeom prst="line">
            <a:avLst/>
          </a:prstGeom>
          <a:ln w="6350">
            <a:solidFill>
              <a:srgbClr val="8FA7C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079750" y="2540000"/>
            <a:ext cx="2032000" cy="762000"/>
          </a:xfrm>
          <a:prstGeom prst="rect">
            <a:avLst/>
          </a:prstGeom>
          <a:noFill/>
          <a:ln>
            <a:noFill/>
          </a:ln>
        </p:spPr>
        <p:txBody>
          <a:bodyPr wrap="square" tIns="0">
            <a:noAutofit/>
          </a:bodyPr>
          <a:lstStyle/>
          <a:p>
            <a:pPr algn="l"/>
            <a:r>
              <a:rPr sz="1300">
                <a:solidFill>
                  <a:srgbClr val="8FA7C4"/>
                </a:solidFill>
                <a:latin typeface="Amazon Ember"/>
              </a:rPr>
              <a:t>Solution description</a:t>
            </a:r>
          </a:p>
        </p:txBody>
      </p:sp>
      <p:cxnSp>
        <p:nvCxnSpPr>
          <p:cNvPr id="14" name="Connector 13"/>
          <p:cNvCxnSpPr/>
          <p:nvPr/>
        </p:nvCxnSpPr>
        <p:spPr>
          <a:xfrm>
            <a:off x="5238750" y="2540000"/>
            <a:ext cx="0" cy="635000"/>
          </a:xfrm>
          <a:prstGeom prst="line">
            <a:avLst/>
          </a:prstGeom>
          <a:ln w="6350">
            <a:solidFill>
              <a:srgbClr val="8FA7C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97500" y="2540000"/>
            <a:ext cx="2032000" cy="762000"/>
          </a:xfrm>
          <a:prstGeom prst="rect">
            <a:avLst/>
          </a:prstGeom>
          <a:noFill/>
          <a:ln>
            <a:noFill/>
          </a:ln>
        </p:spPr>
        <p:txBody>
          <a:bodyPr wrap="square" tIns="0">
            <a:noAutofit/>
          </a:bodyPr>
          <a:lstStyle/>
          <a:p>
            <a:pPr algn="l"/>
            <a:r>
              <a:rPr sz="1300">
                <a:solidFill>
                  <a:srgbClr val="8FA7C4"/>
                </a:solidFill>
                <a:latin typeface="Amazon Ember"/>
              </a:rPr>
              <a:t>Results and outcomes description</a:t>
            </a:r>
          </a:p>
        </p:txBody>
      </p:sp>
      <p:sp>
        <p:nvSpPr>
          <p:cNvPr id="16" name="Rounded Rectangle 15"/>
          <p:cNvSpPr/>
          <p:nvPr/>
        </p:nvSpPr>
        <p:spPr>
          <a:xfrm>
            <a:off x="609600" y="3556000"/>
            <a:ext cx="10972800" cy="1079500"/>
          </a:xfrm>
          <a:prstGeom prst="roundRect">
            <a:avLst>
              <a:gd name="adj" fmla="val 6000"/>
            </a:avLst>
          </a:prstGeom>
          <a:solidFill>
            <a:srgbClr val="FFFFFF">
              <a:alpha val="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500" y="3651250"/>
            <a:ext cx="635000" cy="254000"/>
          </a:xfrm>
          <a:prstGeom prst="rect">
            <a:avLst/>
          </a:prstGeom>
          <a:noFill/>
          <a:ln>
            <a:noFill/>
          </a:ln>
        </p:spPr>
        <p:txBody>
          <a:bodyPr wrap="square" tIns="0">
            <a:noAutofit/>
          </a:bodyPr>
          <a:lstStyle/>
          <a:p>
            <a:pPr algn="l"/>
            <a:r>
              <a:rPr sz="2800" b="1">
                <a:solidFill>
                  <a:srgbClr val="FF9900"/>
                </a:solidFill>
                <a:latin typeface="Amazon Ember"/>
              </a:rPr>
              <a:t>❝</a:t>
            </a:r>
          </a:p>
        </p:txBody>
      </p:sp>
      <p:sp>
        <p:nvSpPr>
          <p:cNvPr id="18" name="TextBox 17"/>
          <p:cNvSpPr txBox="1"/>
          <p:nvPr/>
        </p:nvSpPr>
        <p:spPr>
          <a:xfrm>
            <a:off x="825500" y="3905250"/>
            <a:ext cx="10541000" cy="571500"/>
          </a:xfrm>
          <a:prstGeom prst="rect">
            <a:avLst/>
          </a:prstGeom>
          <a:noFill/>
          <a:ln>
            <a:noFill/>
          </a:ln>
        </p:spPr>
        <p:txBody>
          <a:bodyPr wrap="square" tIns="0">
            <a:noAutofit/>
          </a:bodyPr>
          <a:lstStyle/>
          <a:p>
            <a:pPr algn="l"/>
            <a:r>
              <a:rPr sz="1400" i="1">
                <a:solidFill>
                  <a:srgbClr val="FFFFFF"/>
                </a:solidFill>
                <a:latin typeface="Amazon Ember"/>
              </a:rPr>
              <a:t>"Customer testimonial goes here. </a:t>
            </a:r>
            <a:r>
              <a:rPr sz="1400" i="1">
                <a:solidFill>
                  <a:srgbClr val="42A5F5"/>
                </a:solidFill>
                <a:latin typeface="Amazon Ember"/>
              </a:rPr>
              <a:t>Key phrase highlighted in accent color</a:t>
            </a:r>
            <a:r>
              <a:rPr sz="1400" i="1">
                <a:solidFill>
                  <a:srgbClr val="FFFFFF"/>
                </a:solidFill>
                <a:latin typeface="Amazon Ember"/>
              </a:rPr>
              <a:t> to draw attention to the core message. "</a:t>
            </a:r>
          </a:p>
          <a:p>
            <a:pPr algn="l"/>
            <a:r>
              <a:rPr sz="1400" i="1">
                <a:solidFill>
                  <a:srgbClr val="FFFFFF"/>
                </a:solidFill>
                <a:latin typeface="Amazon Ember"/>
              </a:rPr>
              <a:t>– Name, Title, Department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17500"/>
            <a:ext cx="4445000" cy="508000"/>
          </a:xfrm>
          <a:prstGeom prst="rect">
            <a:avLst/>
          </a:prstGeom>
          <a:noFill/>
          <a:ln>
            <a:noFill/>
          </a:ln>
        </p:spPr>
        <p:txBody>
          <a:bodyPr wrap="square" tIns="0">
            <a:noAutofit/>
          </a:bodyPr>
          <a:lstStyle/>
          <a:p>
            <a:pPr algn="l"/>
            <a:r>
              <a:rPr sz="3200" b="1">
                <a:solidFill>
                  <a:srgbClr val="FFFFFF"/>
                </a:solidFill>
                <a:latin typeface="Amazon Ember"/>
              </a:rPr>
              <a:t>Title</a:t>
            </a:r>
          </a:p>
        </p:txBody>
      </p:sp>
      <p:sp>
        <p:nvSpPr>
          <p:cNvPr id="3" name="TextBox 2"/>
          <p:cNvSpPr txBox="1"/>
          <p:nvPr/>
        </p:nvSpPr>
        <p:spPr>
          <a:xfrm>
            <a:off x="508000" y="762000"/>
            <a:ext cx="4445000" cy="285750"/>
          </a:xfrm>
          <a:prstGeom prst="rect">
            <a:avLst/>
          </a:prstGeom>
          <a:noFill/>
          <a:ln>
            <a:noFill/>
          </a:ln>
        </p:spPr>
        <p:txBody>
          <a:bodyPr wrap="square" tIns="0">
            <a:noAutofit/>
          </a:bodyPr>
          <a:lstStyle/>
          <a:p>
            <a:pPr algn="l"/>
            <a:r>
              <a:rPr sz="1600">
                <a:solidFill>
                  <a:srgbClr val="8FA7C4"/>
                </a:solidFill>
                <a:latin typeface="Amazon Ember"/>
              </a:rPr>
              <a:t>Subtitle</a:t>
            </a:r>
          </a:p>
        </p:txBody>
      </p:sp>
      <p:sp>
        <p:nvSpPr>
          <p:cNvPr id="4" name="Rectangle 3"/>
          <p:cNvSpPr/>
          <p:nvPr/>
        </p:nvSpPr>
        <p:spPr>
          <a:xfrm>
            <a:off x="368300" y="5130800"/>
            <a:ext cx="6496050" cy="1346200"/>
          </a:xfrm>
          <a:custGeom>
            <a:avLst/>
            <a:gdLst/>
            <a:ahLst/>
            <a:cxnLst/>
            <a:rect l="l" t="t" r="r" b="b"/>
            <a:pathLst>
              <a:path w="6496050" h="1346200">
                <a:moveTo>
                  <a:pt x="1536700" y="1092200"/>
                </a:moveTo>
                <a:cubicBezTo>
                  <a:pt x="3473450" y="1092200"/>
                  <a:pt x="5010150" y="641350"/>
                  <a:pt x="6178550" y="0"/>
                </a:cubicBezTo>
                <a:lnTo>
                  <a:pt x="0" y="0"/>
                </a:lnTo>
                <a:lnTo>
                  <a:pt x="0" y="1346200"/>
                </a:lnTo>
                <a:close/>
              </a:path>
            </a:pathLst>
          </a:custGeom>
          <a:solidFill>
            <a:srgbClr val="FF9900">
              <a:alpha val="10000"/>
            </a:srgbClr>
          </a:solidFill>
          <a:ln w="12700">
            <a:noFill/>
          </a:ln>
        </p:spPr>
        <p:txBody>
          <a:bodyPr rtlCol="0" anchor="ctr"/>
          <a:lstStyle/>
          <a:p>
            <a:pPr algn="ctr"/>
            <a:endParaRPr/>
          </a:p>
        </p:txBody>
      </p:sp>
      <p:pic>
        <p:nvPicPr>
          <p:cNvPr id="5" name="SVG 5"/>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2300" y="5461000"/>
            <a:ext cx="355600" cy="355600"/>
          </a:xfrm>
          <a:prstGeom prst="rect">
            <a:avLst/>
          </a:prstGeom>
        </p:spPr>
      </p:pic>
      <p:sp>
        <p:nvSpPr>
          <p:cNvPr id="6" name="TextBox 5"/>
          <p:cNvSpPr txBox="1"/>
          <p:nvPr/>
        </p:nvSpPr>
        <p:spPr>
          <a:xfrm>
            <a:off x="1079500" y="5397500"/>
            <a:ext cx="2794000" cy="355600"/>
          </a:xfrm>
          <a:prstGeom prst="rect">
            <a:avLst/>
          </a:prstGeom>
          <a:noFill/>
          <a:ln>
            <a:noFill/>
          </a:ln>
        </p:spPr>
        <p:txBody>
          <a:bodyPr wrap="square" tIns="0">
            <a:noAutofit/>
          </a:bodyPr>
          <a:lstStyle/>
          <a:p>
            <a:pPr algn="l"/>
            <a:r>
              <a:rPr sz="2000" b="1">
                <a:solidFill>
                  <a:srgbClr val="FF9900"/>
                </a:solidFill>
                <a:latin typeface="Amazon Ember"/>
              </a:rPr>
              <a:t>Lv.1</a:t>
            </a:r>
            <a:r>
              <a:rPr sz="2000">
                <a:solidFill>
                  <a:srgbClr val="FFFFFF"/>
                </a:solidFill>
                <a:latin typeface="Amazon Ember"/>
              </a:rPr>
              <a:t> </a:t>
            </a:r>
            <a:r>
              <a:rPr sz="2000" b="1">
                <a:solidFill>
                  <a:srgbClr val="FFFFFF"/>
                </a:solidFill>
                <a:latin typeface="Amazon Ember"/>
              </a:rPr>
              <a:t>Label</a:t>
            </a:r>
          </a:p>
        </p:txBody>
      </p:sp>
      <p:sp>
        <p:nvSpPr>
          <p:cNvPr id="7" name="TextBox 6"/>
          <p:cNvSpPr txBox="1"/>
          <p:nvPr/>
        </p:nvSpPr>
        <p:spPr>
          <a:xfrm>
            <a:off x="1079500" y="5753100"/>
            <a:ext cx="2794000" cy="508000"/>
          </a:xfrm>
          <a:prstGeom prst="rect">
            <a:avLst/>
          </a:prstGeom>
          <a:noFill/>
          <a:ln>
            <a:noFill/>
          </a:ln>
        </p:spPr>
        <p:txBody>
          <a:bodyPr wrap="square" tIns="0">
            <a:noAutofit/>
          </a:bodyPr>
          <a:lstStyle/>
          <a:p>
            <a:pPr algn="l"/>
            <a:r>
              <a:rPr sz="1300">
                <a:solidFill>
                  <a:srgbClr val="8FA7C4"/>
                </a:solidFill>
                <a:latin typeface="Amazon Ember"/>
              </a:rPr>
              <a:t>Description line 1.</a:t>
            </a:r>
          </a:p>
          <a:p>
            <a:pPr algn="l"/>
            <a:r>
              <a:rPr sz="1300">
                <a:solidFill>
                  <a:srgbClr val="8FA7C4"/>
                </a:solidFill>
                <a:latin typeface="Amazon Ember"/>
              </a:rPr>
              <a:t>Description line 2.</a:t>
            </a:r>
          </a:p>
        </p:txBody>
      </p:sp>
      <p:sp>
        <p:nvSpPr>
          <p:cNvPr id="8" name="Rectangle 7"/>
          <p:cNvSpPr/>
          <p:nvPr/>
        </p:nvSpPr>
        <p:spPr>
          <a:xfrm>
            <a:off x="368300" y="3784600"/>
            <a:ext cx="8248650" cy="1346200"/>
          </a:xfrm>
          <a:custGeom>
            <a:avLst/>
            <a:gdLst/>
            <a:ahLst/>
            <a:cxnLst/>
            <a:rect l="l" t="t" r="r" b="b"/>
            <a:pathLst>
              <a:path w="8248650" h="1346200">
                <a:moveTo>
                  <a:pt x="6178550" y="1346200"/>
                </a:moveTo>
                <a:cubicBezTo>
                  <a:pt x="6896100" y="952500"/>
                  <a:pt x="7480300" y="482600"/>
                  <a:pt x="7931150" y="0"/>
                </a:cubicBezTo>
                <a:lnTo>
                  <a:pt x="0" y="0"/>
                </a:lnTo>
                <a:lnTo>
                  <a:pt x="0" y="1346200"/>
                </a:lnTo>
                <a:close/>
              </a:path>
            </a:pathLst>
          </a:custGeom>
          <a:solidFill>
            <a:srgbClr val="00E500">
              <a:alpha val="10000"/>
            </a:srgbClr>
          </a:solidFill>
          <a:ln w="12700">
            <a:noFill/>
          </a:ln>
        </p:spPr>
        <p:txBody>
          <a:bodyPr rtlCol="0" anchor="ctr"/>
          <a:lstStyle/>
          <a:p>
            <a:pPr algn="ctr"/>
            <a:endParaRPr/>
          </a:p>
        </p:txBody>
      </p:sp>
      <p:pic>
        <p:nvPicPr>
          <p:cNvPr id="9" name="SVG 9"/>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2300" y="4114800"/>
            <a:ext cx="355600" cy="355600"/>
          </a:xfrm>
          <a:prstGeom prst="rect">
            <a:avLst/>
          </a:prstGeom>
        </p:spPr>
      </p:pic>
      <p:sp>
        <p:nvSpPr>
          <p:cNvPr id="10" name="TextBox 9"/>
          <p:cNvSpPr txBox="1"/>
          <p:nvPr/>
        </p:nvSpPr>
        <p:spPr>
          <a:xfrm>
            <a:off x="1079500" y="4051300"/>
            <a:ext cx="3810000" cy="355600"/>
          </a:xfrm>
          <a:prstGeom prst="rect">
            <a:avLst/>
          </a:prstGeom>
          <a:noFill/>
          <a:ln>
            <a:noFill/>
          </a:ln>
        </p:spPr>
        <p:txBody>
          <a:bodyPr wrap="square" tIns="0">
            <a:noAutofit/>
          </a:bodyPr>
          <a:lstStyle/>
          <a:p>
            <a:pPr algn="l"/>
            <a:r>
              <a:rPr sz="2000" b="1">
                <a:solidFill>
                  <a:srgbClr val="00E500"/>
                </a:solidFill>
                <a:latin typeface="Amazon Ember"/>
              </a:rPr>
              <a:t>Lv.2</a:t>
            </a:r>
            <a:r>
              <a:rPr sz="2000">
                <a:solidFill>
                  <a:srgbClr val="FFFFFF"/>
                </a:solidFill>
                <a:latin typeface="Amazon Ember"/>
              </a:rPr>
              <a:t> </a:t>
            </a:r>
            <a:r>
              <a:rPr sz="2000" b="1">
                <a:solidFill>
                  <a:srgbClr val="FFFFFF"/>
                </a:solidFill>
                <a:latin typeface="Amazon Ember"/>
              </a:rPr>
              <a:t>Label</a:t>
            </a:r>
          </a:p>
        </p:txBody>
      </p:sp>
      <p:sp>
        <p:nvSpPr>
          <p:cNvPr id="11" name="TextBox 10"/>
          <p:cNvSpPr txBox="1"/>
          <p:nvPr/>
        </p:nvSpPr>
        <p:spPr>
          <a:xfrm>
            <a:off x="1079500" y="4406900"/>
            <a:ext cx="3810000" cy="508000"/>
          </a:xfrm>
          <a:prstGeom prst="rect">
            <a:avLst/>
          </a:prstGeom>
          <a:noFill/>
          <a:ln>
            <a:noFill/>
          </a:ln>
        </p:spPr>
        <p:txBody>
          <a:bodyPr wrap="square" tIns="0">
            <a:noAutofit/>
          </a:bodyPr>
          <a:lstStyle/>
          <a:p>
            <a:pPr algn="l"/>
            <a:r>
              <a:rPr sz="1300">
                <a:solidFill>
                  <a:srgbClr val="8FA7C4"/>
                </a:solidFill>
                <a:latin typeface="Amazon Ember"/>
              </a:rPr>
              <a:t>Description line 1.</a:t>
            </a:r>
          </a:p>
          <a:p>
            <a:pPr algn="l"/>
            <a:r>
              <a:rPr sz="1300">
                <a:solidFill>
                  <a:srgbClr val="8FA7C4"/>
                </a:solidFill>
                <a:latin typeface="Amazon Ember"/>
              </a:rPr>
              <a:t>Description line 2.</a:t>
            </a:r>
          </a:p>
        </p:txBody>
      </p:sp>
      <p:sp>
        <p:nvSpPr>
          <p:cNvPr id="12" name="Rectangle 11"/>
          <p:cNvSpPr/>
          <p:nvPr/>
        </p:nvSpPr>
        <p:spPr>
          <a:xfrm>
            <a:off x="368300" y="2444750"/>
            <a:ext cx="9182100" cy="1339850"/>
          </a:xfrm>
          <a:custGeom>
            <a:avLst/>
            <a:gdLst/>
            <a:ahLst/>
            <a:cxnLst/>
            <a:rect l="l" t="t" r="r" b="b"/>
            <a:pathLst>
              <a:path w="9182100" h="1339850">
                <a:moveTo>
                  <a:pt x="7931150" y="1339850"/>
                </a:moveTo>
                <a:cubicBezTo>
                  <a:pt x="8356600" y="889000"/>
                  <a:pt x="8661400" y="425450"/>
                  <a:pt x="8864600" y="0"/>
                </a:cubicBezTo>
                <a:lnTo>
                  <a:pt x="0" y="0"/>
                </a:lnTo>
                <a:lnTo>
                  <a:pt x="0" y="1339850"/>
                </a:lnTo>
                <a:close/>
              </a:path>
            </a:pathLst>
          </a:custGeom>
          <a:solidFill>
            <a:srgbClr val="41B3FF">
              <a:alpha val="10000"/>
            </a:srgbClr>
          </a:solidFill>
          <a:ln w="12700">
            <a:noFill/>
          </a:ln>
        </p:spPr>
        <p:txBody>
          <a:bodyPr rtlCol="0" anchor="ctr"/>
          <a:lstStyle/>
          <a:p>
            <a:pPr algn="ctr"/>
            <a:endParaRPr/>
          </a:p>
        </p:txBody>
      </p:sp>
      <p:pic>
        <p:nvPicPr>
          <p:cNvPr id="13" name="SVG 13"/>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300" y="2781300"/>
            <a:ext cx="355600" cy="355600"/>
          </a:xfrm>
          <a:prstGeom prst="rect">
            <a:avLst/>
          </a:prstGeom>
        </p:spPr>
      </p:pic>
      <p:sp>
        <p:nvSpPr>
          <p:cNvPr id="14" name="TextBox 13"/>
          <p:cNvSpPr txBox="1"/>
          <p:nvPr/>
        </p:nvSpPr>
        <p:spPr>
          <a:xfrm>
            <a:off x="1079500" y="2717800"/>
            <a:ext cx="5080000" cy="355600"/>
          </a:xfrm>
          <a:prstGeom prst="rect">
            <a:avLst/>
          </a:prstGeom>
          <a:noFill/>
          <a:ln>
            <a:noFill/>
          </a:ln>
        </p:spPr>
        <p:txBody>
          <a:bodyPr wrap="square" tIns="0">
            <a:noAutofit/>
          </a:bodyPr>
          <a:lstStyle/>
          <a:p>
            <a:pPr algn="l"/>
            <a:r>
              <a:rPr sz="2000" b="1">
                <a:solidFill>
                  <a:srgbClr val="41B3FF"/>
                </a:solidFill>
                <a:latin typeface="Amazon Ember"/>
              </a:rPr>
              <a:t>Lv.3</a:t>
            </a:r>
            <a:r>
              <a:rPr sz="2000">
                <a:solidFill>
                  <a:srgbClr val="FFFFFF"/>
                </a:solidFill>
                <a:latin typeface="Amazon Ember"/>
              </a:rPr>
              <a:t> </a:t>
            </a:r>
            <a:r>
              <a:rPr sz="2000" b="1">
                <a:solidFill>
                  <a:srgbClr val="FFFFFF"/>
                </a:solidFill>
                <a:latin typeface="Amazon Ember"/>
              </a:rPr>
              <a:t>Label</a:t>
            </a:r>
          </a:p>
        </p:txBody>
      </p:sp>
      <p:sp>
        <p:nvSpPr>
          <p:cNvPr id="15" name="TextBox 14"/>
          <p:cNvSpPr txBox="1"/>
          <p:nvPr/>
        </p:nvSpPr>
        <p:spPr>
          <a:xfrm>
            <a:off x="1079500" y="3073400"/>
            <a:ext cx="5080000" cy="508000"/>
          </a:xfrm>
          <a:prstGeom prst="rect">
            <a:avLst/>
          </a:prstGeom>
          <a:noFill/>
          <a:ln>
            <a:noFill/>
          </a:ln>
        </p:spPr>
        <p:txBody>
          <a:bodyPr wrap="square" tIns="0">
            <a:noAutofit/>
          </a:bodyPr>
          <a:lstStyle/>
          <a:p>
            <a:pPr algn="l"/>
            <a:r>
              <a:rPr sz="1300">
                <a:solidFill>
                  <a:srgbClr val="8FA7C4"/>
                </a:solidFill>
                <a:latin typeface="Amazon Ember"/>
              </a:rPr>
              <a:t>Description line 1.</a:t>
            </a:r>
          </a:p>
          <a:p>
            <a:pPr algn="l"/>
            <a:r>
              <a:rPr sz="1300">
                <a:solidFill>
                  <a:srgbClr val="8FA7C4"/>
                </a:solidFill>
                <a:latin typeface="Amazon Ember"/>
              </a:rPr>
              <a:t>Description line 2.</a:t>
            </a:r>
          </a:p>
        </p:txBody>
      </p:sp>
      <p:sp>
        <p:nvSpPr>
          <p:cNvPr id="16" name="Rectangle 15"/>
          <p:cNvSpPr/>
          <p:nvPr/>
        </p:nvSpPr>
        <p:spPr>
          <a:xfrm>
            <a:off x="368300" y="1098550"/>
            <a:ext cx="9474200" cy="1346200"/>
          </a:xfrm>
          <a:custGeom>
            <a:avLst/>
            <a:gdLst/>
            <a:ahLst/>
            <a:cxnLst/>
            <a:rect l="l" t="t" r="r" b="b"/>
            <a:pathLst>
              <a:path w="9474200" h="1346200">
                <a:moveTo>
                  <a:pt x="8864600" y="1346200"/>
                </a:moveTo>
                <a:cubicBezTo>
                  <a:pt x="9061450" y="933450"/>
                  <a:pt x="9156700" y="552450"/>
                  <a:pt x="9156700" y="254000"/>
                </a:cubicBezTo>
                <a:lnTo>
                  <a:pt x="0" y="0"/>
                </a:lnTo>
                <a:lnTo>
                  <a:pt x="0" y="1346200"/>
                </a:lnTo>
                <a:close/>
              </a:path>
            </a:pathLst>
          </a:custGeom>
          <a:solidFill>
            <a:srgbClr val="AD5CFF">
              <a:alpha val="12000"/>
            </a:srgbClr>
          </a:solidFill>
          <a:ln w="12700">
            <a:noFill/>
          </a:ln>
        </p:spPr>
        <p:txBody>
          <a:bodyPr rtlCol="0" anchor="ctr"/>
          <a:lstStyle/>
          <a:p>
            <a:pPr algn="ctr"/>
            <a:endParaRPr/>
          </a:p>
        </p:txBody>
      </p:sp>
      <p:pic>
        <p:nvPicPr>
          <p:cNvPr id="17" name="SVG 17"/>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2300" y="1435100"/>
            <a:ext cx="355600" cy="355600"/>
          </a:xfrm>
          <a:prstGeom prst="rect">
            <a:avLst/>
          </a:prstGeom>
        </p:spPr>
      </p:pic>
      <p:sp>
        <p:nvSpPr>
          <p:cNvPr id="18" name="TextBox 17"/>
          <p:cNvSpPr txBox="1"/>
          <p:nvPr/>
        </p:nvSpPr>
        <p:spPr>
          <a:xfrm>
            <a:off x="1079500" y="1371600"/>
            <a:ext cx="6350000" cy="355600"/>
          </a:xfrm>
          <a:prstGeom prst="rect">
            <a:avLst/>
          </a:prstGeom>
          <a:noFill/>
          <a:ln>
            <a:noFill/>
          </a:ln>
        </p:spPr>
        <p:txBody>
          <a:bodyPr wrap="square" tIns="0">
            <a:noAutofit/>
          </a:bodyPr>
          <a:lstStyle/>
          <a:p>
            <a:pPr algn="l"/>
            <a:r>
              <a:rPr sz="2000" b="1">
                <a:solidFill>
                  <a:srgbClr val="AD5CFF"/>
                </a:solidFill>
                <a:latin typeface="Amazon Ember"/>
              </a:rPr>
              <a:t>Lv.4</a:t>
            </a:r>
            <a:r>
              <a:rPr sz="2000">
                <a:solidFill>
                  <a:srgbClr val="FFFFFF"/>
                </a:solidFill>
                <a:latin typeface="Amazon Ember"/>
              </a:rPr>
              <a:t> </a:t>
            </a:r>
            <a:r>
              <a:rPr sz="2000" b="1">
                <a:solidFill>
                  <a:srgbClr val="FFFFFF"/>
                </a:solidFill>
                <a:latin typeface="Amazon Ember"/>
              </a:rPr>
              <a:t>Label</a:t>
            </a:r>
          </a:p>
        </p:txBody>
      </p:sp>
      <p:sp>
        <p:nvSpPr>
          <p:cNvPr id="19" name="TextBox 18"/>
          <p:cNvSpPr txBox="1"/>
          <p:nvPr/>
        </p:nvSpPr>
        <p:spPr>
          <a:xfrm>
            <a:off x="1079500" y="1727200"/>
            <a:ext cx="6350000" cy="508000"/>
          </a:xfrm>
          <a:prstGeom prst="rect">
            <a:avLst/>
          </a:prstGeom>
          <a:noFill/>
          <a:ln>
            <a:noFill/>
          </a:ln>
        </p:spPr>
        <p:txBody>
          <a:bodyPr wrap="square" tIns="0">
            <a:noAutofit/>
          </a:bodyPr>
          <a:lstStyle/>
          <a:p>
            <a:pPr algn="l"/>
            <a:r>
              <a:rPr sz="1300">
                <a:solidFill>
                  <a:srgbClr val="8FA7C4"/>
                </a:solidFill>
                <a:latin typeface="Amazon Ember"/>
              </a:rPr>
              <a:t>Description line 1.</a:t>
            </a:r>
          </a:p>
          <a:p>
            <a:pPr algn="l"/>
            <a:r>
              <a:rPr sz="1300">
                <a:solidFill>
                  <a:srgbClr val="8FA7C4"/>
                </a:solidFill>
                <a:latin typeface="Amazon Ember"/>
              </a:rPr>
              <a:t>Description line 2.</a:t>
            </a:r>
          </a:p>
        </p:txBody>
      </p:sp>
      <p:sp>
        <p:nvSpPr>
          <p:cNvPr id="20" name="Rectangle 19"/>
          <p:cNvSpPr/>
          <p:nvPr/>
        </p:nvSpPr>
        <p:spPr>
          <a:xfrm>
            <a:off x="368300" y="1098550"/>
            <a:ext cx="11455400" cy="5378450"/>
          </a:xfrm>
          <a:custGeom>
            <a:avLst/>
            <a:gdLst/>
            <a:ahLst/>
            <a:cxnLst/>
            <a:rect l="l" t="t" r="r" b="b"/>
            <a:pathLst>
              <a:path w="11455400" h="5378450" fill="none">
                <a:moveTo>
                  <a:pt x="1536700" y="5124450"/>
                </a:moveTo>
                <a:cubicBezTo>
                  <a:pt x="6870700" y="5124450"/>
                  <a:pt x="9156700" y="1714500"/>
                  <a:pt x="9156700" y="254000"/>
                </a:cubicBezTo>
              </a:path>
            </a:pathLst>
          </a:custGeom>
          <a:ln w="50800" cap="flat">
            <a:gradFill rotWithShape="1">
              <a:gsLst>
                <a:gs pos="0">
                  <a:srgbClr val="FF9900"/>
                </a:gs>
                <a:gs pos="35000">
                  <a:srgbClr val="00E500"/>
                </a:gs>
                <a:gs pos="65000">
                  <a:srgbClr val="41B3FF"/>
                </a:gs>
                <a:gs pos="100000">
                  <a:srgbClr val="AD5CFF"/>
                </a:gs>
              </a:gsLst>
              <a:lin ang="16200000" scaled="1"/>
            </a:gradFill>
          </a:ln>
        </p:spPr>
        <p:txBody>
          <a:bodyPr rtlCol="0" anchor="ctr"/>
          <a:lstStyle/>
          <a:p>
            <a:pPr algn="ctr"/>
            <a:endParaRPr/>
          </a:p>
        </p:txBody>
      </p:sp>
      <p:cxnSp>
        <p:nvCxnSpPr>
          <p:cNvPr id="21" name="Connector 20"/>
          <p:cNvCxnSpPr/>
          <p:nvPr/>
        </p:nvCxnSpPr>
        <p:spPr>
          <a:xfrm>
            <a:off x="368300" y="2444750"/>
            <a:ext cx="11455400" cy="0"/>
          </a:xfrm>
          <a:prstGeom prst="line">
            <a:avLst/>
          </a:prstGeom>
          <a:ln w="6350">
            <a:solidFill>
              <a:srgbClr val="FFFFFF"/>
            </a:solidFill>
            <a:prstDash val="sysDot"/>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8300" y="3784600"/>
            <a:ext cx="11455400" cy="0"/>
          </a:xfrm>
          <a:prstGeom prst="line">
            <a:avLst/>
          </a:prstGeom>
          <a:ln w="6350">
            <a:solidFill>
              <a:srgbClr val="FFFFFF"/>
            </a:solidFill>
            <a:prstDash val="sysDot"/>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8300" y="5130800"/>
            <a:ext cx="11455400" cy="0"/>
          </a:xfrm>
          <a:prstGeom prst="line">
            <a:avLst/>
          </a:prstGeom>
          <a:ln w="6350">
            <a:solidFill>
              <a:srgbClr val="FFFFFF"/>
            </a:solidFill>
            <a:prstDash val="sysDot"/>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315200" y="3124200"/>
            <a:ext cx="609600" cy="609600"/>
          </a:xfrm>
          <a:prstGeom prst="ellipse">
            <a:avLst/>
          </a:prstGeom>
          <a:noFill/>
          <a:ln w="254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flipV="1">
            <a:off x="7620000" y="1651000"/>
            <a:ext cx="0" cy="1778000"/>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7416800" y="1447800"/>
            <a:ext cx="406400" cy="406400"/>
          </a:xfrm>
          <a:prstGeom prst="ellipse">
            <a:avLst/>
          </a:prstGeom>
          <a:noFill/>
          <a:ln w="19050">
            <a:solidFill>
              <a:srgbClr val="41B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12000" y="1054100"/>
            <a:ext cx="1016000" cy="317500"/>
          </a:xfrm>
          <a:prstGeom prst="rect">
            <a:avLst/>
          </a:prstGeom>
          <a:noFill/>
          <a:ln>
            <a:noFill/>
          </a:ln>
        </p:spPr>
        <p:txBody>
          <a:bodyPr wrap="square">
            <a:noAutofit/>
          </a:bodyPr>
          <a:lstStyle/>
          <a:p>
            <a:pPr algn="ctr"/>
            <a:r>
              <a:rPr sz="1400">
                <a:solidFill>
                  <a:srgbClr val="FFFFFF"/>
                </a:solidFill>
                <a:latin typeface="Amazon Ember"/>
              </a:rPr>
              <a:t>Feature 1</a:t>
            </a:r>
          </a:p>
        </p:txBody>
      </p:sp>
      <p:cxnSp>
        <p:nvCxnSpPr>
          <p:cNvPr id="6" name="Connector 5"/>
          <p:cNvCxnSpPr/>
          <p:nvPr/>
        </p:nvCxnSpPr>
        <p:spPr>
          <a:xfrm flipH="1" flipV="1">
            <a:off x="5930900" y="2876550"/>
            <a:ext cx="1689100" cy="552450"/>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727700" y="2673350"/>
            <a:ext cx="406400" cy="406400"/>
          </a:xfrm>
          <a:prstGeom prst="ellipse">
            <a:avLst/>
          </a:prstGeom>
          <a:noFill/>
          <a:ln w="19050">
            <a:solidFill>
              <a:srgbClr val="41B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35500" y="2717800"/>
            <a:ext cx="1016000" cy="317500"/>
          </a:xfrm>
          <a:prstGeom prst="rect">
            <a:avLst/>
          </a:prstGeom>
          <a:noFill/>
          <a:ln>
            <a:noFill/>
          </a:ln>
        </p:spPr>
        <p:txBody>
          <a:bodyPr wrap="square">
            <a:noAutofit/>
          </a:bodyPr>
          <a:lstStyle/>
          <a:p>
            <a:pPr algn="r"/>
            <a:r>
              <a:rPr sz="1400">
                <a:solidFill>
                  <a:srgbClr val="FFFFFF"/>
                </a:solidFill>
                <a:latin typeface="Amazon Ember"/>
              </a:rPr>
              <a:t>Feature 2</a:t>
            </a:r>
          </a:p>
        </p:txBody>
      </p:sp>
      <p:cxnSp>
        <p:nvCxnSpPr>
          <p:cNvPr id="9" name="Connector 8"/>
          <p:cNvCxnSpPr/>
          <p:nvPr/>
        </p:nvCxnSpPr>
        <p:spPr>
          <a:xfrm flipH="1">
            <a:off x="6572250" y="3429000"/>
            <a:ext cx="1047750" cy="1441450"/>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369050" y="4667250"/>
            <a:ext cx="406400" cy="406400"/>
          </a:xfrm>
          <a:prstGeom prst="ellipse">
            <a:avLst/>
          </a:prstGeom>
          <a:noFill/>
          <a:ln w="19050">
            <a:solidFill>
              <a:srgbClr val="41B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76850" y="4711700"/>
            <a:ext cx="1016000" cy="317500"/>
          </a:xfrm>
          <a:prstGeom prst="rect">
            <a:avLst/>
          </a:prstGeom>
          <a:noFill/>
          <a:ln>
            <a:noFill/>
          </a:ln>
        </p:spPr>
        <p:txBody>
          <a:bodyPr wrap="square">
            <a:noAutofit/>
          </a:bodyPr>
          <a:lstStyle/>
          <a:p>
            <a:pPr algn="r"/>
            <a:r>
              <a:rPr sz="1400">
                <a:solidFill>
                  <a:srgbClr val="FFFFFF"/>
                </a:solidFill>
                <a:latin typeface="Amazon Ember"/>
              </a:rPr>
              <a:t>Feature 3</a:t>
            </a:r>
          </a:p>
        </p:txBody>
      </p:sp>
      <p:cxnSp>
        <p:nvCxnSpPr>
          <p:cNvPr id="12" name="Connector 11"/>
          <p:cNvCxnSpPr/>
          <p:nvPr/>
        </p:nvCxnSpPr>
        <p:spPr>
          <a:xfrm>
            <a:off x="7620000" y="3429000"/>
            <a:ext cx="1047750" cy="1441450"/>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464550" y="4667250"/>
            <a:ext cx="406400" cy="406400"/>
          </a:xfrm>
          <a:prstGeom prst="ellipse">
            <a:avLst/>
          </a:prstGeom>
          <a:noFill/>
          <a:ln w="19050">
            <a:solidFill>
              <a:srgbClr val="41B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47150" y="4711700"/>
            <a:ext cx="1016000" cy="317500"/>
          </a:xfrm>
          <a:prstGeom prst="rect">
            <a:avLst/>
          </a:prstGeom>
          <a:noFill/>
          <a:ln>
            <a:noFill/>
          </a:ln>
        </p:spPr>
        <p:txBody>
          <a:bodyPr wrap="square">
            <a:noAutofit/>
          </a:bodyPr>
          <a:lstStyle/>
          <a:p>
            <a:pPr algn="l"/>
            <a:r>
              <a:rPr sz="1400">
                <a:solidFill>
                  <a:srgbClr val="FFFFFF"/>
                </a:solidFill>
                <a:latin typeface="Amazon Ember"/>
              </a:rPr>
              <a:t>Feature 4</a:t>
            </a:r>
          </a:p>
        </p:txBody>
      </p:sp>
      <p:cxnSp>
        <p:nvCxnSpPr>
          <p:cNvPr id="15" name="Connector 14"/>
          <p:cNvCxnSpPr/>
          <p:nvPr/>
        </p:nvCxnSpPr>
        <p:spPr>
          <a:xfrm flipV="1">
            <a:off x="7620000" y="2876550"/>
            <a:ext cx="1689100" cy="552450"/>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105900" y="2673350"/>
            <a:ext cx="406400" cy="406400"/>
          </a:xfrm>
          <a:prstGeom prst="ellipse">
            <a:avLst/>
          </a:prstGeom>
          <a:noFill/>
          <a:ln w="19050">
            <a:solidFill>
              <a:srgbClr val="41B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88500" y="2717800"/>
            <a:ext cx="1016000" cy="317500"/>
          </a:xfrm>
          <a:prstGeom prst="rect">
            <a:avLst/>
          </a:prstGeom>
          <a:noFill/>
          <a:ln>
            <a:noFill/>
          </a:ln>
        </p:spPr>
        <p:txBody>
          <a:bodyPr wrap="square">
            <a:noAutofit/>
          </a:bodyPr>
          <a:lstStyle/>
          <a:p>
            <a:pPr algn="l"/>
            <a:r>
              <a:rPr sz="1400">
                <a:solidFill>
                  <a:srgbClr val="FFFFFF"/>
                </a:solidFill>
                <a:latin typeface="Amazon Ember"/>
              </a:rPr>
              <a:t>Feature 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0" y="2895600"/>
            <a:ext cx="12192000" cy="0"/>
          </a:xfrm>
          <a:prstGeom prst="line">
            <a:avLst/>
          </a:prstGeom>
          <a:ln w="25400">
            <a:gradFill rotWithShape="1">
              <a:gsLst>
                <a:gs pos="0">
                  <a:srgbClr val="AD5CFF"/>
                </a:gs>
                <a:gs pos="16000">
                  <a:srgbClr val="AD5CFF"/>
                </a:gs>
                <a:gs pos="49000">
                  <a:srgbClr val="41B3FF"/>
                </a:gs>
                <a:gs pos="87000">
                  <a:srgbClr val="00E500"/>
                </a:gs>
                <a:gs pos="100000">
                  <a:srgbClr val="00E500"/>
                </a:gs>
              </a:gsLst>
              <a:lin ang="0" scaled="1"/>
            </a:gradFill>
          </a:ln>
        </p:spPr>
        <p:style>
          <a:lnRef idx="2">
            <a:schemeClr val="accent1"/>
          </a:lnRef>
          <a:fillRef idx="0">
            <a:schemeClr val="accent1"/>
          </a:fillRef>
          <a:effectRef idx="1">
            <a:schemeClr val="accent1"/>
          </a:effectRef>
          <a:fontRef idx="minor">
            <a:schemeClr val="tx1"/>
          </a:fontRef>
        </p:style>
      </p:cxnSp>
      <p:sp>
        <p:nvSpPr>
          <p:cNvPr id="3" name="Oval 2"/>
          <p:cNvSpPr/>
          <p:nvPr/>
        </p:nvSpPr>
        <p:spPr>
          <a:xfrm>
            <a:off x="1250950" y="2622550"/>
            <a:ext cx="546100" cy="546100"/>
          </a:xfrm>
          <a:prstGeom prst="ellipse">
            <a:avLst/>
          </a:prstGeom>
          <a:noFill/>
          <a:ln w="27940">
            <a:solidFill>
              <a:srgbClr val="AD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384300" y="2755900"/>
            <a:ext cx="273050" cy="273050"/>
          </a:xfrm>
          <a:prstGeom prst="ellipse">
            <a:avLst/>
          </a:prstGeom>
          <a:solidFill>
            <a:srgbClr val="AD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3562350" y="2622550"/>
            <a:ext cx="546100" cy="546100"/>
          </a:xfrm>
          <a:prstGeom prst="ellipse">
            <a:avLst/>
          </a:prstGeom>
          <a:noFill/>
          <a:ln w="27940">
            <a:solidFill>
              <a:srgbClr val="6B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702050" y="2755900"/>
            <a:ext cx="273050" cy="273050"/>
          </a:xfrm>
          <a:prstGeom prst="ellipse">
            <a:avLst/>
          </a:prstGeom>
          <a:solidFill>
            <a:srgbClr val="6B9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861050" y="2622550"/>
            <a:ext cx="546100" cy="546100"/>
          </a:xfrm>
          <a:prstGeom prst="ellipse">
            <a:avLst/>
          </a:prstGeom>
          <a:noFill/>
          <a:ln w="27940">
            <a:solidFill>
              <a:srgbClr val="41B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000750" y="2755900"/>
            <a:ext cx="273050" cy="273050"/>
          </a:xfrm>
          <a:prstGeom prst="ellipse">
            <a:avLst/>
          </a:prstGeom>
          <a:solidFill>
            <a:srgbClr val="41B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140700" y="2622550"/>
            <a:ext cx="546100" cy="546100"/>
          </a:xfrm>
          <a:prstGeom prst="ellipse">
            <a:avLst/>
          </a:prstGeom>
          <a:noFill/>
          <a:ln w="27940">
            <a:solidFill>
              <a:srgbClr val="29C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274050" y="2755900"/>
            <a:ext cx="273050" cy="273050"/>
          </a:xfrm>
          <a:prstGeom prst="ellipse">
            <a:avLst/>
          </a:prstGeom>
          <a:solidFill>
            <a:srgbClr val="29C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407650" y="2622550"/>
            <a:ext cx="546100" cy="546100"/>
          </a:xfrm>
          <a:prstGeom prst="ellipse">
            <a:avLst/>
          </a:prstGeom>
          <a:noFill/>
          <a:ln w="27940">
            <a:solidFill>
              <a:srgbClr val="00E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47350" y="2755900"/>
            <a:ext cx="273050" cy="273050"/>
          </a:xfrm>
          <a:prstGeom prst="ellipse">
            <a:avLst/>
          </a:prstGeom>
          <a:solidFill>
            <a:srgbClr val="00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6100" y="3321050"/>
            <a:ext cx="1968500" cy="1270000"/>
          </a:xfrm>
          <a:prstGeom prst="rect">
            <a:avLst/>
          </a:prstGeom>
          <a:noFill/>
          <a:ln>
            <a:noFill/>
          </a:ln>
        </p:spPr>
        <p:txBody>
          <a:bodyPr wrap="square">
            <a:noAutofit/>
          </a:bodyPr>
          <a:lstStyle/>
          <a:p>
            <a:pPr marL="0" indent="0" algn="ctr">
              <a:lnSpc>
                <a:spcPct val="100000"/>
              </a:lnSpc>
            </a:pPr>
            <a:r>
              <a:rPr sz="1600" b="0" cap="none" spc="0">
                <a:solidFill>
                  <a:srgbClr val="FFFFFF"/>
                </a:solidFill>
                <a:latin typeface="Amazon Ember"/>
              </a:rPr>
              <a:t>Step 1</a:t>
            </a:r>
          </a:p>
        </p:txBody>
      </p:sp>
      <p:sp>
        <p:nvSpPr>
          <p:cNvPr id="14" name="TextBox 13"/>
          <p:cNvSpPr txBox="1"/>
          <p:nvPr/>
        </p:nvSpPr>
        <p:spPr>
          <a:xfrm>
            <a:off x="2813050" y="3321050"/>
            <a:ext cx="1968500" cy="1079500"/>
          </a:xfrm>
          <a:prstGeom prst="rect">
            <a:avLst/>
          </a:prstGeom>
          <a:noFill/>
          <a:ln>
            <a:noFill/>
          </a:ln>
        </p:spPr>
        <p:txBody>
          <a:bodyPr wrap="square">
            <a:noAutofit/>
          </a:bodyPr>
          <a:lstStyle/>
          <a:p>
            <a:pPr marL="0" indent="0" algn="ctr">
              <a:lnSpc>
                <a:spcPct val="100000"/>
              </a:lnSpc>
            </a:pPr>
            <a:r>
              <a:rPr sz="1600" b="0" cap="none" spc="0">
                <a:solidFill>
                  <a:srgbClr val="FFFFFF"/>
                </a:solidFill>
                <a:latin typeface="Amazon Ember"/>
              </a:rPr>
              <a:t>Step 2</a:t>
            </a:r>
          </a:p>
        </p:txBody>
      </p:sp>
      <p:sp>
        <p:nvSpPr>
          <p:cNvPr id="15" name="TextBox 14"/>
          <p:cNvSpPr txBox="1"/>
          <p:nvPr/>
        </p:nvSpPr>
        <p:spPr>
          <a:xfrm>
            <a:off x="5080000" y="3321050"/>
            <a:ext cx="1968500" cy="1079500"/>
          </a:xfrm>
          <a:prstGeom prst="rect">
            <a:avLst/>
          </a:prstGeom>
          <a:noFill/>
          <a:ln>
            <a:noFill/>
          </a:ln>
        </p:spPr>
        <p:txBody>
          <a:bodyPr wrap="square">
            <a:noAutofit/>
          </a:bodyPr>
          <a:lstStyle/>
          <a:p>
            <a:pPr marL="0" indent="0" algn="ctr">
              <a:lnSpc>
                <a:spcPct val="100000"/>
              </a:lnSpc>
            </a:pPr>
            <a:r>
              <a:rPr sz="1600" b="0" cap="none" spc="0">
                <a:solidFill>
                  <a:srgbClr val="FFFFFF"/>
                </a:solidFill>
                <a:latin typeface="Amazon Ember"/>
              </a:rPr>
              <a:t>Step 3</a:t>
            </a:r>
          </a:p>
        </p:txBody>
      </p:sp>
      <p:sp>
        <p:nvSpPr>
          <p:cNvPr id="16" name="TextBox 15"/>
          <p:cNvSpPr txBox="1"/>
          <p:nvPr/>
        </p:nvSpPr>
        <p:spPr>
          <a:xfrm>
            <a:off x="7340600" y="3321050"/>
            <a:ext cx="1968500" cy="1079500"/>
          </a:xfrm>
          <a:prstGeom prst="rect">
            <a:avLst/>
          </a:prstGeom>
          <a:noFill/>
          <a:ln>
            <a:noFill/>
          </a:ln>
        </p:spPr>
        <p:txBody>
          <a:bodyPr wrap="square">
            <a:noAutofit/>
          </a:bodyPr>
          <a:lstStyle/>
          <a:p>
            <a:pPr marL="0" indent="0" algn="ctr">
              <a:lnSpc>
                <a:spcPct val="100000"/>
              </a:lnSpc>
            </a:pPr>
            <a:r>
              <a:rPr sz="1600" b="0" cap="none" spc="0">
                <a:solidFill>
                  <a:srgbClr val="FFFFFF"/>
                </a:solidFill>
                <a:latin typeface="Amazon Ember"/>
              </a:rPr>
              <a:t>Step 4</a:t>
            </a:r>
          </a:p>
        </p:txBody>
      </p:sp>
      <p:sp>
        <p:nvSpPr>
          <p:cNvPr id="17" name="TextBox 16"/>
          <p:cNvSpPr txBox="1"/>
          <p:nvPr/>
        </p:nvSpPr>
        <p:spPr>
          <a:xfrm>
            <a:off x="9607550" y="3321050"/>
            <a:ext cx="1968500" cy="1079500"/>
          </a:xfrm>
          <a:prstGeom prst="rect">
            <a:avLst/>
          </a:prstGeom>
          <a:noFill/>
          <a:ln>
            <a:noFill/>
          </a:ln>
        </p:spPr>
        <p:txBody>
          <a:bodyPr wrap="square">
            <a:noAutofit/>
          </a:bodyPr>
          <a:lstStyle/>
          <a:p>
            <a:pPr marL="0" indent="0" algn="ctr">
              <a:lnSpc>
                <a:spcPct val="100000"/>
              </a:lnSpc>
            </a:pPr>
            <a:r>
              <a:rPr sz="1600" b="0" cap="none" spc="0">
                <a:solidFill>
                  <a:srgbClr val="FFFFFF"/>
                </a:solidFill>
                <a:latin typeface="Amazon Ember"/>
              </a:rPr>
              <a:t>Step 5</a:t>
            </a:r>
          </a:p>
        </p:txBody>
      </p:sp>
      <p:sp>
        <p:nvSpPr>
          <p:cNvPr id="18" name="Rectangle 17"/>
          <p:cNvSpPr/>
          <p:nvPr/>
        </p:nvSpPr>
        <p:spPr>
          <a:xfrm>
            <a:off x="400050" y="1885950"/>
            <a:ext cx="2241550" cy="3403600"/>
          </a:xfrm>
          <a:prstGeom prst="rect">
            <a:avLst/>
          </a:prstGeom>
          <a:noFill/>
          <a:ln w="12700">
            <a:solidFill>
              <a:srgbClr val="AD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66700" y="2070100"/>
            <a:ext cx="11652250" cy="3384550"/>
          </a:xfrm>
          <a:prstGeom prst="roundRect">
            <a:avLst>
              <a:gd name="adj" fmla="val 3300"/>
            </a:avLst>
          </a:prstGeom>
          <a:noFill/>
          <a:ln w="25400" cap="flat">
            <a:gradFill rotWithShape="1">
              <a:gsLst>
                <a:gs pos="0">
                  <a:srgbClr val="C85CFF"/>
                </a:gs>
                <a:gs pos="54000">
                  <a:srgbClr val="8188F6"/>
                </a:gs>
                <a:gs pos="100000">
                  <a:srgbClr val="B0EFFC"/>
                </a:gs>
              </a:gsLst>
              <a:lin ang="189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606550" y="3327400"/>
            <a:ext cx="9029700" cy="0"/>
          </a:xfrm>
          <a:prstGeom prst="line">
            <a:avLst/>
          </a:prstGeom>
          <a:ln w="50800">
            <a:gradFill rotWithShape="1">
              <a:gsLst>
                <a:gs pos="0">
                  <a:srgbClr val="C85CFF">
                    <a:alpha val="0"/>
                  </a:srgbClr>
                </a:gs>
                <a:gs pos="25000">
                  <a:srgbClr val="C85CFF"/>
                </a:gs>
                <a:gs pos="50000">
                  <a:srgbClr val="49DAF8"/>
                </a:gs>
                <a:gs pos="75000">
                  <a:srgbClr val="8188F6"/>
                </a:gs>
                <a:gs pos="100000">
                  <a:srgbClr val="8188F6"/>
                </a:gs>
              </a:gsLst>
              <a:lin ang="0" scaled="1"/>
            </a:gradFill>
            <a:tailEnd type="triangle"/>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968500" y="2501900"/>
            <a:ext cx="1841500" cy="647700"/>
          </a:xfrm>
          <a:prstGeom prst="rect">
            <a:avLst/>
          </a:prstGeom>
          <a:noFill/>
          <a:ln>
            <a:noFill/>
          </a:ln>
        </p:spPr>
        <p:txBody>
          <a:bodyPr wrap="square">
            <a:noAutofit/>
          </a:bodyPr>
          <a:lstStyle/>
          <a:p>
            <a:pPr marL="0" indent="0" algn="ctr">
              <a:lnSpc>
                <a:spcPct val="100000"/>
              </a:lnSpc>
              <a:spcBef>
                <a:spcPts val="0"/>
              </a:spcBef>
              <a:spcAft>
                <a:spcPts val="0"/>
              </a:spcAft>
            </a:pPr>
            <a:r>
              <a:rPr b="1" cap="none" spc="0">
                <a:solidFill>
                  <a:srgbClr val="FFFFFF"/>
                </a:solidFill>
                <a:latin typeface="Amazon Ember"/>
              </a:rPr>
              <a:t>Stage 1</a:t>
            </a:r>
          </a:p>
          <a:p>
            <a:pPr marL="0" indent="0" algn="ctr">
              <a:lnSpc>
                <a:spcPct val="100000"/>
              </a:lnSpc>
              <a:spcBef>
                <a:spcPts val="0"/>
              </a:spcBef>
              <a:spcAft>
                <a:spcPts val="0"/>
              </a:spcAft>
            </a:pPr>
            <a:r>
              <a:rPr b="1" cap="none" spc="0">
                <a:solidFill>
                  <a:srgbClr val="FFFFFF"/>
                </a:solidFill>
                <a:latin typeface="Amazon Ember"/>
              </a:rPr>
              <a:t>Subtitle</a:t>
            </a:r>
          </a:p>
        </p:txBody>
      </p:sp>
      <p:sp>
        <p:nvSpPr>
          <p:cNvPr id="5" name="TextBox 4"/>
          <p:cNvSpPr txBox="1"/>
          <p:nvPr/>
        </p:nvSpPr>
        <p:spPr>
          <a:xfrm>
            <a:off x="5175250" y="2501900"/>
            <a:ext cx="1841500" cy="647700"/>
          </a:xfrm>
          <a:prstGeom prst="rect">
            <a:avLst/>
          </a:prstGeom>
          <a:noFill/>
          <a:ln>
            <a:noFill/>
          </a:ln>
        </p:spPr>
        <p:txBody>
          <a:bodyPr wrap="square">
            <a:noAutofit/>
          </a:bodyPr>
          <a:lstStyle/>
          <a:p>
            <a:pPr marL="0" indent="0" algn="ctr">
              <a:lnSpc>
                <a:spcPct val="100000"/>
              </a:lnSpc>
              <a:spcBef>
                <a:spcPts val="0"/>
              </a:spcBef>
              <a:spcAft>
                <a:spcPts val="0"/>
              </a:spcAft>
            </a:pPr>
            <a:r>
              <a:rPr b="1" cap="none" spc="0">
                <a:solidFill>
                  <a:srgbClr val="FFFFFF"/>
                </a:solidFill>
                <a:latin typeface="Amazon Ember"/>
              </a:rPr>
              <a:t>Stage 2</a:t>
            </a:r>
          </a:p>
          <a:p>
            <a:pPr marL="0" indent="0" algn="ctr">
              <a:lnSpc>
                <a:spcPct val="100000"/>
              </a:lnSpc>
              <a:spcBef>
                <a:spcPts val="0"/>
              </a:spcBef>
              <a:spcAft>
                <a:spcPts val="0"/>
              </a:spcAft>
            </a:pPr>
            <a:r>
              <a:rPr b="1" cap="none" spc="0">
                <a:solidFill>
                  <a:srgbClr val="FFFFFF"/>
                </a:solidFill>
                <a:latin typeface="Amazon Ember"/>
              </a:rPr>
              <a:t>Subtitle</a:t>
            </a:r>
          </a:p>
        </p:txBody>
      </p:sp>
      <p:sp>
        <p:nvSpPr>
          <p:cNvPr id="6" name="TextBox 5"/>
          <p:cNvSpPr txBox="1"/>
          <p:nvPr/>
        </p:nvSpPr>
        <p:spPr>
          <a:xfrm>
            <a:off x="8382000" y="2501900"/>
            <a:ext cx="1841500" cy="647700"/>
          </a:xfrm>
          <a:prstGeom prst="rect">
            <a:avLst/>
          </a:prstGeom>
          <a:noFill/>
          <a:ln>
            <a:noFill/>
          </a:ln>
        </p:spPr>
        <p:txBody>
          <a:bodyPr wrap="square">
            <a:noAutofit/>
          </a:bodyPr>
          <a:lstStyle/>
          <a:p>
            <a:pPr marL="0" indent="0" algn="ctr">
              <a:lnSpc>
                <a:spcPct val="100000"/>
              </a:lnSpc>
              <a:spcBef>
                <a:spcPts val="0"/>
              </a:spcBef>
              <a:spcAft>
                <a:spcPts val="0"/>
              </a:spcAft>
            </a:pPr>
            <a:r>
              <a:rPr b="1" cap="none" spc="0">
                <a:solidFill>
                  <a:srgbClr val="FFFFFF"/>
                </a:solidFill>
                <a:latin typeface="Amazon Ember"/>
              </a:rPr>
              <a:t>Stage 3</a:t>
            </a:r>
          </a:p>
          <a:p>
            <a:pPr marL="0" indent="0" algn="ctr">
              <a:lnSpc>
                <a:spcPct val="100000"/>
              </a:lnSpc>
              <a:spcBef>
                <a:spcPts val="0"/>
              </a:spcBef>
              <a:spcAft>
                <a:spcPts val="0"/>
              </a:spcAft>
            </a:pPr>
            <a:r>
              <a:rPr b="1" cap="none" spc="0">
                <a:solidFill>
                  <a:srgbClr val="FFFFFF"/>
                </a:solidFill>
                <a:latin typeface="Amazon Ember"/>
              </a:rPr>
              <a:t>Subtitle</a:t>
            </a:r>
          </a:p>
        </p:txBody>
      </p:sp>
      <p:sp>
        <p:nvSpPr>
          <p:cNvPr id="7" name="Oval 6"/>
          <p:cNvSpPr/>
          <p:nvPr/>
        </p:nvSpPr>
        <p:spPr>
          <a:xfrm>
            <a:off x="2806700" y="3257550"/>
            <a:ext cx="171450" cy="171450"/>
          </a:xfrm>
          <a:prstGeom prst="ellipse">
            <a:avLst/>
          </a:prstGeom>
          <a:solidFill>
            <a:srgbClr val="C85CFF"/>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013450" y="3257550"/>
            <a:ext cx="171450" cy="171450"/>
          </a:xfrm>
          <a:prstGeom prst="ellipse">
            <a:avLst/>
          </a:prstGeom>
          <a:solidFill>
            <a:srgbClr val="49DAF8"/>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20200" y="3257550"/>
            <a:ext cx="171450" cy="171450"/>
          </a:xfrm>
          <a:prstGeom prst="ellipse">
            <a:avLst/>
          </a:prstGeom>
          <a:solidFill>
            <a:srgbClr val="8188F6"/>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68500" y="3556000"/>
            <a:ext cx="1841500" cy="1270000"/>
          </a:xfrm>
          <a:prstGeom prst="rect">
            <a:avLst/>
          </a:prstGeom>
          <a:noFill/>
          <a:ln>
            <a:noFill/>
          </a:ln>
        </p:spPr>
        <p:txBody>
          <a:bodyPr wrap="square">
            <a:noAutofit/>
          </a:bodyPr>
          <a:lstStyle/>
          <a:p>
            <a:pPr marL="0" indent="0" algn="ctr">
              <a:lnSpc>
                <a:spcPct val="100000"/>
              </a:lnSpc>
              <a:spcBef>
                <a:spcPts val="0"/>
              </a:spcBef>
              <a:spcAft>
                <a:spcPts val="1000"/>
              </a:spcAft>
            </a:pPr>
            <a:r>
              <a:rPr sz="1400" b="0" cap="none" spc="0">
                <a:solidFill>
                  <a:srgbClr val="FFFFFF"/>
                </a:solidFill>
                <a:latin typeface="Amazon Ember"/>
              </a:rPr>
              <a:t>Item A</a:t>
            </a:r>
          </a:p>
          <a:p>
            <a:pPr marL="0" indent="0" algn="ctr">
              <a:lnSpc>
                <a:spcPct val="100000"/>
              </a:lnSpc>
              <a:spcBef>
                <a:spcPts val="0"/>
              </a:spcBef>
              <a:spcAft>
                <a:spcPts val="1000"/>
              </a:spcAft>
            </a:pPr>
            <a:r>
              <a:rPr sz="1400" b="0" cap="none" spc="0">
                <a:solidFill>
                  <a:srgbClr val="FFFFFF"/>
                </a:solidFill>
                <a:latin typeface="Amazon Ember"/>
              </a:rPr>
              <a:t>Item B</a:t>
            </a:r>
          </a:p>
        </p:txBody>
      </p:sp>
      <p:sp>
        <p:nvSpPr>
          <p:cNvPr id="11" name="TextBox 10"/>
          <p:cNvSpPr txBox="1"/>
          <p:nvPr/>
        </p:nvSpPr>
        <p:spPr>
          <a:xfrm>
            <a:off x="5175250" y="3556000"/>
            <a:ext cx="1841500" cy="1587500"/>
          </a:xfrm>
          <a:prstGeom prst="rect">
            <a:avLst/>
          </a:prstGeom>
          <a:noFill/>
          <a:ln>
            <a:noFill/>
          </a:ln>
        </p:spPr>
        <p:txBody>
          <a:bodyPr wrap="square">
            <a:noAutofit/>
          </a:bodyPr>
          <a:lstStyle/>
          <a:p>
            <a:pPr marL="0" indent="0" algn="ctr">
              <a:lnSpc>
                <a:spcPct val="100000"/>
              </a:lnSpc>
              <a:spcBef>
                <a:spcPts val="0"/>
              </a:spcBef>
              <a:spcAft>
                <a:spcPts val="1000"/>
              </a:spcAft>
            </a:pPr>
            <a:r>
              <a:rPr sz="1400" b="0" cap="none" spc="0">
                <a:solidFill>
                  <a:srgbClr val="FFFFFF"/>
                </a:solidFill>
                <a:latin typeface="Amazon Ember"/>
              </a:rPr>
              <a:t>Item A</a:t>
            </a:r>
          </a:p>
          <a:p>
            <a:pPr marL="0" indent="0" algn="ctr">
              <a:lnSpc>
                <a:spcPct val="100000"/>
              </a:lnSpc>
              <a:spcBef>
                <a:spcPts val="0"/>
              </a:spcBef>
              <a:spcAft>
                <a:spcPts val="1000"/>
              </a:spcAft>
            </a:pPr>
            <a:r>
              <a:rPr sz="1400" b="0" cap="none" spc="0">
                <a:solidFill>
                  <a:srgbClr val="FFFFFF"/>
                </a:solidFill>
                <a:latin typeface="Amazon Ember"/>
              </a:rPr>
              <a:t>Item B</a:t>
            </a:r>
          </a:p>
          <a:p>
            <a:pPr marL="0" indent="0" algn="ctr">
              <a:lnSpc>
                <a:spcPct val="100000"/>
              </a:lnSpc>
              <a:spcBef>
                <a:spcPts val="0"/>
              </a:spcBef>
              <a:spcAft>
                <a:spcPts val="1000"/>
              </a:spcAft>
            </a:pPr>
            <a:r>
              <a:rPr sz="1400" b="0" cap="none" spc="0">
                <a:solidFill>
                  <a:srgbClr val="FFFFFF"/>
                </a:solidFill>
                <a:latin typeface="Amazon Ember"/>
              </a:rPr>
              <a:t>Item C</a:t>
            </a:r>
          </a:p>
        </p:txBody>
      </p:sp>
      <p:sp>
        <p:nvSpPr>
          <p:cNvPr id="12" name="TextBox 11"/>
          <p:cNvSpPr txBox="1"/>
          <p:nvPr/>
        </p:nvSpPr>
        <p:spPr>
          <a:xfrm>
            <a:off x="8382000" y="3556000"/>
            <a:ext cx="1841500" cy="1587500"/>
          </a:xfrm>
          <a:prstGeom prst="rect">
            <a:avLst/>
          </a:prstGeom>
          <a:noFill/>
          <a:ln>
            <a:noFill/>
          </a:ln>
        </p:spPr>
        <p:txBody>
          <a:bodyPr wrap="square">
            <a:noAutofit/>
          </a:bodyPr>
          <a:lstStyle/>
          <a:p>
            <a:pPr marL="0" indent="0" algn="ctr">
              <a:lnSpc>
                <a:spcPct val="100000"/>
              </a:lnSpc>
              <a:spcBef>
                <a:spcPts val="0"/>
              </a:spcBef>
              <a:spcAft>
                <a:spcPts val="1000"/>
              </a:spcAft>
            </a:pPr>
            <a:r>
              <a:rPr sz="1400" b="0" cap="none" spc="0">
                <a:solidFill>
                  <a:srgbClr val="FFFFFF"/>
                </a:solidFill>
                <a:latin typeface="Amazon Ember"/>
              </a:rPr>
              <a:t>Item A</a:t>
            </a:r>
          </a:p>
          <a:p>
            <a:pPr marL="0" indent="0" algn="ctr">
              <a:lnSpc>
                <a:spcPct val="100000"/>
              </a:lnSpc>
              <a:spcBef>
                <a:spcPts val="0"/>
              </a:spcBef>
              <a:spcAft>
                <a:spcPts val="1000"/>
              </a:spcAft>
            </a:pPr>
            <a:r>
              <a:rPr sz="1400" b="0" cap="none" spc="0">
                <a:solidFill>
                  <a:srgbClr val="FFFFFF"/>
                </a:solidFill>
                <a:latin typeface="Amazon Ember"/>
              </a:rPr>
              <a:t>Item B</a:t>
            </a:r>
          </a:p>
          <a:p>
            <a:pPr marL="0" indent="0" algn="ctr">
              <a:lnSpc>
                <a:spcPct val="100000"/>
              </a:lnSpc>
              <a:spcBef>
                <a:spcPts val="0"/>
              </a:spcBef>
              <a:spcAft>
                <a:spcPts val="1000"/>
              </a:spcAft>
            </a:pPr>
            <a:r>
              <a:rPr sz="1400" b="0" cap="none" spc="0">
                <a:solidFill>
                  <a:srgbClr val="FFFFFF"/>
                </a:solidFill>
                <a:latin typeface="Amazon Ember"/>
              </a:rPr>
              <a:t>Item C</a:t>
            </a:r>
          </a:p>
        </p:txBody>
      </p:sp>
      <p:sp>
        <p:nvSpPr>
          <p:cNvPr id="13" name="Rectangle 12"/>
          <p:cNvSpPr/>
          <p:nvPr/>
        </p:nvSpPr>
        <p:spPr>
          <a:xfrm>
            <a:off x="425450" y="3028950"/>
            <a:ext cx="1174750" cy="6159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marL="0" indent="0" algn="ctr"/>
            <a:r>
              <a:rPr sz="1400" b="1" spc="0">
                <a:solidFill>
                  <a:srgbClr val="C85CFF"/>
                </a:solidFill>
                <a:latin typeface="Amazon Ember"/>
              </a:rPr>
              <a:t>Left label</a:t>
            </a:r>
          </a:p>
        </p:txBody>
      </p:sp>
      <p:sp>
        <p:nvSpPr>
          <p:cNvPr id="14" name="Rectangle 13"/>
          <p:cNvSpPr/>
          <p:nvPr/>
        </p:nvSpPr>
        <p:spPr>
          <a:xfrm>
            <a:off x="10591800" y="3028950"/>
            <a:ext cx="1174750" cy="6159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marL="0" indent="0" algn="ctr"/>
            <a:r>
              <a:rPr sz="1400" b="1" spc="0">
                <a:solidFill>
                  <a:srgbClr val="8188F6"/>
                </a:solidFill>
                <a:latin typeface="Amazon Ember"/>
              </a:rPr>
              <a:t>Right label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 1"/>
          <p:cNvSpPr/>
          <p:nvPr/>
        </p:nvSpPr>
        <p:spPr>
          <a:xfrm>
            <a:off x="508000" y="1016000"/>
            <a:ext cx="5461000" cy="412750"/>
          </a:xfrm>
          <a:prstGeom prst="homePlate">
            <a:avLst/>
          </a:prstGeom>
          <a:solidFill>
            <a:srgbClr val="FF9900"/>
          </a:solidFill>
          <a:ln w="25400">
            <a:solidFill>
              <a:srgbClr val="FF9900"/>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200" b="1">
                <a:solidFill>
                  <a:srgbClr val="FFFFFF"/>
                </a:solidFill>
                <a:latin typeface="Amazon Ember"/>
              </a:rPr>
              <a:t>Phase 1</a:t>
            </a:r>
          </a:p>
        </p:txBody>
      </p:sp>
      <p:sp>
        <p:nvSpPr>
          <p:cNvPr id="3" name="Chevron 2"/>
          <p:cNvSpPr/>
          <p:nvPr/>
        </p:nvSpPr>
        <p:spPr>
          <a:xfrm>
            <a:off x="6096000" y="1016000"/>
            <a:ext cx="3638550" cy="412750"/>
          </a:xfrm>
          <a:prstGeom prst="chevron">
            <a:avLst/>
          </a:prstGeom>
          <a:solidFill>
            <a:srgbClr val="A166FF"/>
          </a:solidFill>
          <a:ln w="25400">
            <a:solidFill>
              <a:srgbClr val="A166F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200" b="1">
                <a:solidFill>
                  <a:srgbClr val="FFFFFF"/>
                </a:solidFill>
                <a:latin typeface="Amazon Ember"/>
              </a:rPr>
              <a:t>Phase 2</a:t>
            </a:r>
          </a:p>
        </p:txBody>
      </p:sp>
      <p:sp>
        <p:nvSpPr>
          <p:cNvPr id="4" name="Chevron 3"/>
          <p:cNvSpPr/>
          <p:nvPr/>
        </p:nvSpPr>
        <p:spPr>
          <a:xfrm>
            <a:off x="9861550" y="1016000"/>
            <a:ext cx="1822450" cy="412750"/>
          </a:xfrm>
          <a:prstGeom prst="chevron">
            <a:avLst/>
          </a:prstGeom>
          <a:noFill/>
          <a:ln w="25400">
            <a:solidFill>
              <a:srgbClr val="38EF7D"/>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200" b="1">
                <a:solidFill>
                  <a:srgbClr val="FFFFFF"/>
                </a:solidFill>
                <a:latin typeface="Amazon Ember"/>
              </a:rPr>
              <a:t>Phase 3</a:t>
            </a:r>
          </a:p>
        </p:txBody>
      </p:sp>
      <p:sp>
        <p:nvSpPr>
          <p:cNvPr id="5" name="TextBox 4"/>
          <p:cNvSpPr txBox="1"/>
          <p:nvPr/>
        </p:nvSpPr>
        <p:spPr>
          <a:xfrm>
            <a:off x="717550" y="2997200"/>
            <a:ext cx="1397000" cy="222250"/>
          </a:xfrm>
          <a:prstGeom prst="rect">
            <a:avLst/>
          </a:prstGeom>
          <a:noFill/>
          <a:ln>
            <a:noFill/>
          </a:ln>
        </p:spPr>
        <p:txBody>
          <a:bodyPr wrap="square">
            <a:noAutofit/>
          </a:bodyPr>
          <a:lstStyle/>
          <a:p>
            <a:pPr algn="ctr"/>
            <a:r>
              <a:rPr sz="1600">
                <a:solidFill>
                  <a:srgbClr val="FFFFFF"/>
                </a:solidFill>
                <a:latin typeface="Amazon Ember"/>
              </a:rPr>
              <a:t>Step 1</a:t>
            </a:r>
          </a:p>
        </p:txBody>
      </p:sp>
      <p:sp>
        <p:nvSpPr>
          <p:cNvPr id="6" name="TextBox 5"/>
          <p:cNvSpPr txBox="1"/>
          <p:nvPr/>
        </p:nvSpPr>
        <p:spPr>
          <a:xfrm>
            <a:off x="717550" y="3251200"/>
            <a:ext cx="1397000" cy="317500"/>
          </a:xfrm>
          <a:prstGeom prst="rect">
            <a:avLst/>
          </a:prstGeom>
          <a:noFill/>
          <a:ln>
            <a:noFill/>
          </a:ln>
        </p:spPr>
        <p:txBody>
          <a:bodyPr wrap="square">
            <a:noAutofit/>
          </a:bodyPr>
          <a:lstStyle/>
          <a:p>
            <a:pPr algn="ctr"/>
            <a:r>
              <a:rPr sz="1300">
                <a:solidFill>
                  <a:srgbClr val="FFFFFF"/>
                </a:solidFill>
                <a:latin typeface="Amazon Ember"/>
              </a:rPr>
              <a:t>Description</a:t>
            </a:r>
          </a:p>
        </p:txBody>
      </p:sp>
      <p:sp>
        <p:nvSpPr>
          <p:cNvPr id="7" name="Isosceles Triangle 6"/>
          <p:cNvSpPr/>
          <p:nvPr/>
        </p:nvSpPr>
        <p:spPr>
          <a:xfrm rot="5400000">
            <a:off x="2247900" y="2616200"/>
            <a:ext cx="152400" cy="127000"/>
          </a:xfrm>
          <a:prstGeom prst="triangle">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33650" y="2997200"/>
            <a:ext cx="1397000" cy="222250"/>
          </a:xfrm>
          <a:prstGeom prst="rect">
            <a:avLst/>
          </a:prstGeom>
          <a:noFill/>
          <a:ln>
            <a:noFill/>
          </a:ln>
        </p:spPr>
        <p:txBody>
          <a:bodyPr wrap="square">
            <a:noAutofit/>
          </a:bodyPr>
          <a:lstStyle/>
          <a:p>
            <a:pPr algn="ctr"/>
            <a:r>
              <a:rPr sz="1600">
                <a:solidFill>
                  <a:srgbClr val="FFFFFF"/>
                </a:solidFill>
                <a:latin typeface="Amazon Ember"/>
              </a:rPr>
              <a:t>Step 2</a:t>
            </a:r>
          </a:p>
        </p:txBody>
      </p:sp>
      <p:sp>
        <p:nvSpPr>
          <p:cNvPr id="9" name="TextBox 8"/>
          <p:cNvSpPr txBox="1"/>
          <p:nvPr/>
        </p:nvSpPr>
        <p:spPr>
          <a:xfrm>
            <a:off x="2533650" y="3251200"/>
            <a:ext cx="1397000" cy="317500"/>
          </a:xfrm>
          <a:prstGeom prst="rect">
            <a:avLst/>
          </a:prstGeom>
          <a:noFill/>
          <a:ln>
            <a:noFill/>
          </a:ln>
        </p:spPr>
        <p:txBody>
          <a:bodyPr wrap="square">
            <a:noAutofit/>
          </a:bodyPr>
          <a:lstStyle/>
          <a:p>
            <a:pPr algn="ctr"/>
            <a:r>
              <a:rPr sz="1300">
                <a:solidFill>
                  <a:srgbClr val="FFFFFF"/>
                </a:solidFill>
                <a:latin typeface="Amazon Ember"/>
              </a:rPr>
              <a:t>Description</a:t>
            </a:r>
          </a:p>
        </p:txBody>
      </p:sp>
      <p:sp>
        <p:nvSpPr>
          <p:cNvPr id="10" name="Isosceles Triangle 9"/>
          <p:cNvSpPr/>
          <p:nvPr/>
        </p:nvSpPr>
        <p:spPr>
          <a:xfrm rot="5400000">
            <a:off x="4064000" y="2616200"/>
            <a:ext cx="152400" cy="127000"/>
          </a:xfrm>
          <a:prstGeom prst="triangle">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9750" y="2997200"/>
            <a:ext cx="1397000" cy="222250"/>
          </a:xfrm>
          <a:prstGeom prst="rect">
            <a:avLst/>
          </a:prstGeom>
          <a:noFill/>
          <a:ln>
            <a:noFill/>
          </a:ln>
        </p:spPr>
        <p:txBody>
          <a:bodyPr wrap="square">
            <a:noAutofit/>
          </a:bodyPr>
          <a:lstStyle/>
          <a:p>
            <a:pPr algn="ctr"/>
            <a:r>
              <a:rPr sz="1600">
                <a:solidFill>
                  <a:srgbClr val="FFFFFF"/>
                </a:solidFill>
                <a:latin typeface="Amazon Ember"/>
              </a:rPr>
              <a:t>Step 3</a:t>
            </a:r>
          </a:p>
        </p:txBody>
      </p:sp>
      <p:sp>
        <p:nvSpPr>
          <p:cNvPr id="12" name="TextBox 11"/>
          <p:cNvSpPr txBox="1"/>
          <p:nvPr/>
        </p:nvSpPr>
        <p:spPr>
          <a:xfrm>
            <a:off x="4349750" y="3251200"/>
            <a:ext cx="1397000" cy="317500"/>
          </a:xfrm>
          <a:prstGeom prst="rect">
            <a:avLst/>
          </a:prstGeom>
          <a:noFill/>
          <a:ln>
            <a:noFill/>
          </a:ln>
        </p:spPr>
        <p:txBody>
          <a:bodyPr wrap="square">
            <a:noAutofit/>
          </a:bodyPr>
          <a:lstStyle/>
          <a:p>
            <a:pPr algn="ctr"/>
            <a:r>
              <a:rPr sz="1300">
                <a:solidFill>
                  <a:srgbClr val="FFFFFF"/>
                </a:solidFill>
                <a:latin typeface="Amazon Ember"/>
              </a:rPr>
              <a:t>Description</a:t>
            </a:r>
          </a:p>
        </p:txBody>
      </p:sp>
      <p:sp>
        <p:nvSpPr>
          <p:cNvPr id="13" name="TextBox 12"/>
          <p:cNvSpPr txBox="1"/>
          <p:nvPr/>
        </p:nvSpPr>
        <p:spPr>
          <a:xfrm>
            <a:off x="6305550" y="2997200"/>
            <a:ext cx="1397000" cy="222250"/>
          </a:xfrm>
          <a:prstGeom prst="rect">
            <a:avLst/>
          </a:prstGeom>
          <a:noFill/>
          <a:ln>
            <a:noFill/>
          </a:ln>
        </p:spPr>
        <p:txBody>
          <a:bodyPr wrap="square">
            <a:noAutofit/>
          </a:bodyPr>
          <a:lstStyle/>
          <a:p>
            <a:pPr algn="ctr"/>
            <a:r>
              <a:rPr sz="1600">
                <a:solidFill>
                  <a:srgbClr val="FFFFFF"/>
                </a:solidFill>
                <a:latin typeface="Amazon Ember"/>
              </a:rPr>
              <a:t>Step 4</a:t>
            </a:r>
          </a:p>
        </p:txBody>
      </p:sp>
      <p:sp>
        <p:nvSpPr>
          <p:cNvPr id="14" name="TextBox 13"/>
          <p:cNvSpPr txBox="1"/>
          <p:nvPr/>
        </p:nvSpPr>
        <p:spPr>
          <a:xfrm>
            <a:off x="6305550" y="3251200"/>
            <a:ext cx="1397000" cy="317500"/>
          </a:xfrm>
          <a:prstGeom prst="rect">
            <a:avLst/>
          </a:prstGeom>
          <a:noFill/>
          <a:ln>
            <a:noFill/>
          </a:ln>
        </p:spPr>
        <p:txBody>
          <a:bodyPr wrap="square">
            <a:noAutofit/>
          </a:bodyPr>
          <a:lstStyle/>
          <a:p>
            <a:pPr algn="ctr"/>
            <a:r>
              <a:rPr sz="1300">
                <a:solidFill>
                  <a:srgbClr val="FFFFFF"/>
                </a:solidFill>
                <a:latin typeface="Amazon Ember"/>
              </a:rPr>
              <a:t>Description</a:t>
            </a:r>
          </a:p>
        </p:txBody>
      </p:sp>
      <p:sp>
        <p:nvSpPr>
          <p:cNvPr id="15" name="Isosceles Triangle 14"/>
          <p:cNvSpPr/>
          <p:nvPr/>
        </p:nvSpPr>
        <p:spPr>
          <a:xfrm rot="5400000">
            <a:off x="7835900" y="2616200"/>
            <a:ext cx="152400" cy="127000"/>
          </a:xfrm>
          <a:prstGeom prst="triangle">
            <a:avLst/>
          </a:prstGeom>
          <a:solidFill>
            <a:srgbClr val="A1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21650" y="2997200"/>
            <a:ext cx="1397000" cy="222250"/>
          </a:xfrm>
          <a:prstGeom prst="rect">
            <a:avLst/>
          </a:prstGeom>
          <a:noFill/>
          <a:ln>
            <a:noFill/>
          </a:ln>
        </p:spPr>
        <p:txBody>
          <a:bodyPr wrap="square">
            <a:noAutofit/>
          </a:bodyPr>
          <a:lstStyle/>
          <a:p>
            <a:pPr algn="ctr"/>
            <a:r>
              <a:rPr sz="1600">
                <a:solidFill>
                  <a:srgbClr val="FFFFFF"/>
                </a:solidFill>
                <a:latin typeface="Amazon Ember"/>
              </a:rPr>
              <a:t>Step 5</a:t>
            </a:r>
          </a:p>
        </p:txBody>
      </p:sp>
      <p:sp>
        <p:nvSpPr>
          <p:cNvPr id="17" name="TextBox 16"/>
          <p:cNvSpPr txBox="1"/>
          <p:nvPr/>
        </p:nvSpPr>
        <p:spPr>
          <a:xfrm>
            <a:off x="8121650" y="3251200"/>
            <a:ext cx="1397000" cy="317500"/>
          </a:xfrm>
          <a:prstGeom prst="rect">
            <a:avLst/>
          </a:prstGeom>
          <a:noFill/>
          <a:ln>
            <a:noFill/>
          </a:ln>
        </p:spPr>
        <p:txBody>
          <a:bodyPr wrap="square">
            <a:noAutofit/>
          </a:bodyPr>
          <a:lstStyle/>
          <a:p>
            <a:pPr algn="ctr"/>
            <a:r>
              <a:rPr sz="1300">
                <a:solidFill>
                  <a:srgbClr val="FFFFFF"/>
                </a:solidFill>
                <a:latin typeface="Amazon Ember"/>
              </a:rPr>
              <a:t>Description</a:t>
            </a:r>
          </a:p>
        </p:txBody>
      </p:sp>
      <p:sp>
        <p:nvSpPr>
          <p:cNvPr id="18" name="TextBox 17"/>
          <p:cNvSpPr txBox="1"/>
          <p:nvPr/>
        </p:nvSpPr>
        <p:spPr>
          <a:xfrm>
            <a:off x="10071100" y="2997200"/>
            <a:ext cx="1397000" cy="222250"/>
          </a:xfrm>
          <a:prstGeom prst="rect">
            <a:avLst/>
          </a:prstGeom>
          <a:noFill/>
          <a:ln>
            <a:noFill/>
          </a:ln>
        </p:spPr>
        <p:txBody>
          <a:bodyPr wrap="square">
            <a:noAutofit/>
          </a:bodyPr>
          <a:lstStyle/>
          <a:p>
            <a:pPr algn="ctr"/>
            <a:r>
              <a:rPr sz="1600">
                <a:solidFill>
                  <a:srgbClr val="FFFFFF"/>
                </a:solidFill>
                <a:latin typeface="Amazon Ember"/>
              </a:rPr>
              <a:t>Step 6</a:t>
            </a:r>
          </a:p>
        </p:txBody>
      </p:sp>
      <p:sp>
        <p:nvSpPr>
          <p:cNvPr id="19" name="TextBox 18"/>
          <p:cNvSpPr txBox="1"/>
          <p:nvPr/>
        </p:nvSpPr>
        <p:spPr>
          <a:xfrm>
            <a:off x="10071100" y="3251200"/>
            <a:ext cx="1397000" cy="317500"/>
          </a:xfrm>
          <a:prstGeom prst="rect">
            <a:avLst/>
          </a:prstGeom>
          <a:noFill/>
          <a:ln>
            <a:noFill/>
          </a:ln>
        </p:spPr>
        <p:txBody>
          <a:bodyPr wrap="square">
            <a:noAutofit/>
          </a:bodyPr>
          <a:lstStyle/>
          <a:p>
            <a:pPr algn="ctr"/>
            <a:r>
              <a:rPr sz="1300">
                <a:solidFill>
                  <a:srgbClr val="FFFFFF"/>
                </a:solidFill>
                <a:latin typeface="Amazon Ember"/>
              </a:rPr>
              <a:t>Description</a:t>
            </a:r>
          </a:p>
        </p:txBody>
      </p:sp>
      <p:cxnSp>
        <p:nvCxnSpPr>
          <p:cNvPr id="20" name="Connector 19"/>
          <p:cNvCxnSpPr/>
          <p:nvPr/>
        </p:nvCxnSpPr>
        <p:spPr>
          <a:xfrm>
            <a:off x="508000" y="4572000"/>
            <a:ext cx="5461000" cy="0"/>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8000" y="4667250"/>
            <a:ext cx="5461000" cy="254000"/>
          </a:xfrm>
          <a:prstGeom prst="rect">
            <a:avLst/>
          </a:prstGeom>
          <a:noFill/>
          <a:ln>
            <a:noFill/>
          </a:ln>
        </p:spPr>
        <p:txBody>
          <a:bodyPr wrap="square">
            <a:noAutofit/>
          </a:bodyPr>
          <a:lstStyle/>
          <a:p>
            <a:pPr algn="ctr"/>
            <a:r>
              <a:rPr sz="1600" b="1">
                <a:solidFill>
                  <a:srgbClr val="FF9900"/>
                </a:solidFill>
                <a:latin typeface="Amazon Ember"/>
              </a:rPr>
              <a:t>Phase 1 summary</a:t>
            </a:r>
          </a:p>
        </p:txBody>
      </p:sp>
      <p:cxnSp>
        <p:nvCxnSpPr>
          <p:cNvPr id="22" name="Connector 21"/>
          <p:cNvCxnSpPr/>
          <p:nvPr/>
        </p:nvCxnSpPr>
        <p:spPr>
          <a:xfrm>
            <a:off x="6096000" y="4572000"/>
            <a:ext cx="3638550" cy="0"/>
          </a:xfrm>
          <a:prstGeom prst="line">
            <a:avLst/>
          </a:prstGeom>
          <a:ln w="19050">
            <a:solidFill>
              <a:srgbClr val="A166F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96000" y="4667250"/>
            <a:ext cx="3638550" cy="254000"/>
          </a:xfrm>
          <a:prstGeom prst="rect">
            <a:avLst/>
          </a:prstGeom>
          <a:noFill/>
          <a:ln>
            <a:noFill/>
          </a:ln>
        </p:spPr>
        <p:txBody>
          <a:bodyPr wrap="square">
            <a:noAutofit/>
          </a:bodyPr>
          <a:lstStyle/>
          <a:p>
            <a:pPr algn="ctr"/>
            <a:r>
              <a:rPr sz="1600" b="1">
                <a:solidFill>
                  <a:srgbClr val="A166FF"/>
                </a:solidFill>
                <a:latin typeface="Amazon Ember"/>
              </a:rPr>
              <a:t>Phase 2 summary</a:t>
            </a:r>
          </a:p>
        </p:txBody>
      </p:sp>
      <p:cxnSp>
        <p:nvCxnSpPr>
          <p:cNvPr id="24" name="Connector 23"/>
          <p:cNvCxnSpPr/>
          <p:nvPr/>
        </p:nvCxnSpPr>
        <p:spPr>
          <a:xfrm>
            <a:off x="9861550" y="4572000"/>
            <a:ext cx="1822450" cy="0"/>
          </a:xfrm>
          <a:prstGeom prst="line">
            <a:avLst/>
          </a:prstGeom>
          <a:ln w="19050">
            <a:solidFill>
              <a:srgbClr val="38EF7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861550" y="4667250"/>
            <a:ext cx="1822450" cy="254000"/>
          </a:xfrm>
          <a:prstGeom prst="rect">
            <a:avLst/>
          </a:prstGeom>
          <a:noFill/>
          <a:ln>
            <a:noFill/>
          </a:ln>
        </p:spPr>
        <p:txBody>
          <a:bodyPr wrap="square">
            <a:noAutofit/>
          </a:bodyPr>
          <a:lstStyle/>
          <a:p>
            <a:pPr algn="ctr"/>
            <a:r>
              <a:rPr sz="1600" b="1">
                <a:solidFill>
                  <a:srgbClr val="38EF7D"/>
                </a:solidFill>
                <a:latin typeface="Amazon Ember"/>
              </a:rPr>
              <a:t>Phase 3 summary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Structured Text</a:t>
            </a:r>
          </a:p>
        </p:txBody>
      </p:sp>
      <p:sp>
        <p:nvSpPr>
          <p:cNvPr id="3" name="Rectangle 2"/>
          <p:cNvSpPr/>
          <p:nvPr/>
        </p:nvSpPr>
        <p:spPr>
          <a:xfrm>
            <a:off x="831850" y="1416050"/>
            <a:ext cx="2419350" cy="425450"/>
          </a:xfrm>
          <a:prstGeom prst="rect">
            <a:avLst/>
          </a:prstGeom>
          <a:solidFill>
            <a:srgbClr val="0060A0"/>
          </a:solidFill>
          <a:ln w="12700">
            <a:solidFill>
              <a:srgbClr val="156082"/>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marL="0" indent="0" algn="ctr"/>
            <a:r>
              <a:rPr sz="2400" b="1" spc="0">
                <a:solidFill>
                  <a:srgbClr val="FFFFFF"/>
                </a:solidFill>
                <a:latin typeface="Amazon Ember"/>
              </a:rPr>
              <a:t>Section 1</a:t>
            </a:r>
          </a:p>
        </p:txBody>
      </p:sp>
      <p:sp>
        <p:nvSpPr>
          <p:cNvPr id="4" name="TextBox 3"/>
          <p:cNvSpPr txBox="1"/>
          <p:nvPr/>
        </p:nvSpPr>
        <p:spPr>
          <a:xfrm>
            <a:off x="831850" y="1949450"/>
            <a:ext cx="10458450" cy="1092200"/>
          </a:xfrm>
          <a:prstGeom prst="rect">
            <a:avLst/>
          </a:prstGeom>
          <a:noFill/>
          <a:ln>
            <a:noFill/>
          </a:ln>
        </p:spPr>
        <p:txBody>
          <a:bodyPr lIns="88900"/>
          <a:lstStyle/>
          <a:p>
            <a:pPr marL="342900" indent="-342900" algn="l">
              <a:spcBef>
                <a:spcPts val="0"/>
              </a:spcBef>
              <a:spcAft>
                <a:spcPts val="600"/>
              </a:spcAft>
              <a:buFont typeface="Arial"/>
              <a:buChar char="•"/>
            </a:pPr>
            <a:r>
              <a:rPr sz="2000" b="0" cap="none" spc="0">
                <a:solidFill>
                  <a:srgbClr val="FFFFFF"/>
                </a:solidFill>
                <a:latin typeface="Amazon Ember"/>
              </a:rPr>
              <a:t>Background point 1</a:t>
            </a:r>
          </a:p>
          <a:p>
            <a:pPr marL="342900" indent="-342900" algn="l">
              <a:spcBef>
                <a:spcPts val="0"/>
              </a:spcBef>
              <a:spcAft>
                <a:spcPts val="600"/>
              </a:spcAft>
              <a:buFont typeface="Arial"/>
              <a:buChar char="•"/>
            </a:pPr>
            <a:r>
              <a:rPr sz="2000" b="0" cap="none" spc="0">
                <a:solidFill>
                  <a:srgbClr val="FFFFFF"/>
                </a:solidFill>
                <a:latin typeface="Amazon Ember"/>
              </a:rPr>
              <a:t>Background point 2</a:t>
            </a:r>
          </a:p>
        </p:txBody>
      </p:sp>
      <p:sp>
        <p:nvSpPr>
          <p:cNvPr id="5" name="Rectangle 4"/>
          <p:cNvSpPr/>
          <p:nvPr/>
        </p:nvSpPr>
        <p:spPr>
          <a:xfrm>
            <a:off x="831850" y="3219450"/>
            <a:ext cx="2419350" cy="425450"/>
          </a:xfrm>
          <a:prstGeom prst="rect">
            <a:avLst/>
          </a:prstGeom>
          <a:solidFill>
            <a:srgbClr val="0060A0"/>
          </a:solidFill>
          <a:ln w="12700">
            <a:solidFill>
              <a:srgbClr val="156082"/>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marL="0" indent="0" algn="ctr"/>
            <a:r>
              <a:rPr sz="2400" b="1" spc="0">
                <a:solidFill>
                  <a:srgbClr val="FFFFFF"/>
                </a:solidFill>
                <a:latin typeface="Amazon Ember"/>
              </a:rPr>
              <a:t>Section 2</a:t>
            </a:r>
          </a:p>
        </p:txBody>
      </p:sp>
      <p:sp>
        <p:nvSpPr>
          <p:cNvPr id="6" name="TextBox 5"/>
          <p:cNvSpPr txBox="1"/>
          <p:nvPr/>
        </p:nvSpPr>
        <p:spPr>
          <a:xfrm>
            <a:off x="831850" y="3752850"/>
            <a:ext cx="10458450" cy="1479550"/>
          </a:xfrm>
          <a:prstGeom prst="rect">
            <a:avLst/>
          </a:prstGeom>
          <a:noFill/>
          <a:ln>
            <a:noFill/>
          </a:ln>
        </p:spPr>
        <p:txBody>
          <a:bodyPr lIns="88900"/>
          <a:lstStyle/>
          <a:p>
            <a:pPr marL="342900" indent="-342900" algn="l">
              <a:spcBef>
                <a:spcPts val="0"/>
              </a:spcBef>
              <a:spcAft>
                <a:spcPts val="600"/>
              </a:spcAft>
              <a:buFont typeface="Arial"/>
              <a:buChar char="•"/>
            </a:pPr>
            <a:r>
              <a:rPr sz="2000" b="1" cap="none" spc="0">
                <a:solidFill>
                  <a:srgbClr val="41B3FF"/>
                </a:solidFill>
                <a:latin typeface="Amazon Ember"/>
              </a:rPr>
              <a:t>Key point 1</a:t>
            </a:r>
            <a:r>
              <a:rPr sz="2000" cap="none" spc="0">
                <a:solidFill>
                  <a:srgbClr val="FFFFFF"/>
                </a:solidFill>
                <a:latin typeface="Amazon Ember"/>
              </a:rPr>
              <a:t> with supporting detail.</a:t>
            </a:r>
          </a:p>
          <a:p>
            <a:pPr marL="342900" indent="-342900" algn="l">
              <a:spcBef>
                <a:spcPts val="0"/>
              </a:spcBef>
              <a:spcAft>
                <a:spcPts val="600"/>
              </a:spcAft>
              <a:buFont typeface="Arial"/>
              <a:buChar char="•"/>
            </a:pPr>
            <a:r>
              <a:rPr sz="2000" b="1" cap="none" spc="0">
                <a:solidFill>
                  <a:srgbClr val="41B3FF"/>
                </a:solidFill>
                <a:latin typeface="Amazon Ember"/>
              </a:rPr>
              <a:t>Key point 2</a:t>
            </a:r>
            <a:r>
              <a:rPr sz="2000" cap="none" spc="0">
                <a:solidFill>
                  <a:srgbClr val="FFFFFF"/>
                </a:solidFill>
                <a:latin typeface="Amazon Ember"/>
              </a:rPr>
              <a:t> with supporting detail.</a:t>
            </a:r>
          </a:p>
          <a:p>
            <a:pPr marL="342900" indent="-342900" algn="l">
              <a:spcBef>
                <a:spcPts val="0"/>
              </a:spcBef>
              <a:spcAft>
                <a:spcPts val="600"/>
              </a:spcAft>
              <a:buFont typeface="Arial"/>
              <a:buChar char="•"/>
            </a:pPr>
            <a:r>
              <a:rPr sz="2000" cap="none" spc="0">
                <a:solidFill>
                  <a:srgbClr val="FFFFFF"/>
                </a:solidFill>
                <a:latin typeface="Amazon Ember"/>
              </a:rPr>
              <a:t>Body text with </a:t>
            </a:r>
            <a:r>
              <a:rPr sz="2000" b="1" cap="none" spc="0">
                <a:solidFill>
                  <a:srgbClr val="41B3FF"/>
                </a:solidFill>
                <a:latin typeface="Amazon Ember"/>
              </a:rPr>
              <a:t>highlighted keyword</a:t>
            </a:r>
            <a:r>
              <a:rPr sz="2000" cap="none" spc="0">
                <a:solidFill>
                  <a:srgbClr val="FFFFFF"/>
                </a:solidFill>
                <a:latin typeface="Amazon Ember"/>
              </a:rPr>
              <a:t> inline.</a:t>
            </a:r>
          </a:p>
        </p:txBody>
      </p:sp>
      <p:sp>
        <p:nvSpPr>
          <p:cNvPr id="7" name="Rectangle 6"/>
          <p:cNvSpPr/>
          <p:nvPr/>
        </p:nvSpPr>
        <p:spPr>
          <a:xfrm>
            <a:off x="831850" y="5511800"/>
            <a:ext cx="10814050" cy="654050"/>
          </a:xfrm>
          <a:prstGeom prst="rect">
            <a:avLst/>
          </a:prstGeom>
          <a:solidFill>
            <a:srgbClr val="0060A0"/>
          </a:solidFill>
          <a:ln w="12700">
            <a:solidFill>
              <a:srgbClr val="156082"/>
            </a:solidFill>
          </a:ln>
        </p:spPr>
        <p:style>
          <a:lnRef idx="1">
            <a:schemeClr val="accent1"/>
          </a:lnRef>
          <a:fillRef idx="3">
            <a:schemeClr val="accent1"/>
          </a:fillRef>
          <a:effectRef idx="2">
            <a:schemeClr val="accent1"/>
          </a:effectRef>
          <a:fontRef idx="minor">
            <a:schemeClr val="lt1"/>
          </a:fontRef>
        </p:style>
        <p:txBody>
          <a:bodyPr wrap="square" lIns="88900" tIns="0" bIns="0" rtlCol="0" anchor="ctr"/>
          <a:lstStyle/>
          <a:p>
            <a:pPr marL="0" indent="0" algn="ctr"/>
            <a:r>
              <a:rPr sz="2800" b="1" spc="0">
                <a:solidFill>
                  <a:srgbClr val="FFFFFF"/>
                </a:solidFill>
                <a:latin typeface="Amazon Ember"/>
              </a:rPr>
              <a:t>Conclusion message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4964</Words>
  <Application>Microsoft Macintosh PowerPoint</Application>
  <PresentationFormat>ワイド画面</PresentationFormat>
  <Paragraphs>196</Paragraphs>
  <Slides>18</Slides>
  <Notes>18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18</vt:i4>
      </vt:variant>
    </vt:vector>
  </HeadingPairs>
  <TitlesOfParts>
    <vt:vector size="24" baseType="lpstr">
      <vt:lpstr>游ゴシック</vt:lpstr>
      <vt:lpstr>Amazon Ember</vt:lpstr>
      <vt:lpstr>Amazon Ember Display</vt:lpstr>
      <vt:lpstr>Arial</vt:lpstr>
      <vt:lpstr>Calibri</vt:lpstr>
      <vt:lpstr>Office Theme</vt:lpstr>
      <vt:lpstr>PowerPoint プレゼンテーション</vt:lpstr>
      <vt:lpstr>Agenda</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Structured Text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KATAOKA, SHOTARO</cp:lastModifiedBy>
  <cp:revision>8</cp:revision>
  <dcterms:created xsi:type="dcterms:W3CDTF">2013-01-27T09:14:16Z</dcterms:created>
  <dcterms:modified xsi:type="dcterms:W3CDTF">2026-04-10T03:10:04Z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2026-04-01T23:58:19Z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beaebefe-5a52-4e34-80b8-0094bfd161a6</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