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39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76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[Sequence] arc-list — Items along a circular arc. For sequences, feature lists, or journeys that need visual rhythm.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An arc implies motion and continuity — the eye follows the curve.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 circle defines the curve — center (cx, cy) and radius r. Center sits off-screen, so only one side of the arc is visible. Decide the vertical range, divide into N−1 equal steps for each item' s y. Then each item 's x from the circle equation. Calculate with python.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Curve intensity is controlled by r. Larger r — gentler. Smaller r — tighter. Minimum r is half the vertical span.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The arc line is an arc shape on the same circle. bbox and angles from the same circle parameters and endpoint positions.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One circle, one coordinate system. Arc shape and item positions must derive from the same cx, cy, r — otherwise they drift.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The arc is a stage for change — color, opacity, size. Let items echo the arc' s change and the whole composition moves together.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python: arc point positions, arc shape bbox and angles.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item card internals if complex (icon + multi-line text + badge).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[Attention] agenda —  "You are here"  signal through highlight vs mute contrast.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Agenda is a repeated frame — same structure, different focus each time.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Every slide shares the same items, only the active one changes — id/override. Base has all items muted. Each override places the active item at the same position and size in highlight color — it draws on top of the muted version.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Highlight needs contrast. Muted items too dim — audience loses context of what' s coming. Too bright — highlight has nothing to stand out against.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How to highlight: color change, background shape, or both.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Layout is free — vertical list, horizontal row, grid. Match the presentation 's structure.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item 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[Attention] progressive-highlight — Overlay to focus one section at a time. For walking through any multi-element slide.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Dim everything, then bring one thing forward — the eye has no choice but to follow.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Base slide shows the full picture — all items visible. id/override.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Each override stacks three layers above the base: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1. A full-slide semi-transparent rectangle — dims everything underneath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2. The active item, copied from base at the same position — sits above the overlay, so it pops back out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3. Optional detail text for the active item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Without layer 2, the overlay dims everything including the focus item.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Overlay opacity controls how much context survives. Too low — inactive items compete. Too high — audience forgets the structure.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Works on any base layout — grid, cards, diagram, flow. Anything with multiple elements worth walking through one at a time.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base item 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[Grid] point-grid — Parallel points in a 2D grid. Equal size, equal importance.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Equal size signals equal importance — one larger item breaks the balance into hierarchy.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N items need a grid. The eye scans rows of 3-4 comfortably. 5+ per row feels cramped, 2 feels sparse. Divide N by your column count to get rows. Remainder goes in the last row, centered.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Three or more rows gets dense — if the slide feels crowded, question whether all items are truly equal. Maybe some belong in a sub-group or a separate slide.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Rows often have unequal counts — 3 on top, 2 on bottom. Two ways to handle with grid areas: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Interleave dot cells between items: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a.b.c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.d.e.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Dots act as spacers — even spacing, simple. But item width equals spacer width.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Pack items and pad edges: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aabbcc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.ddee.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Items get more width, gap controls spacing. More columns but more control.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item positions with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[Narrative] hero-title — Oversized title for high-impact moments. Announcements, launches, section openers.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Size contrast is the impact — small lead text next to huge title.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One accent color on one keyword directs the eye. Two split attention.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Whitespace amplifies — decoration competes.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[Narrative] service-intro — Identity + feature list in one slide. For service introductions, product overviews, feature highlights.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One side establishes  "what this is"  — icon, title, description. The other side shows  "what it does"  — feature points.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Identity side needs visual weight to anchor the slide — icon-frame (component), large title, accent color. Without weight, the feature list dominates and the identity disappears.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Feature list side can use any list pattern — dot-bullet-list (component), arc-list (pattern), column-cards (pattern). Each gives a different rhythm.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This example is richly decorated — gradient line, colored dots, text gradient, badge (component). Strip or swap to match your tone. The composition works at any decoration level.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two-column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[Comparison] spectrum — Items ordered along a single axis. The axis gives meaning to the position.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Without the axis, items are just parallel. The axis turns position into argument — left is easy, right is complex, or any opposing pair.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The axis is the story. Choose opposing labels that frame the comparison — EASIER/COMPLEX, COST/PERFORMANCE, SIMPLE/POWERFUL. Weak labels make the ordering feel arbitrary.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Items sit above the axis. Their position along it is the message — no need to explain  "this one is simpler"  when the axis already says it.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spectrum-axis (component) below the items. A line with labels at both ends, optional midpoint label.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Color can echo the axis — shift hue or intensity along the spectrum. Position and color together reinforce the ordering. Calculate N colors with python (HSL interpolation).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To recommend one option: badge (component), size difference, or accent color on the recommended item.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python: color interpolation along the axis.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item positions in one row, axis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[Classification] 2x2-matrix — Four quadrants defined by two axes. For positioning items on two criteria.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The axes are the argument. Weak axes make the whole matrix feel arbitrary.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Axis direction needs a signal — arrows, labels at the ends, gradient, or all three. Arrows are the most explicit. Labels alone work when the axis meaning is obvious.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Axis lines should be subtle — they' re structure, not content. Too bold and they compete with the items.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Quadrant labels help when the four zones have distinct meanings (e.g.  "Quick Wins" ,  "Strategic Bets" ). Skip them when the axes alone are sufficient.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What you place in each quadrant controls density: dots for position only, icons+labels for identity, cards for detail.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Walk through one quadrant at a time with progressive-highlight (pattern).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2x2 quadrants with axis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[Structure] structured-text — Labeled sections for multi-topic text. Separates topics that would otherwise blur together.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Labels create structure — without them, all text looks equal.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Consistent label style reads as one unified argument flowing through sections. Varied styles read as distinct independent topics.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Full-width conclusion bar at the bottom elevates the takeaway — the size jump from section label to full-width signals  "this is the summary."  content-banner (component) works here.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section rows, variable height per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[Sequence] progression — Items along a rising staircase curve. The upward shape reads as growth or evolution.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Direction carries meaning. Left-to-right reads as time. Bottom-to-top reads as improvement. The curve makes both visible at once.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Start and end points define the story. Start bottom-left, end top-right — growth. Start top-left, end bottom-right — decline or cost reduction. Same y — process without judgment.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N steps between start and end. Height divided into N-1 equal rises, width into 2N-1 equal segments (N flats + N-1 curves). More steps = gentler slope per step. Fewer = dramatic jumps.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Thick stroke gives the curve presence — it reads as a road, a journey. Thin strokes feel like connectors. 30-40pt range for the road feel.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Stroke gradient reinforces direction and change — the eye follows the color shift. Shape says  "upward,"  gradient says  "transforming."  Without gradient, the road is static. With it, the road has momentum.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The curve between steps is a cubic bezier. CP1 stays at the departing y, CP2 jumps to the arriving y — this creates the S-shaped transition. Without this CP split, the curve either kinks or overshoots. CP distance around 40% of segment width for natural ease-in/ease-out.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Dots mark stops along the road. When the dot fits snugly into the stroke, it feels like a ball resting on a track — grounded, but ready to roll. Dot diameter around 1.5x stroke width for that snug fit.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Dot color should be a lighter tint of the stroke color at that position — same hue, higher lightness. Shadow reinforces the lift. Together they make the dot float just above the road — present at this stop, but not stuck here.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Each stop carries a label and optionally a description. The text anchors the abstract curve to concrete meaning.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progressive-highlight (pattern) works naturally here — walk through phases one at a time.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python: step positions, freeform path commands (alternating L flat + C curve), dot positions, tint colors.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[Temporal] gantt-chart — Horizontal bar timeline for project schedules. Tasks as rows, time as columns.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Beyond bars and headers, consider: status badges (component) in the label column,  "Today"  line, milestones (diamond), dependency arrows (dashed, flow-step (component)), legend.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 columns  "fixed-width label 1fr timeline" . Timeline subdivides into periods. Bar x = period start, width = span to period end.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Visual hierarchy: bars loudest, Today line second, labels and headers third, grid lines quietest. Everything else supports the bars.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Pill-shaped bars (adjustments:[0.5]) de-emphasize exact dates. Square corners when precision matters. Color-code by phase or team, 3-4 colors max.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 lines: dot dash, low opacity. Bold grids flatten the information hierarchy — bars should be the loudest layer.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"Today"  line answers  "where are we now"  — dashed vertical + badge (component). The anchor of any progress report.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label column + timeline periods.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python: bar positions from period boundaries if uneven.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[Narrative] customer-case-study — Customer story with quote. For success stories and testimonials.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Three layers: identity at top, facts in the middle, voice at the bottom. Facts alone feel dry. Voice alone lacks evidence. Together they persuade.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Identity: customer name + logo/photo. Establishes  "whose story"  before the content starts.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Facts: three columns — problem, solution, result. Horizontal layout gives scannability. Header bar with labels, body text below. Divider lines between columns — thick at header, thin at body. The thickness difference creates hierarchy.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Voice: full-width quote box at the bottom. Highlight the key phrase in accent color — that' s the one sentence the audience remembers. Full width signals  "this is the takeaway"  — same principle as content-banner (component). quote-block (component) for the box.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identity row, three-column facts row, full-width quote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[Hierarchy] level-tiers — Horizontal bands crossed by a curve. The curve carves each band into a shaped region — hierarchy and direction in one composition.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 curve crossing horizontal bands creates shaped regions on one side. The shape itself tells the story — no text needed to feel the progression.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Define one monotonic convex bezier arc first — y must decrease steadily, no inflection. Convex means the curve bows away from the filled side — slow start, fast finish. If the curve doubles back, bands get multiple intersections and regions twist. End the curve before the filled-side edge so every band has room for content.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Every band' s freeform derives from this one curve: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M (curve_bottom)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C (split_cp1, split_cp2, curve_top)  ← de Casteljau split, not manual CPs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L (edge, band_top)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L (edge, band_bottom)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Z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Curve direction is the message. Bottom-left to top-right reads as growth. Which side you fill controls whether bands widen or narrow going up. Steepness controls how dramatically bands change width.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python: bezier definition, y-to-x intersection, de Casteljau split per band.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grid: content layout within each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  <a:latin typeface="Amazon Ember"/>
              </a:rPr>
              <a:t>[Classification] hub-spoke — One center, many satellites. Radial placement says  "these all connect to this." 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The essence is radial connection — not circular arrangement.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Let 's build this.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Two forms depending on what the satellites carry.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Symmetric form: satellites carry equal weight, minimal text.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Circle: center (cx, cy), radius r. N satellites at 360°/N from start angle.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Each satellite carries angle θ: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  position:  cx + r·cos(θ), cy − r·sin(θ)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  connector: x=cx, y=cy, width=r·cos(θ), height=−r·sin(θ)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θ gives direction — gradient angles, label placement, per-satellite variation.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Labels outside each satellite — which side depends on cos(θ) sign.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Radius controls density — larger feels independent, smaller feels unified.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python: positions, connectors, labels from circle + angle.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Asymmetric form: satellites carry different information density. Circular placement wastes space — cards can' t hold content in small circles.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Hub anchors one side with dominant visual weight. Satellites become stacked cards on the other side. Connector lines from hub to each card.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grid: hub zone + card zone split, then card interiors.</a:t>
            </a: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  python: connector endpoints (hub center → each card edge).</a:t>
            </a:r>
            <a:br>
              <a:rPr/>
            </a:br>
            <a:br>
              <a:rPr/>
            </a:br>
            <a:r>
              <a:rPr>
                <a:solidFill>
                  <a:srgbClr val="FFFFFF"/>
                </a:solidFill>
                <a:latin typeface="Amazon Ember"/>
              </a:rPr>
              <a:t>When in doubt, asymmetric — it accommodates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svg"/><Relationship Id="rId4" Type="http://schemas.openxmlformats.org/officeDocument/2006/relationships/image" Target="../media/image2.svg"/><Relationship Id="rId5" Type="http://schemas.openxmlformats.org/officeDocument/2006/relationships/image" Target="../media/image3.svg"/><Relationship Id="rId6" Type="http://schemas.openxmlformats.org/officeDocument/2006/relationships/image" Target="../media/image4.svg"/><Relationship Id="rId7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048000"/>
            <a:ext cx="1778000" cy="762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sz="4000">
                <a:solidFill>
                  <a:srgbClr val="FFFFFF"/>
                </a:solidFill>
                <a:latin typeface="Amazon Ember"/>
              </a:rPr>
              <a:t>Title</a:t>
            </a:r>
          </a:p>
        </p:txBody>
      </p:sp>
      <p:sp>
        <p:nvSpPr>
          <p:cNvPr id="3" name="Arc 2"/>
          <p:cNvSpPr/>
          <p:nvPr/>
        </p:nvSpPr>
        <p:spPr>
          <a:xfrm>
            <a:off x="-1454150" y="381000"/>
            <a:ext cx="6350000" cy="6350000"/>
          </a:xfrm>
          <a:prstGeom prst="arc">
            <a:avLst>
              <a:gd name="adj1" fmla="val 18546000"/>
              <a:gd name="adj2" fmla="val 3066000"/>
            </a:avLst>
          </a:prstGeom>
          <a:noFill/>
          <a:ln w="38100" cap="flat">
            <a:gradFill rotWithShape="1">
              <a:gsLst>
                <a:gs pos="0">
                  <a:srgbClr val="AD5CFF"/>
                </a:gs>
                <a:gs pos="50000">
                  <a:srgbClr val="41B3FF"/>
                </a:gs>
                <a:gs pos="100000">
                  <a:srgbClr val="41B3FF"/>
                </a:gs>
              </a:gsLst>
              <a:lin ang="16200000" scaled="1"/>
            </a:gra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886200" y="1250950"/>
            <a:ext cx="571500" cy="571500"/>
          </a:xfrm>
          <a:prstGeom prst="ellipse">
            <a:avLst/>
          </a:prstGeom>
          <a:solidFill>
            <a:srgbClr val="161D26"/>
          </a:solidFill>
          <a:ln w="25400">
            <a:solidFill>
              <a:srgbClr val="AD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SVG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00500" y="1365250"/>
            <a:ext cx="342900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22800" y="130175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240">
                <a:solidFill>
                  <a:srgbClr val="FFFFFF"/>
                </a:solidFill>
                <a:latin typeface="Amazon Ember"/>
              </a:rPr>
              <a:t>Label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22800" y="1524000"/>
            <a:ext cx="2540000" cy="22225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007">
                <a:solidFill>
                  <a:srgbClr val="FFFFFF"/>
                </a:solidFill>
                <a:latin typeface="Amazon Ember"/>
              </a:rPr>
              <a:t>Description</a:t>
            </a:r>
          </a:p>
        </p:txBody>
      </p:sp>
      <p:sp>
        <p:nvSpPr>
          <p:cNvPr id="8" name="Oval 7"/>
          <p:cNvSpPr/>
          <p:nvPr/>
        </p:nvSpPr>
        <p:spPr>
          <a:xfrm>
            <a:off x="4445000" y="2260600"/>
            <a:ext cx="571500" cy="571500"/>
          </a:xfrm>
          <a:prstGeom prst="ellipse">
            <a:avLst/>
          </a:prstGeom>
          <a:solidFill>
            <a:srgbClr val="161D26"/>
          </a:solidFill>
          <a:ln w="25400">
            <a:solidFill>
              <a:srgbClr val="AD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SVG 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9300" y="2374900"/>
            <a:ext cx="342900" cy="342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1600" y="2311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240">
                <a:solidFill>
                  <a:srgbClr val="FFFFFF"/>
                </a:solidFill>
                <a:latin typeface="Amazon Ember"/>
              </a:rPr>
              <a:t>Label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533650"/>
            <a:ext cx="2540000" cy="22225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007">
                <a:solidFill>
                  <a:srgbClr val="FFFFFF"/>
                </a:solidFill>
                <a:latin typeface="Amazon Ember"/>
              </a:rPr>
              <a:t>Description</a:t>
            </a:r>
          </a:p>
        </p:txBody>
      </p:sp>
      <p:sp>
        <p:nvSpPr>
          <p:cNvPr id="12" name="Oval 11"/>
          <p:cNvSpPr/>
          <p:nvPr/>
        </p:nvSpPr>
        <p:spPr>
          <a:xfrm>
            <a:off x="4610100" y="3270250"/>
            <a:ext cx="571500" cy="571500"/>
          </a:xfrm>
          <a:prstGeom prst="ellipse">
            <a:avLst/>
          </a:prstGeom>
          <a:solidFill>
            <a:srgbClr val="161D26"/>
          </a:solidFill>
          <a:ln w="25400">
            <a:solidFill>
              <a:srgbClr val="41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SVG 1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4400" y="3384550"/>
            <a:ext cx="342900" cy="3429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6700" y="332105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240">
                <a:solidFill>
                  <a:srgbClr val="FFFFFF"/>
                </a:solidFill>
                <a:latin typeface="Amazon Ember"/>
              </a:rPr>
              <a:t>Label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6700" y="3543300"/>
            <a:ext cx="2540000" cy="22225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007">
                <a:solidFill>
                  <a:srgbClr val="FFFFFF"/>
                </a:solidFill>
                <a:latin typeface="Amazon Ember"/>
              </a:rPr>
              <a:t>Description</a:t>
            </a:r>
          </a:p>
        </p:txBody>
      </p:sp>
      <p:sp>
        <p:nvSpPr>
          <p:cNvPr id="16" name="Oval 15"/>
          <p:cNvSpPr/>
          <p:nvPr/>
        </p:nvSpPr>
        <p:spPr>
          <a:xfrm>
            <a:off x="4445000" y="4279900"/>
            <a:ext cx="571500" cy="571500"/>
          </a:xfrm>
          <a:prstGeom prst="ellipse">
            <a:avLst/>
          </a:prstGeom>
          <a:solidFill>
            <a:srgbClr val="161D26"/>
          </a:solidFill>
          <a:ln w="25400">
            <a:solidFill>
              <a:srgbClr val="41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SVG 1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59300" y="4394200"/>
            <a:ext cx="342900" cy="3429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81600" y="43307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240">
                <a:solidFill>
                  <a:srgbClr val="FFFFFF"/>
                </a:solidFill>
                <a:latin typeface="Amazon Ember"/>
              </a:rPr>
              <a:t>Label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1600" y="4552950"/>
            <a:ext cx="2540000" cy="22225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007">
                <a:solidFill>
                  <a:srgbClr val="FFFFFF"/>
                </a:solidFill>
                <a:latin typeface="Amazon Ember"/>
              </a:rPr>
              <a:t>Description</a:t>
            </a:r>
          </a:p>
        </p:txBody>
      </p:sp>
      <p:sp>
        <p:nvSpPr>
          <p:cNvPr id="20" name="Oval 19"/>
          <p:cNvSpPr/>
          <p:nvPr/>
        </p:nvSpPr>
        <p:spPr>
          <a:xfrm>
            <a:off x="3879850" y="5295900"/>
            <a:ext cx="571500" cy="571500"/>
          </a:xfrm>
          <a:prstGeom prst="ellipse">
            <a:avLst/>
          </a:prstGeom>
          <a:solidFill>
            <a:srgbClr val="161D26"/>
          </a:solidFill>
          <a:ln w="25400">
            <a:solidFill>
              <a:srgbClr val="41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SVG 2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94150" y="5410200"/>
            <a:ext cx="342900" cy="3429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16450" y="53467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240">
                <a:solidFill>
                  <a:srgbClr val="FFFFFF"/>
                </a:solidFill>
                <a:latin typeface="Amazon Ember"/>
              </a:rPr>
              <a:t>Label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6450" y="5568950"/>
            <a:ext cx="2540000" cy="222250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80000"/>
              </a:lnSpc>
            </a:pPr>
            <a:r>
              <a:rPr sz="1007">
                <a:solidFill>
                  <a:srgbClr val="FFFFFF"/>
                </a:solidFill>
                <a:latin typeface="Amazon Ember"/>
              </a:rPr>
              <a:t>Description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Oval 2"/>
          <p:cNvSpPr/>
          <p:nvPr/>
        </p:nvSpPr>
        <p:spPr>
          <a:xfrm>
            <a:off x="800100" y="1473200"/>
            <a:ext cx="355600" cy="355600"/>
          </a:xfrm>
          <a:prstGeom prst="ellipse">
            <a:avLst/>
          </a:prstGeom>
          <a:noFill/>
          <a:ln w="19050">
            <a:solidFill>
              <a:srgbClr val="8F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80000"/>
              </a:lnSpc>
            </a:pPr>
            <a:r>
              <a:rPr sz="1210" b="1">
                <a:solidFill>
                  <a:srgbClr val="8FA7C4"/>
                </a:solidFill>
                <a:latin typeface="Amazon Emb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28750"/>
            <a:ext cx="9525000" cy="412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2590" b="1">
                <a:solidFill>
                  <a:srgbClr val="8FA7C4"/>
                </a:solidFill>
                <a:latin typeface="Amazon Ember"/>
              </a:rPr>
              <a:t>Topic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159000"/>
            <a:ext cx="10972800" cy="762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609600" y="2159000"/>
            <a:ext cx="0" cy="762000"/>
          </a:xfrm>
          <a:prstGeom prst="line">
            <a:avLst/>
          </a:prstGeom>
          <a:ln w="5080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00100" y="2362200"/>
            <a:ext cx="355600" cy="35560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80000"/>
              </a:lnSpc>
            </a:pPr>
            <a:r>
              <a:rPr sz="1210" b="1">
                <a:solidFill>
                  <a:srgbClr val="FFFFFF"/>
                </a:solidFill>
                <a:latin typeface="Amazon Ember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317750"/>
            <a:ext cx="9525000" cy="412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2590" b="1">
                <a:solidFill>
                  <a:srgbClr val="FFFFFF"/>
                </a:solidFill>
                <a:latin typeface="Amazon Ember"/>
              </a:rPr>
              <a:t>Topic B</a:t>
            </a:r>
          </a:p>
        </p:txBody>
      </p:sp>
      <p:sp>
        <p:nvSpPr>
          <p:cNvPr id="9" name="Oval 8"/>
          <p:cNvSpPr/>
          <p:nvPr/>
        </p:nvSpPr>
        <p:spPr>
          <a:xfrm>
            <a:off x="800100" y="3251200"/>
            <a:ext cx="355600" cy="355600"/>
          </a:xfrm>
          <a:prstGeom prst="ellipse">
            <a:avLst/>
          </a:prstGeom>
          <a:noFill/>
          <a:ln w="19050">
            <a:solidFill>
              <a:srgbClr val="8F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80000"/>
              </a:lnSpc>
            </a:pPr>
            <a:r>
              <a:rPr sz="1210" b="1">
                <a:solidFill>
                  <a:srgbClr val="8FA7C4"/>
                </a:solidFill>
                <a:latin typeface="Amazon Ember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6750"/>
            <a:ext cx="9525000" cy="412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2590" b="1">
                <a:solidFill>
                  <a:srgbClr val="8FA7C4"/>
                </a:solidFill>
                <a:latin typeface="Amazon Ember"/>
              </a:rPr>
              <a:t>Topic C</a:t>
            </a:r>
          </a:p>
        </p:txBody>
      </p:sp>
      <p:sp>
        <p:nvSpPr>
          <p:cNvPr id="11" name="Oval 10"/>
          <p:cNvSpPr/>
          <p:nvPr/>
        </p:nvSpPr>
        <p:spPr>
          <a:xfrm>
            <a:off x="800100" y="4140200"/>
            <a:ext cx="355600" cy="355600"/>
          </a:xfrm>
          <a:prstGeom prst="ellipse">
            <a:avLst/>
          </a:prstGeom>
          <a:noFill/>
          <a:ln w="19050">
            <a:solidFill>
              <a:srgbClr val="8F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80000"/>
              </a:lnSpc>
            </a:pPr>
            <a:r>
              <a:rPr sz="1210" b="1">
                <a:solidFill>
                  <a:srgbClr val="8FA7C4"/>
                </a:solidFill>
                <a:latin typeface="Amazon Ember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095750"/>
            <a:ext cx="9525000" cy="412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2590" b="1">
                <a:solidFill>
                  <a:srgbClr val="8FA7C4"/>
                </a:solidFill>
                <a:latin typeface="Amazon Ember"/>
              </a:rPr>
              <a:t>Topic D</a:t>
            </a:r>
          </a:p>
        </p:txBody>
      </p:sp>
      <p:sp>
        <p:nvSpPr>
          <p:cNvPr id="13" name="Oval 12"/>
          <p:cNvSpPr/>
          <p:nvPr/>
        </p:nvSpPr>
        <p:spPr>
          <a:xfrm>
            <a:off x="800100" y="5029200"/>
            <a:ext cx="355600" cy="355600"/>
          </a:xfrm>
          <a:prstGeom prst="ellipse">
            <a:avLst/>
          </a:prstGeom>
          <a:noFill/>
          <a:ln w="19050">
            <a:solidFill>
              <a:srgbClr val="8F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80000"/>
              </a:lnSpc>
            </a:pPr>
            <a:r>
              <a:rPr sz="1210" b="1">
                <a:solidFill>
                  <a:srgbClr val="8FA7C4"/>
                </a:solidFill>
                <a:latin typeface="Amazon Ember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984750"/>
            <a:ext cx="9525000" cy="412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2590" b="1">
                <a:solidFill>
                  <a:srgbClr val="8FA7C4"/>
                </a:solidFill>
                <a:latin typeface="Amazon Ember"/>
              </a:rPr>
              <a:t>Topic 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270000"/>
            <a:ext cx="3486150" cy="4445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9050">
            <a:solidFill>
              <a:srgbClr val="8F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3600" y="1524000"/>
            <a:ext cx="2978150" cy="444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"/>
              </a:rPr>
              <a:t>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3600" y="2032000"/>
            <a:ext cx="2978150" cy="635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4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9750" y="1270000"/>
            <a:ext cx="3486150" cy="4445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9050">
            <a:solidFill>
              <a:srgbClr val="8F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03750" y="1524000"/>
            <a:ext cx="2978150" cy="444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"/>
              </a:rPr>
              <a:t>Phase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3750" y="2032000"/>
            <a:ext cx="2978150" cy="635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4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9900" y="1270000"/>
            <a:ext cx="3492500" cy="4445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9050">
            <a:solidFill>
              <a:srgbClr val="8F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43900" y="1524000"/>
            <a:ext cx="2984500" cy="444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"/>
              </a:rPr>
              <a:t>Phase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43900" y="2032000"/>
            <a:ext cx="2984500" cy="635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4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49750" y="1270000"/>
            <a:ext cx="3486150" cy="4445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254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03750" y="1524000"/>
            <a:ext cx="2978150" cy="444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3750" y="2032000"/>
            <a:ext cx="2978150" cy="635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4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089150" y="1460500"/>
            <a:ext cx="571500" cy="571500"/>
          </a:xfrm>
          <a:prstGeom prst="ellipse">
            <a:avLst/>
          </a:prstGeom>
          <a:solidFill>
            <a:srgbClr val="FF9900">
              <a:alpha val="15000"/>
            </a:srgbClr>
          </a:solidFill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3600" y="2159000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mazon Ember"/>
              </a:rPr>
              <a:t>Point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3600" y="2540000"/>
            <a:ext cx="30226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5" name="Oval 4"/>
          <p:cNvSpPr/>
          <p:nvPr/>
        </p:nvSpPr>
        <p:spPr>
          <a:xfrm>
            <a:off x="5810250" y="1460500"/>
            <a:ext cx="571500" cy="571500"/>
          </a:xfrm>
          <a:prstGeom prst="ellipse">
            <a:avLst/>
          </a:prstGeom>
          <a:solidFill>
            <a:srgbClr val="42A5F5">
              <a:alpha val="15000"/>
            </a:srgbClr>
          </a:solidFill>
          <a:ln w="1905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84700" y="2159000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mazon Ember"/>
              </a:rPr>
              <a:t>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4700" y="2540000"/>
            <a:ext cx="30226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8" name="Oval 7"/>
          <p:cNvSpPr/>
          <p:nvPr/>
        </p:nvSpPr>
        <p:spPr>
          <a:xfrm>
            <a:off x="9531350" y="1460500"/>
            <a:ext cx="571500" cy="571500"/>
          </a:xfrm>
          <a:prstGeom prst="ellipse">
            <a:avLst/>
          </a:prstGeom>
          <a:solidFill>
            <a:srgbClr val="AB47BC">
              <a:alpha val="15000"/>
            </a:srgbClr>
          </a:solidFill>
          <a:ln w="19050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5800" y="2159000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mazon Ember"/>
              </a:rPr>
              <a:t>Point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800" y="2540000"/>
            <a:ext cx="30226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11" name="Oval 10"/>
          <p:cNvSpPr/>
          <p:nvPr/>
        </p:nvSpPr>
        <p:spPr>
          <a:xfrm>
            <a:off x="3949700" y="3778250"/>
            <a:ext cx="571500" cy="571500"/>
          </a:xfrm>
          <a:prstGeom prst="ellipse">
            <a:avLst/>
          </a:prstGeom>
          <a:solidFill>
            <a:srgbClr val="00C853">
              <a:alpha val="15000"/>
            </a:srgbClr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24150" y="4476750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mazon Ember"/>
              </a:rPr>
              <a:t>Point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24150" y="4857750"/>
            <a:ext cx="30226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14" name="Oval 13"/>
          <p:cNvSpPr/>
          <p:nvPr/>
        </p:nvSpPr>
        <p:spPr>
          <a:xfrm>
            <a:off x="7670800" y="3778250"/>
            <a:ext cx="571500" cy="571500"/>
          </a:xfrm>
          <a:prstGeom prst="ellipse">
            <a:avLst/>
          </a:prstGeom>
          <a:solidFill>
            <a:srgbClr val="FF5C85">
              <a:alpha val="15000"/>
            </a:srgbClr>
          </a:solidFill>
          <a:ln w="19050">
            <a:solidFill>
              <a:srgbClr val="FF5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5250" y="4476750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mazon Ember"/>
              </a:rPr>
              <a:t>Point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5250" y="4857750"/>
            <a:ext cx="30226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21590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600">
                <a:solidFill>
                  <a:srgbClr val="FF9900"/>
                </a:solidFill>
                <a:latin typeface="Amazon Ember"/>
              </a:rPr>
              <a:t>Introducing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476500"/>
            <a:ext cx="7620000" cy="2222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Amazon Ember"/>
              </a:rPr>
              <a:t>The Next</a:t>
            </a:r>
          </a:p>
          <a:p>
            <a:pPr algn="l"/>
            <a:r>
              <a:rPr sz="6400" b="1">
                <a:solidFill>
                  <a:srgbClr val="FF9900"/>
                </a:solidFill>
                <a:latin typeface="Amazon Ember"/>
              </a:rPr>
              <a:t>Big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762500"/>
            <a:ext cx="5080000" cy="381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600">
                <a:solidFill>
                  <a:srgbClr val="8FA7C4"/>
                </a:solidFill>
                <a:latin typeface="Amazon Ember"/>
              </a:rPr>
              <a:t>A short description that supports the title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622550" y="1460500"/>
            <a:ext cx="1270000" cy="1270000"/>
          </a:xfrm>
          <a:prstGeom prst="ellipse">
            <a:avLst/>
          </a:prstGeom>
          <a:solidFill>
            <a:srgbClr val="161E2C"/>
          </a:solidFill>
          <a:ln w="31750" cap="flat">
            <a:gradFill rotWithShape="1">
              <a:gsLst>
                <a:gs pos="0">
                  <a:srgbClr val="FF9900"/>
                </a:gs>
                <a:gs pos="100000">
                  <a:srgbClr val="FBD332"/>
                </a:gs>
              </a:gsLst>
              <a:lin ang="13500000" scaled="1"/>
            </a:gra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2984500"/>
            <a:ext cx="52959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ctr">
              <a:lnSpc>
                <a:spcPct val="90000"/>
              </a:lnSpc>
            </a:pPr>
            <a:r>
              <a:rPr sz="3200" b="1">
                <a:solidFill>
                  <a:srgbClr val="FFFFFF"/>
                </a:solidFill>
                <a:latin typeface="Amazon Ember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7100" y="3524250"/>
            <a:ext cx="46609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400">
                <a:solidFill>
                  <a:srgbClr val="8FA7C4"/>
                </a:solidFill>
                <a:latin typeface="Amazon Ember"/>
              </a:rPr>
              <a:t>A brief description of the service and its core value proposition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86500" y="1460500"/>
            <a:ext cx="0" cy="3810000"/>
          </a:xfrm>
          <a:prstGeom prst="line">
            <a:avLst/>
          </a:prstGeom>
          <a:ln w="25400">
            <a:gradFill rotWithShape="1">
              <a:gsLst>
                <a:gs pos="0">
                  <a:srgbClr val="FF9900"/>
                </a:gs>
                <a:gs pos="50000">
                  <a:srgbClr val="AB47BC"/>
                </a:gs>
                <a:gs pos="100000">
                  <a:srgbClr val="42A5F5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223000" y="1714500"/>
            <a:ext cx="133350" cy="133350"/>
          </a:xfrm>
          <a:prstGeom prst="ellipse">
            <a:avLst/>
          </a:prstGeom>
          <a:solidFill>
            <a:srgbClr val="FF99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77000" y="1619250"/>
            <a:ext cx="47625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mazon Ember"/>
              </a:rPr>
              <a:t>Feature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1936750"/>
            <a:ext cx="4762500" cy="285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9" name="Oval 8"/>
          <p:cNvSpPr/>
          <p:nvPr/>
        </p:nvSpPr>
        <p:spPr>
          <a:xfrm>
            <a:off x="6223000" y="2667000"/>
            <a:ext cx="133350" cy="133350"/>
          </a:xfrm>
          <a:prstGeom prst="ellipse">
            <a:avLst/>
          </a:prstGeom>
          <a:solidFill>
            <a:srgbClr val="AB47B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77000" y="2571750"/>
            <a:ext cx="47625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mazon Ember"/>
              </a:rPr>
              <a:t>Feature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0" y="2889250"/>
            <a:ext cx="4762500" cy="285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12" name="Oval 11"/>
          <p:cNvSpPr/>
          <p:nvPr/>
        </p:nvSpPr>
        <p:spPr>
          <a:xfrm>
            <a:off x="6223000" y="3619500"/>
            <a:ext cx="133350" cy="133350"/>
          </a:xfrm>
          <a:prstGeom prst="ellipse">
            <a:avLst/>
          </a:prstGeom>
          <a:solidFill>
            <a:srgbClr val="42A5F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7000" y="3524250"/>
            <a:ext cx="47625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mazon Ember"/>
              </a:rPr>
              <a:t>Feature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841750"/>
            <a:ext cx="4762500" cy="285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270000"/>
            <a:ext cx="2603500" cy="2667000"/>
          </a:xfrm>
          <a:prstGeom prst="roundRect">
            <a:avLst>
              <a:gd name="adj" fmla="val 4000"/>
            </a:avLst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09600" y="1270000"/>
            <a:ext cx="2603500" cy="0"/>
          </a:xfrm>
          <a:prstGeom prst="line">
            <a:avLst/>
          </a:prstGeom>
          <a:ln w="38100">
            <a:solidFill>
              <a:srgbClr val="0077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1460500"/>
            <a:ext cx="22225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mazon Ember"/>
              </a:rPr>
              <a:t>Option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05000"/>
            <a:ext cx="2222500" cy="1270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3600" y="1270000"/>
            <a:ext cx="2603500" cy="2667000"/>
          </a:xfrm>
          <a:prstGeom prst="roundRect">
            <a:avLst>
              <a:gd name="adj" fmla="val 4000"/>
            </a:avLst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403600" y="1270000"/>
            <a:ext cx="2603500" cy="0"/>
          </a:xfrm>
          <a:prstGeom prst="line">
            <a:avLst/>
          </a:prstGeom>
          <a:ln w="38100">
            <a:solidFill>
              <a:srgbClr val="00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594100" y="1460500"/>
            <a:ext cx="22225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mazon Ember"/>
              </a:rPr>
              <a:t>Option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4100" y="1905000"/>
            <a:ext cx="2222500" cy="1270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7600" y="1270000"/>
            <a:ext cx="2603500" cy="2667000"/>
          </a:xfrm>
          <a:prstGeom prst="roundRect">
            <a:avLst>
              <a:gd name="adj" fmla="val 4000"/>
            </a:avLst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6197600" y="1270000"/>
            <a:ext cx="2603500" cy="0"/>
          </a:xfrm>
          <a:prstGeom prst="line">
            <a:avLst/>
          </a:prstGeom>
          <a:ln w="38100">
            <a:solidFill>
              <a:srgbClr val="00E5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88100" y="1460500"/>
            <a:ext cx="22225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mazon Ember"/>
              </a:rPr>
              <a:t>Option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100" y="1905000"/>
            <a:ext cx="2222500" cy="1270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1600" y="1270000"/>
            <a:ext cx="2590800" cy="2667000"/>
          </a:xfrm>
          <a:prstGeom prst="roundRect">
            <a:avLst>
              <a:gd name="adj" fmla="val 4000"/>
            </a:avLst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8991600" y="1270000"/>
            <a:ext cx="2590800" cy="0"/>
          </a:xfrm>
          <a:prstGeom prst="line">
            <a:avLst/>
          </a:prstGeom>
          <a:ln w="38100">
            <a:solidFill>
              <a:srgbClr val="04E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82100" y="1460500"/>
            <a:ext cx="22098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mazon Ember"/>
              </a:rPr>
              <a:t>Option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2100" y="1905000"/>
            <a:ext cx="2209800" cy="1270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191000"/>
            <a:ext cx="1708150" cy="33655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077E5"/>
                </a:solidFill>
                <a:latin typeface="Amazon Ember"/>
              </a:rPr>
              <a:t>EASIER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17750" y="4356100"/>
            <a:ext cx="7556500" cy="0"/>
          </a:xfrm>
          <a:prstGeom prst="line">
            <a:avLst/>
          </a:prstGeom>
          <a:ln w="19050">
            <a:gradFill rotWithShape="1">
              <a:gsLst>
                <a:gs pos="0">
                  <a:srgbClr val="0077E5"/>
                </a:gs>
                <a:gs pos="100000">
                  <a:srgbClr val="04E500"/>
                </a:gs>
              </a:gsLst>
              <a:lin ang="0" scaled="1"/>
            </a:gradFill>
            <a:prstDash val="dash"/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874250" y="4191000"/>
            <a:ext cx="1708150" cy="33655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4E500"/>
                </a:solidFill>
                <a:latin typeface="Amazon Ember"/>
              </a:rPr>
              <a:t>COMPLEX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6000" y="1143000"/>
            <a:ext cx="0" cy="4064000"/>
          </a:xfrm>
          <a:prstGeom prst="line">
            <a:avLst/>
          </a:prstGeom>
          <a:ln w="12700">
            <a:solidFill>
              <a:srgbClr val="8FA7C4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524000" y="3175000"/>
            <a:ext cx="9144000" cy="0"/>
          </a:xfrm>
          <a:prstGeom prst="line">
            <a:avLst/>
          </a:prstGeom>
          <a:ln w="12700">
            <a:solidFill>
              <a:srgbClr val="8FA7C4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61000" y="889000"/>
            <a:ext cx="1270000" cy="254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200" b="1">
                <a:solidFill>
                  <a:srgbClr val="8FA7C4"/>
                </a:solidFill>
                <a:latin typeface="Amazon Ember"/>
              </a:rPr>
              <a:t>HIGH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0" y="5207000"/>
            <a:ext cx="1270000" cy="254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200" b="1">
                <a:solidFill>
                  <a:srgbClr val="8FA7C4"/>
                </a:solidFill>
                <a:latin typeface="Amazon Ember"/>
              </a:rPr>
              <a:t>LOW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9000" y="3048000"/>
            <a:ext cx="635000" cy="254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ctr">
              <a:lnSpc>
                <a:spcPct val="80000"/>
              </a:lnSpc>
            </a:pPr>
            <a:r>
              <a:rPr sz="840" b="1">
                <a:solidFill>
                  <a:srgbClr val="8FA7C4"/>
                </a:solidFill>
                <a:latin typeface="Amazon Ember"/>
              </a:rPr>
              <a:t>LOW</a:t>
            </a:r>
          </a:p>
          <a:p>
            <a:pPr algn="ctr">
              <a:lnSpc>
                <a:spcPct val="80000"/>
              </a:lnSpc>
            </a:pPr>
            <a:r>
              <a:rPr sz="840" b="1">
                <a:solidFill>
                  <a:srgbClr val="8FA7C4"/>
                </a:solidFill>
                <a:latin typeface="Amazon Ember"/>
              </a:rPr>
              <a:t>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0" y="3048000"/>
            <a:ext cx="635000" cy="254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ctr">
              <a:lnSpc>
                <a:spcPct val="80000"/>
              </a:lnSpc>
            </a:pPr>
            <a:r>
              <a:rPr sz="840" b="1">
                <a:solidFill>
                  <a:srgbClr val="8FA7C4"/>
                </a:solidFill>
                <a:latin typeface="Amazon Ember"/>
              </a:rPr>
              <a:t>HIGH</a:t>
            </a:r>
          </a:p>
          <a:p>
            <a:pPr algn="ctr">
              <a:lnSpc>
                <a:spcPct val="80000"/>
              </a:lnSpc>
            </a:pPr>
            <a:r>
              <a:rPr sz="840" b="1">
                <a:solidFill>
                  <a:srgbClr val="8FA7C4"/>
                </a:solidFill>
                <a:latin typeface="Amazon Ember"/>
              </a:rPr>
              <a:t>EFFORT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51000" y="1270000"/>
            <a:ext cx="4349750" cy="1809750"/>
          </a:xfrm>
          <a:prstGeom prst="roundRect">
            <a:avLst>
              <a:gd name="adj" fmla="val 4000"/>
            </a:avLst>
          </a:prstGeom>
          <a:solidFill>
            <a:srgbClr val="00C853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78000" y="1397000"/>
            <a:ext cx="1905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FFFFFF"/>
                </a:solidFill>
                <a:latin typeface="Amazon Ember"/>
              </a:rPr>
              <a:t>Quick Wins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250" y="1270000"/>
            <a:ext cx="4349750" cy="1809750"/>
          </a:xfrm>
          <a:prstGeom prst="roundRect">
            <a:avLst>
              <a:gd name="adj" fmla="val 4000"/>
            </a:avLst>
          </a:prstGeom>
          <a:solidFill>
            <a:srgbClr val="42A5F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18250" y="1397000"/>
            <a:ext cx="1905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FFFFFF"/>
                </a:solidFill>
                <a:latin typeface="Amazon Ember"/>
              </a:rPr>
              <a:t>Strategic Bets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1000" y="3270250"/>
            <a:ext cx="4349750" cy="1809750"/>
          </a:xfrm>
          <a:prstGeom prst="roundRect">
            <a:avLst>
              <a:gd name="adj" fmla="val 4000"/>
            </a:avLst>
          </a:prstGeom>
          <a:solidFill>
            <a:srgbClr val="FFFF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78000" y="3397250"/>
            <a:ext cx="1905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8FA7C4"/>
                </a:solidFill>
                <a:latin typeface="Amazon Ember"/>
              </a:rPr>
              <a:t>Low Priority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3270250"/>
            <a:ext cx="4349750" cy="1809750"/>
          </a:xfrm>
          <a:prstGeom prst="roundRect">
            <a:avLst>
              <a:gd name="adj" fmla="val 4000"/>
            </a:avLst>
          </a:prstGeom>
          <a:solidFill>
            <a:srgbClr val="FF5C8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8250" y="3397250"/>
            <a:ext cx="1905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8FA7C4"/>
                </a:solidFill>
                <a:latin typeface="Amazon Ember"/>
              </a:rPr>
              <a:t>Reconsider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600" y="1270000"/>
            <a:ext cx="0" cy="381000"/>
          </a:xfrm>
          <a:prstGeom prst="line">
            <a:avLst/>
          </a:prstGeom>
          <a:ln w="3810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62000" y="1301750"/>
            <a:ext cx="1905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FFFFFF"/>
                </a:solidFill>
                <a:latin typeface="Amazon Ember"/>
              </a:rPr>
              <a:t>Topic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51000"/>
            <a:ext cx="101600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400">
                <a:solidFill>
                  <a:srgbClr val="8FA7C4"/>
                </a:solidFill>
                <a:latin typeface="Amazon Ember"/>
              </a:rPr>
              <a:t>Description text for the first topic area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2254250"/>
            <a:ext cx="10972800" cy="0"/>
          </a:xfrm>
          <a:prstGeom prst="line">
            <a:avLst/>
          </a:prstGeom>
          <a:ln w="6350">
            <a:solidFill>
              <a:srgbClr val="8FA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" y="2381250"/>
            <a:ext cx="0" cy="381000"/>
          </a:xfrm>
          <a:prstGeom prst="line">
            <a:avLst/>
          </a:prstGeom>
          <a:ln w="3810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62000" y="2413000"/>
            <a:ext cx="1905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FFFFFF"/>
                </a:solidFill>
                <a:latin typeface="Amazon Ember"/>
              </a:rPr>
              <a:t>Topic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762250"/>
            <a:ext cx="101600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400">
                <a:solidFill>
                  <a:srgbClr val="8FA7C4"/>
                </a:solidFill>
                <a:latin typeface="Amazon Ember"/>
              </a:rPr>
              <a:t>Description text for the second topic area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" y="3365500"/>
            <a:ext cx="10972800" cy="0"/>
          </a:xfrm>
          <a:prstGeom prst="line">
            <a:avLst/>
          </a:prstGeom>
          <a:ln w="6350">
            <a:solidFill>
              <a:srgbClr val="8FA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600" y="3492500"/>
            <a:ext cx="0" cy="381000"/>
          </a:xfrm>
          <a:prstGeom prst="line">
            <a:avLst/>
          </a:prstGeom>
          <a:ln w="3810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2000" y="3524250"/>
            <a:ext cx="1905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FFFFFF"/>
                </a:solidFill>
                <a:latin typeface="Amazon Ember"/>
              </a:rPr>
              <a:t>Topic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873500"/>
            <a:ext cx="101600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400">
                <a:solidFill>
                  <a:srgbClr val="8FA7C4"/>
                </a:solidFill>
                <a:latin typeface="Amazon Ember"/>
              </a:rPr>
              <a:t>Description text for the third topic area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4476750"/>
            <a:ext cx="10972800" cy="0"/>
          </a:xfrm>
          <a:prstGeom prst="line">
            <a:avLst/>
          </a:prstGeom>
          <a:ln w="6350">
            <a:solidFill>
              <a:srgbClr val="8FA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9600" y="4730750"/>
            <a:ext cx="10972800" cy="635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02060"/>
              </a:gs>
              <a:gs pos="100000">
                <a:srgbClr val="8105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9000" y="4857750"/>
            <a:ext cx="10414000" cy="381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mazon Ember"/>
              </a:rPr>
              <a:t>Conclusion: Summary takeaway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70000" y="1587500"/>
            <a:ext cx="9652000" cy="3492500"/>
          </a:xfrm>
          <a:custGeom>
            <a:avLst/>
            <a:gdLst/>
            <a:ahLst/>
            <a:cxnLst/>
            <a:rect l="l" t="t" r="r" b="b"/>
            <a:pathLst>
              <a:path w="9652000" h="3492500" fill="none">
                <a:moveTo>
                  <a:pt x="0" y="3492500"/>
                </a:moveTo>
                <a:lnTo>
                  <a:pt x="1377950" y="3492500"/>
                </a:lnTo>
                <a:cubicBezTo>
                  <a:pt x="1930400" y="3492500"/>
                  <a:pt x="2203450" y="2330450"/>
                  <a:pt x="2755900" y="2330450"/>
                </a:cubicBezTo>
                <a:lnTo>
                  <a:pt x="4133850" y="2330450"/>
                </a:lnTo>
                <a:cubicBezTo>
                  <a:pt x="4686300" y="2330450"/>
                  <a:pt x="4965700" y="1162050"/>
                  <a:pt x="5518150" y="1162050"/>
                </a:cubicBezTo>
                <a:lnTo>
                  <a:pt x="6896100" y="1162050"/>
                </a:lnTo>
                <a:cubicBezTo>
                  <a:pt x="7448550" y="1162050"/>
                  <a:pt x="7721600" y="0"/>
                  <a:pt x="8274050" y="0"/>
                </a:cubicBezTo>
                <a:lnTo>
                  <a:pt x="9652000" y="0"/>
                </a:lnTo>
              </a:path>
            </a:pathLst>
          </a:custGeom>
          <a:ln w="444500" cap="flat">
            <a:gradFill rotWithShape="1">
              <a:gsLst>
                <a:gs pos="0">
                  <a:srgbClr val="FF9900"/>
                </a:gs>
                <a:gs pos="33000">
                  <a:srgbClr val="FF5C85"/>
                </a:gs>
                <a:gs pos="66000">
                  <a:srgbClr val="AB47BC"/>
                </a:gs>
                <a:gs pos="100000">
                  <a:srgbClr val="42A5F5"/>
                </a:gs>
              </a:gsLst>
              <a:lin ang="0" scaled="1"/>
            </a:gra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733550" y="4857750"/>
            <a:ext cx="444500" cy="444500"/>
          </a:xfrm>
          <a:prstGeom prst="ellipse">
            <a:avLst/>
          </a:prstGeom>
          <a:solidFill>
            <a:srgbClr val="FFC166"/>
          </a:solidFill>
          <a:ln>
            <a:noFill/>
          </a:ln>
          <a:effectLst>
            <a:outerShdw blurRad="38100" dist="19050" dir="8100000" algn="bl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93800" y="4508500"/>
            <a:ext cx="1524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mazon Ember"/>
              </a:rP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3800" y="5365750"/>
            <a:ext cx="1524000" cy="285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2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6" name="Oval 5"/>
          <p:cNvSpPr/>
          <p:nvPr/>
        </p:nvSpPr>
        <p:spPr>
          <a:xfrm>
            <a:off x="4489450" y="3689350"/>
            <a:ext cx="444500" cy="444500"/>
          </a:xfrm>
          <a:prstGeom prst="ellipse">
            <a:avLst/>
          </a:prstGeom>
          <a:solidFill>
            <a:srgbClr val="FF9DB5"/>
          </a:solidFill>
          <a:ln>
            <a:noFill/>
          </a:ln>
          <a:effectLst>
            <a:outerShdw blurRad="38100" dist="19050" dir="8100000" algn="bl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49700" y="3340100"/>
            <a:ext cx="1524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mazon Ember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49700" y="4197350"/>
            <a:ext cx="1524000" cy="285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2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9" name="Oval 8"/>
          <p:cNvSpPr/>
          <p:nvPr/>
        </p:nvSpPr>
        <p:spPr>
          <a:xfrm>
            <a:off x="7251700" y="2527300"/>
            <a:ext cx="444500" cy="444500"/>
          </a:xfrm>
          <a:prstGeom prst="ellipse">
            <a:avLst/>
          </a:prstGeom>
          <a:solidFill>
            <a:srgbClr val="CC90D6"/>
          </a:solidFill>
          <a:ln>
            <a:noFill/>
          </a:ln>
          <a:effectLst>
            <a:outerShdw blurRad="38100" dist="19050" dir="8100000" algn="bl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11950" y="2178050"/>
            <a:ext cx="1524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mazon Ember"/>
              </a:rPr>
              <a:t>Phase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1950" y="3035300"/>
            <a:ext cx="1524000" cy="285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2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  <p:sp>
        <p:nvSpPr>
          <p:cNvPr id="12" name="Oval 11"/>
          <p:cNvSpPr/>
          <p:nvPr/>
        </p:nvSpPr>
        <p:spPr>
          <a:xfrm>
            <a:off x="10007600" y="1365250"/>
            <a:ext cx="444500" cy="444500"/>
          </a:xfrm>
          <a:prstGeom prst="ellipse">
            <a:avLst/>
          </a:prstGeom>
          <a:solidFill>
            <a:srgbClr val="8DC9F9"/>
          </a:solidFill>
          <a:ln>
            <a:noFill/>
          </a:ln>
          <a:effectLst>
            <a:outerShdw blurRad="38100" dist="19050" dir="8100000" algn="bl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67850" y="1016000"/>
            <a:ext cx="1524000" cy="317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mazon Ember"/>
              </a:rPr>
              <a:t>Phase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7850" y="1873250"/>
            <a:ext cx="1524000" cy="285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ctr"/>
            <a:r>
              <a:rPr sz="1200">
                <a:solidFill>
                  <a:srgbClr val="8FA7C4"/>
                </a:solidFill>
                <a:latin typeface="Amazon Ember"/>
              </a:rPr>
              <a:t>Description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3790950" y="1397000"/>
            <a:ext cx="0" cy="3683000"/>
          </a:xfrm>
          <a:prstGeom prst="line">
            <a:avLst/>
          </a:prstGeom>
          <a:ln w="6350">
            <a:solidFill>
              <a:srgbClr val="8FA7C4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5384800" y="1397000"/>
            <a:ext cx="0" cy="3683000"/>
          </a:xfrm>
          <a:prstGeom prst="line">
            <a:avLst/>
          </a:prstGeom>
          <a:ln w="6350">
            <a:solidFill>
              <a:srgbClr val="8FA7C4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978650" y="1397000"/>
            <a:ext cx="0" cy="3683000"/>
          </a:xfrm>
          <a:prstGeom prst="line">
            <a:avLst/>
          </a:prstGeom>
          <a:ln w="6350">
            <a:solidFill>
              <a:srgbClr val="8FA7C4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72500" y="1397000"/>
            <a:ext cx="0" cy="3683000"/>
          </a:xfrm>
          <a:prstGeom prst="line">
            <a:avLst/>
          </a:prstGeom>
          <a:ln w="6350">
            <a:solidFill>
              <a:srgbClr val="8FA7C4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66350" y="1397000"/>
            <a:ext cx="0" cy="3683000"/>
          </a:xfrm>
          <a:prstGeom prst="line">
            <a:avLst/>
          </a:prstGeom>
          <a:ln w="6350">
            <a:solidFill>
              <a:srgbClr val="8FA7C4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22500" y="1206500"/>
            <a:ext cx="1543050" cy="190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ctr">
              <a:lnSpc>
                <a:spcPct val="90000"/>
              </a:lnSpc>
            </a:pPr>
            <a:r>
              <a:rPr sz="1017">
                <a:solidFill>
                  <a:srgbClr val="8FA7C4"/>
                </a:solidFill>
                <a:latin typeface="Amazon Ember"/>
              </a:rPr>
              <a:t>Jan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6350" y="1206500"/>
            <a:ext cx="1543050" cy="190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ctr">
              <a:lnSpc>
                <a:spcPct val="90000"/>
              </a:lnSpc>
            </a:pPr>
            <a:r>
              <a:rPr sz="1017">
                <a:solidFill>
                  <a:srgbClr val="8FA7C4"/>
                </a:solidFill>
                <a:latin typeface="Amazon Ember"/>
              </a:rPr>
              <a:t>Feb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1206500"/>
            <a:ext cx="1543050" cy="190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ctr">
              <a:lnSpc>
                <a:spcPct val="90000"/>
              </a:lnSpc>
            </a:pPr>
            <a:r>
              <a:rPr sz="1017">
                <a:solidFill>
                  <a:srgbClr val="8FA7C4"/>
                </a:solidFill>
                <a:latin typeface="Amazon Ember"/>
              </a:rPr>
              <a:t>Mar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4050" y="1206500"/>
            <a:ext cx="1543050" cy="190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ctr">
              <a:lnSpc>
                <a:spcPct val="90000"/>
              </a:lnSpc>
            </a:pPr>
            <a:r>
              <a:rPr sz="1017">
                <a:solidFill>
                  <a:srgbClr val="8FA7C4"/>
                </a:solidFill>
                <a:latin typeface="Amazon Ember"/>
              </a:rPr>
              <a:t>Apr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7900" y="1206500"/>
            <a:ext cx="1543050" cy="190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ctr">
              <a:lnSpc>
                <a:spcPct val="90000"/>
              </a:lnSpc>
            </a:pPr>
            <a:r>
              <a:rPr sz="1017">
                <a:solidFill>
                  <a:srgbClr val="8FA7C4"/>
                </a:solidFill>
                <a:latin typeface="Amazon Ember"/>
              </a:rPr>
              <a:t>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50" y="1206500"/>
            <a:ext cx="1555750" cy="190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ctr">
              <a:lnSpc>
                <a:spcPct val="90000"/>
              </a:lnSpc>
            </a:pPr>
            <a:r>
              <a:rPr sz="1017">
                <a:solidFill>
                  <a:srgbClr val="8FA7C4"/>
                </a:solidFill>
                <a:latin typeface="Amazon Ember"/>
              </a:rPr>
              <a:t>Jun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22500" y="1409700"/>
            <a:ext cx="9525000" cy="0"/>
          </a:xfrm>
          <a:prstGeom prst="line">
            <a:avLst/>
          </a:prstGeom>
          <a:ln w="6350">
            <a:solidFill>
              <a:srgbClr val="8FA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9600" y="163195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r">
              <a:lnSpc>
                <a:spcPct val="90000"/>
              </a:lnSpc>
            </a:pPr>
            <a:r>
              <a:rPr sz="1300" b="1">
                <a:solidFill>
                  <a:srgbClr val="FFFFFF"/>
                </a:solidFill>
                <a:latin typeface="Amazon Ember"/>
              </a:rPr>
              <a:t>Requirements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38125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r">
              <a:lnSpc>
                <a:spcPct val="90000"/>
              </a:lnSpc>
            </a:pPr>
            <a:r>
              <a:rPr sz="1300" b="1">
                <a:solidFill>
                  <a:srgbClr val="FFFFFF"/>
                </a:solidFill>
                <a:latin typeface="Amazon Ember"/>
              </a:rPr>
              <a:t>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13055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r">
              <a:lnSpc>
                <a:spcPct val="90000"/>
              </a:lnSpc>
            </a:pPr>
            <a:r>
              <a:rPr sz="1300" b="1">
                <a:solidFill>
                  <a:srgbClr val="FFFFFF"/>
                </a:solidFill>
                <a:latin typeface="Amazon Ember"/>
              </a:rPr>
              <a:t>Development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87985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r">
              <a:lnSpc>
                <a:spcPct val="90000"/>
              </a:lnSpc>
            </a:pPr>
            <a:r>
              <a:rPr sz="1300" b="1">
                <a:solidFill>
                  <a:srgbClr val="FFFFFF"/>
                </a:solidFill>
                <a:latin typeface="Amazon Ember"/>
              </a:rPr>
              <a:t>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6228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r">
              <a:lnSpc>
                <a:spcPct val="90000"/>
              </a:lnSpc>
            </a:pPr>
            <a:r>
              <a:rPr sz="1300" b="1">
                <a:solidFill>
                  <a:srgbClr val="FFFFFF"/>
                </a:solidFill>
                <a:latin typeface="Amazon Ember"/>
              </a:rPr>
              <a:t>Release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22500" y="1631950"/>
            <a:ext cx="3136900" cy="22860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816350" y="2381250"/>
            <a:ext cx="3136900" cy="22860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10200" y="3130550"/>
            <a:ext cx="4730750" cy="228600"/>
          </a:xfrm>
          <a:prstGeom prst="roundRect">
            <a:avLst>
              <a:gd name="adj" fmla="val 5000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597900" y="3879850"/>
            <a:ext cx="3149600" cy="228600"/>
          </a:xfrm>
          <a:prstGeom prst="roundRect">
            <a:avLst>
              <a:gd name="adj" fmla="val 50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191750" y="4622800"/>
            <a:ext cx="1555750" cy="228600"/>
          </a:xfrm>
          <a:prstGeom prst="roundRect">
            <a:avLst>
              <a:gd name="adj" fmla="val 50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978650" y="1206500"/>
            <a:ext cx="0" cy="3937000"/>
          </a:xfrm>
          <a:prstGeom prst="line">
            <a:avLst/>
          </a:prstGeom>
          <a:ln w="19050">
            <a:solidFill>
              <a:srgbClr val="FF5C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00850" y="1079500"/>
            <a:ext cx="355600" cy="152400"/>
          </a:xfrm>
          <a:prstGeom prst="roundRect">
            <a:avLst>
              <a:gd name="adj" fmla="val 50000"/>
            </a:avLst>
          </a:prstGeom>
          <a:solidFill>
            <a:srgbClr val="FF5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80000"/>
              </a:lnSpc>
            </a:pPr>
            <a:r>
              <a:rPr sz="200" b="1">
                <a:solidFill>
                  <a:srgbClr val="FFFFFF"/>
                </a:solidFill>
                <a:latin typeface="Amazon Ember"/>
              </a:rPr>
              <a:t>Today</a:t>
            </a:r>
          </a:p>
        </p:txBody>
      </p:sp>
      <p:sp>
        <p:nvSpPr>
          <p:cNvPr id="26" name="Diamond 25"/>
          <p:cNvSpPr/>
          <p:nvPr/>
        </p:nvSpPr>
        <p:spPr>
          <a:xfrm>
            <a:off x="11779250" y="4673600"/>
            <a:ext cx="127000" cy="127000"/>
          </a:xfrm>
          <a:prstGeom prst="diamond">
            <a:avLst/>
          </a:prstGeom>
          <a:solidFill>
            <a:srgbClr val="FDD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1430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80000"/>
              </a:lnSpc>
            </a:pPr>
            <a:r>
              <a:rPr sz="2590" b="1">
                <a:solidFill>
                  <a:srgbClr val="FFFFFF"/>
                </a:solidFill>
                <a:latin typeface="Amazon Ember"/>
              </a:rPr>
              <a:t>Customer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492250"/>
            <a:ext cx="4445000" cy="2222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80000"/>
              </a:lnSpc>
            </a:pPr>
            <a:r>
              <a:rPr sz="1295">
                <a:solidFill>
                  <a:srgbClr val="FF9900"/>
                </a:solidFill>
                <a:latin typeface="Amazon Ember"/>
              </a:rPr>
              <a:t>Project Name / Subtitle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77400" y="1143000"/>
            <a:ext cx="1270000" cy="88900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8F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>
                <a:solidFill>
                  <a:srgbClr val="8FA7C4"/>
                </a:solidFill>
                <a:latin typeface="Amazon Ember"/>
              </a:rPr>
              <a:t>Logo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2159000"/>
            <a:ext cx="6985000" cy="279400"/>
          </a:xfrm>
          <a:prstGeom prst="roundRect">
            <a:avLst>
              <a:gd name="adj" fmla="val 30000"/>
            </a:avLst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219075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295" b="1">
                <a:solidFill>
                  <a:srgbClr val="FFFFFF"/>
                </a:solidFill>
                <a:latin typeface="Amazon Ember"/>
              </a:rPr>
              <a:t>Use Case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1000" y="2190750"/>
            <a:ext cx="0" cy="215900"/>
          </a:xfrm>
          <a:prstGeom prst="line">
            <a:avLst/>
          </a:prstGeom>
          <a:ln w="25400">
            <a:solidFill>
              <a:srgbClr val="8FA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79750" y="219075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295" b="1">
                <a:solidFill>
                  <a:srgbClr val="FFFFFF"/>
                </a:solidFill>
                <a:latin typeface="Amazon Ember"/>
              </a:rPr>
              <a:t>Solution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238750" y="2190750"/>
            <a:ext cx="0" cy="215900"/>
          </a:xfrm>
          <a:prstGeom prst="line">
            <a:avLst/>
          </a:prstGeom>
          <a:ln w="25400">
            <a:solidFill>
              <a:srgbClr val="8FA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397500" y="219075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295" b="1">
                <a:solidFill>
                  <a:srgbClr val="FFFFFF"/>
                </a:solidFill>
                <a:latin typeface="Amazon Ember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5400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Use case description goes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1000" y="2540000"/>
            <a:ext cx="0" cy="635000"/>
          </a:xfrm>
          <a:prstGeom prst="line">
            <a:avLst/>
          </a:prstGeom>
          <a:ln w="6350">
            <a:solidFill>
              <a:srgbClr val="8FA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79750" y="25400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Solution description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38750" y="2540000"/>
            <a:ext cx="0" cy="635000"/>
          </a:xfrm>
          <a:prstGeom prst="line">
            <a:avLst/>
          </a:prstGeom>
          <a:ln w="6350">
            <a:solidFill>
              <a:srgbClr val="8FA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397500" y="25400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Results and outcomes description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3556000"/>
            <a:ext cx="10972800" cy="1079500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500" y="3651250"/>
            <a:ext cx="635000" cy="254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Autofit/>
          </a:bodyPr>
          <a:lstStyle/>
          <a:p>
            <a:pPr algn="l">
              <a:lnSpc>
                <a:spcPct val="80000"/>
              </a:lnSpc>
            </a:pPr>
            <a:r>
              <a:rPr sz="1540" b="1">
                <a:solidFill>
                  <a:srgbClr val="FF9900"/>
                </a:solidFill>
                <a:latin typeface="Amazon Ember"/>
              </a:rPr>
              <a:t>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" y="3905250"/>
            <a:ext cx="10541000" cy="5715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400" i="1">
                <a:solidFill>
                  <a:srgbClr val="FFFFFF"/>
                </a:solidFill>
                <a:latin typeface="Amazon Ember"/>
              </a:rPr>
              <a:t>"Customer testimonial goes here. </a:t>
            </a:r>
            <a:r>
              <a:rPr sz="1400" i="1">
                <a:solidFill>
                  <a:srgbClr val="42A5F5"/>
                </a:solidFill>
                <a:latin typeface="Amazon Ember"/>
              </a:rPr>
              <a:t>Key phrase highlighted in accent color</a:t>
            </a:r>
            <a:r>
              <a:rPr sz="1400" i="1">
                <a:solidFill>
                  <a:srgbClr val="FFFFFF"/>
                </a:solidFill>
                <a:latin typeface="Amazon Ember"/>
              </a:rPr>
              <a:t> to draw attention to the core message. "</a:t>
            </a:r>
          </a:p>
          <a:p>
            <a:pPr algn="l"/>
            <a:r>
              <a:rPr sz="1400" i="1">
                <a:solidFill>
                  <a:srgbClr val="FFFFFF"/>
                </a:solidFill>
                <a:latin typeface="Amazon Ember"/>
              </a:rPr>
              <a:t>– Name, Title, Department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175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3200" b="1">
                <a:solidFill>
                  <a:srgbClr val="FFFFFF"/>
                </a:solidFill>
                <a:latin typeface="Meiryo"/>
              </a:rPr>
              <a:t>生成</a:t>
            </a:r>
            <a:r>
              <a:rPr sz="3200" b="1">
                <a:solidFill>
                  <a:srgbClr val="FFFFFF"/>
                </a:solidFill>
                <a:latin typeface="Amazon Ember"/>
              </a:rPr>
              <a:t> AI </a:t>
            </a:r>
            <a:r>
              <a:rPr sz="3200" b="1">
                <a:solidFill>
                  <a:srgbClr val="FFFFFF"/>
                </a:solidFill>
                <a:latin typeface="Meiryo"/>
              </a:rPr>
              <a:t>活用の</a:t>
            </a:r>
            <a:r>
              <a:rPr sz="3200" b="1">
                <a:solidFill>
                  <a:srgbClr val="FFFFFF"/>
                </a:solidFill>
                <a:latin typeface="Amazon Ember"/>
              </a:rPr>
              <a:t> 4 </a:t>
            </a:r>
            <a:r>
              <a:rPr sz="3200" b="1">
                <a:solidFill>
                  <a:srgbClr val="FFFFFF"/>
                </a:solidFill>
                <a:latin typeface="Meiryo"/>
              </a:rPr>
              <a:t>段階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62000"/>
            <a:ext cx="4445000" cy="28575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sz="1600">
                <a:solidFill>
                  <a:srgbClr val="8FA7C4"/>
                </a:solidFill>
                <a:latin typeface="Meiryo"/>
              </a:rPr>
              <a:t>個人の試行から組織変革へ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300" y="5130800"/>
            <a:ext cx="6496050" cy="1346200"/>
          </a:xfrm>
          <a:custGeom>
            <a:avLst/>
            <a:gdLst/>
            <a:ahLst/>
            <a:cxnLst/>
            <a:rect l="l" t="t" r="r" b="b"/>
            <a:pathLst>
              <a:path w="6496050" h="1346200">
                <a:moveTo>
                  <a:pt x="1536700" y="1092200"/>
                </a:moveTo>
                <a:cubicBezTo>
                  <a:pt x="3473450" y="1092200"/>
                  <a:pt x="5010150" y="641350"/>
                  <a:pt x="6178550" y="0"/>
                </a:cubicBezTo>
                <a:lnTo>
                  <a:pt x="0" y="0"/>
                </a:lnTo>
                <a:lnTo>
                  <a:pt x="0" y="1346200"/>
                </a:lnTo>
                <a:close/>
              </a:path>
            </a:pathLst>
          </a:custGeom>
          <a:solidFill>
            <a:srgbClr val="FF9900">
              <a:alpha val="10000"/>
            </a:srgbClr>
          </a:solidFill>
          <a:ln w="12700"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SVG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300" y="54610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9500" y="5397500"/>
            <a:ext cx="27940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000" b="1">
                <a:solidFill>
                  <a:srgbClr val="FF9900"/>
                </a:solidFill>
                <a:latin typeface="Amazon Ember"/>
              </a:rPr>
              <a:t>Lv.1</a:t>
            </a:r>
            <a:r>
              <a:rPr sz="2000">
                <a:solidFill>
                  <a:srgbClr val="FFFFFF"/>
                </a:solidFill>
                <a:latin typeface="Amazon Ember"/>
              </a:rPr>
              <a:t> </a:t>
            </a:r>
            <a:r>
              <a:rPr sz="2000" b="1">
                <a:solidFill>
                  <a:srgbClr val="FFFFFF"/>
                </a:solidFill>
                <a:latin typeface="Meiryo"/>
              </a:rPr>
              <a:t>個別利用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500" y="5753100"/>
            <a:ext cx="27940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Meiryo"/>
              </a:rPr>
              <a:t>個人が生成</a:t>
            </a:r>
            <a:r>
              <a:rPr sz="1300">
                <a:solidFill>
                  <a:srgbClr val="8FA7C4"/>
                </a:solidFill>
                <a:latin typeface="Amazon Ember"/>
              </a:rPr>
              <a:t> AI </a:t>
            </a:r>
            <a:r>
              <a:rPr sz="1300">
                <a:solidFill>
                  <a:srgbClr val="8FA7C4"/>
                </a:solidFill>
                <a:latin typeface="Meiryo"/>
              </a:rPr>
              <a:t>ツールを試行。</a:t>
            </a:r>
          </a:p>
          <a:p>
            <a:pPr algn="l"/>
            <a:r>
              <a:rPr sz="1300">
                <a:solidFill>
                  <a:srgbClr val="8FA7C4"/>
                </a:solidFill>
                <a:latin typeface="Meiryo"/>
              </a:rPr>
              <a:t>プロンプト作成スキルの習得。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68300" y="3784600"/>
            <a:ext cx="8248650" cy="1346200"/>
          </a:xfrm>
          <a:custGeom>
            <a:avLst/>
            <a:gdLst/>
            <a:ahLst/>
            <a:cxnLst/>
            <a:rect l="l" t="t" r="r" b="b"/>
            <a:pathLst>
              <a:path w="8248650" h="1346200">
                <a:moveTo>
                  <a:pt x="6178550" y="1346200"/>
                </a:moveTo>
                <a:cubicBezTo>
                  <a:pt x="6896100" y="952500"/>
                  <a:pt x="7480300" y="482600"/>
                  <a:pt x="7931150" y="0"/>
                </a:cubicBezTo>
                <a:lnTo>
                  <a:pt x="0" y="0"/>
                </a:lnTo>
                <a:lnTo>
                  <a:pt x="0" y="1346200"/>
                </a:lnTo>
                <a:close/>
              </a:path>
            </a:pathLst>
          </a:custGeom>
          <a:solidFill>
            <a:srgbClr val="00E500">
              <a:alpha val="10000"/>
            </a:srgbClr>
          </a:solidFill>
          <a:ln w="12700"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SVG 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2300" y="41148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9500" y="4051300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000" b="1">
                <a:solidFill>
                  <a:srgbClr val="00E500"/>
                </a:solidFill>
                <a:latin typeface="Amazon Ember"/>
              </a:rPr>
              <a:t>Lv.2</a:t>
            </a:r>
            <a:r>
              <a:rPr sz="2000">
                <a:solidFill>
                  <a:srgbClr val="FFFFFF"/>
                </a:solidFill>
                <a:latin typeface="Amazon Ember"/>
              </a:rPr>
              <a:t> </a:t>
            </a:r>
            <a:r>
              <a:rPr sz="2000" b="1">
                <a:solidFill>
                  <a:srgbClr val="FFFFFF"/>
                </a:solidFill>
                <a:latin typeface="Meiryo"/>
              </a:rPr>
              <a:t>チーム活用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500" y="4406900"/>
            <a:ext cx="38100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Meiryo"/>
              </a:rPr>
              <a:t>チーム内でユースケースを共有。</a:t>
            </a:r>
          </a:p>
          <a:p>
            <a:pPr algn="l"/>
            <a:r>
              <a:rPr sz="1300">
                <a:solidFill>
                  <a:srgbClr val="8FA7C4"/>
                </a:solidFill>
                <a:latin typeface="Meiryo"/>
              </a:rPr>
              <a:t>ワークフローへの組み込みと効果測定。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8300" y="2444750"/>
            <a:ext cx="9182100" cy="1339850"/>
          </a:xfrm>
          <a:custGeom>
            <a:avLst/>
            <a:gdLst/>
            <a:ahLst/>
            <a:cxnLst/>
            <a:rect l="l" t="t" r="r" b="b"/>
            <a:pathLst>
              <a:path w="9182100" h="1339850">
                <a:moveTo>
                  <a:pt x="7931150" y="1339850"/>
                </a:moveTo>
                <a:cubicBezTo>
                  <a:pt x="8356600" y="889000"/>
                  <a:pt x="8661400" y="425450"/>
                  <a:pt x="8864600" y="0"/>
                </a:cubicBezTo>
                <a:lnTo>
                  <a:pt x="0" y="0"/>
                </a:lnTo>
                <a:lnTo>
                  <a:pt x="0" y="1339850"/>
                </a:lnTo>
                <a:close/>
              </a:path>
            </a:pathLst>
          </a:custGeom>
          <a:solidFill>
            <a:srgbClr val="41B3FF">
              <a:alpha val="10000"/>
            </a:srgbClr>
          </a:solidFill>
          <a:ln w="12700"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SVG 1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2300" y="2781300"/>
            <a:ext cx="3556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9500" y="27178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000" b="1">
                <a:solidFill>
                  <a:srgbClr val="41B3FF"/>
                </a:solidFill>
                <a:latin typeface="Amazon Ember"/>
              </a:rPr>
              <a:t>Lv.3</a:t>
            </a:r>
            <a:r>
              <a:rPr sz="2000">
                <a:solidFill>
                  <a:srgbClr val="FFFFFF"/>
                </a:solidFill>
                <a:latin typeface="Amazon Ember"/>
              </a:rPr>
              <a:t> </a:t>
            </a:r>
            <a:r>
              <a:rPr sz="2000" b="1">
                <a:solidFill>
                  <a:srgbClr val="FFFFFF"/>
                </a:solidFill>
                <a:latin typeface="Meiryo"/>
              </a:rPr>
              <a:t>組織展開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" y="3073400"/>
            <a:ext cx="50800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Meiryo"/>
              </a:rPr>
              <a:t>全社的なガイドライン策定とプラットフォーム整備。</a:t>
            </a:r>
          </a:p>
          <a:p>
            <a:pPr algn="l"/>
            <a:r>
              <a:rPr sz="1300">
                <a:solidFill>
                  <a:srgbClr val="8FA7C4"/>
                </a:solidFill>
                <a:latin typeface="Meiryo"/>
              </a:rPr>
              <a:t>ガバナンスとセキュリティの確立。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300" y="1098550"/>
            <a:ext cx="9474200" cy="1346200"/>
          </a:xfrm>
          <a:custGeom>
            <a:avLst/>
            <a:gdLst/>
            <a:ahLst/>
            <a:cxnLst/>
            <a:rect l="l" t="t" r="r" b="b"/>
            <a:pathLst>
              <a:path w="9474200" h="1346200">
                <a:moveTo>
                  <a:pt x="8864600" y="1346200"/>
                </a:moveTo>
                <a:cubicBezTo>
                  <a:pt x="9061450" y="933450"/>
                  <a:pt x="9156700" y="552450"/>
                  <a:pt x="9156700" y="254000"/>
                </a:cubicBezTo>
                <a:lnTo>
                  <a:pt x="0" y="0"/>
                </a:lnTo>
                <a:lnTo>
                  <a:pt x="0" y="1346200"/>
                </a:lnTo>
                <a:close/>
              </a:path>
            </a:pathLst>
          </a:custGeom>
          <a:solidFill>
            <a:srgbClr val="AD5CFF">
              <a:alpha val="12000"/>
            </a:srgbClr>
          </a:solidFill>
          <a:ln w="12700"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SVG 1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2300" y="1435100"/>
            <a:ext cx="355600" cy="355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79500" y="1371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2000" b="1">
                <a:solidFill>
                  <a:srgbClr val="AD5CFF"/>
                </a:solidFill>
                <a:latin typeface="Amazon Ember"/>
              </a:rPr>
              <a:t>Lv.4</a:t>
            </a:r>
            <a:r>
              <a:rPr sz="2000">
                <a:solidFill>
                  <a:srgbClr val="FFFFFF"/>
                </a:solidFill>
                <a:latin typeface="Amazon Ember"/>
              </a:rPr>
              <a:t> </a:t>
            </a:r>
            <a:r>
              <a:rPr sz="2000" b="1">
                <a:solidFill>
                  <a:srgbClr val="FFFFFF"/>
                </a:solidFill>
                <a:latin typeface="Meiryo"/>
              </a:rPr>
              <a:t>変革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500" y="1727200"/>
            <a:ext cx="6350000" cy="508000"/>
          </a:xfrm>
          <a:prstGeom prst="rect">
            <a:avLst/>
          </a:prstGeom>
          <a:noFill/>
          <a:ln>
            <a:noFill/>
          </a:ln>
        </p:spPr>
        <p:txBody>
          <a:bodyPr wrap="square" tIns="0">
            <a:normAutofit/>
          </a:bodyPr>
          <a:lstStyle/>
          <a:p>
            <a:pPr algn="l"/>
            <a:r>
              <a:rPr sz="1300">
                <a:solidFill>
                  <a:srgbClr val="8FA7C4"/>
                </a:solidFill>
                <a:latin typeface="Amazon Ember"/>
              </a:rPr>
              <a:t>AI </a:t>
            </a:r>
            <a:r>
              <a:rPr sz="1300">
                <a:solidFill>
                  <a:srgbClr val="8FA7C4"/>
                </a:solidFill>
                <a:latin typeface="Meiryo"/>
              </a:rPr>
              <a:t>ネイティブなプロダクト・サービスの創出。</a:t>
            </a:r>
          </a:p>
          <a:p>
            <a:pPr algn="l"/>
            <a:r>
              <a:rPr sz="1300">
                <a:solidFill>
                  <a:srgbClr val="8FA7C4"/>
                </a:solidFill>
                <a:latin typeface="Meiryo"/>
              </a:rPr>
              <a:t>ビジネスモデルの再定義と競争優位の確立。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300" y="1098550"/>
            <a:ext cx="11455400" cy="5378450"/>
          </a:xfrm>
          <a:custGeom>
            <a:avLst/>
            <a:gdLst/>
            <a:ahLst/>
            <a:cxnLst/>
            <a:rect l="l" t="t" r="r" b="b"/>
            <a:pathLst>
              <a:path w="11455400" h="5378450" fill="none">
                <a:moveTo>
                  <a:pt x="1536700" y="5124450"/>
                </a:moveTo>
                <a:cubicBezTo>
                  <a:pt x="6870700" y="5124450"/>
                  <a:pt x="9156700" y="1714500"/>
                  <a:pt x="9156700" y="254000"/>
                </a:cubicBezTo>
              </a:path>
            </a:pathLst>
          </a:custGeom>
          <a:ln w="50800" cap="flat">
            <a:gradFill rotWithShape="1">
              <a:gsLst>
                <a:gs pos="0">
                  <a:srgbClr val="FF9900"/>
                </a:gs>
                <a:gs pos="35000">
                  <a:srgbClr val="00E500"/>
                </a:gs>
                <a:gs pos="65000">
                  <a:srgbClr val="41B3FF"/>
                </a:gs>
                <a:gs pos="100000">
                  <a:srgbClr val="AD5CFF"/>
                </a:gs>
              </a:gsLst>
              <a:lin ang="16200000" scaled="1"/>
            </a:gradFill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368300" y="2444750"/>
            <a:ext cx="11455400" cy="0"/>
          </a:xfrm>
          <a:prstGeom prst="line">
            <a:avLst/>
          </a:prstGeom>
          <a:ln w="6350">
            <a:solidFill>
              <a:srgbClr val="FFF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8300" y="3784600"/>
            <a:ext cx="11455400" cy="0"/>
          </a:xfrm>
          <a:prstGeom prst="line">
            <a:avLst/>
          </a:prstGeom>
          <a:ln w="6350">
            <a:solidFill>
              <a:srgbClr val="FFF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8300" y="5130800"/>
            <a:ext cx="11455400" cy="0"/>
          </a:xfrm>
          <a:prstGeom prst="line">
            <a:avLst/>
          </a:prstGeom>
          <a:ln w="6350">
            <a:solidFill>
              <a:srgbClr val="FFF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315200" y="3124200"/>
            <a:ext cx="609600" cy="609600"/>
          </a:xfrm>
          <a:prstGeom prst="ellipse">
            <a:avLst/>
          </a:prstGeom>
          <a:noFill/>
          <a:ln w="254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V="1">
            <a:off x="7620000" y="1651000"/>
            <a:ext cx="0" cy="1778000"/>
          </a:xfrm>
          <a:prstGeom prst="line">
            <a:avLst/>
          </a:prstGeom>
          <a:ln w="19050">
            <a:solidFill>
              <a:srgbClr val="FFF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7416800" y="1447800"/>
            <a:ext cx="406400" cy="406400"/>
          </a:xfrm>
          <a:prstGeom prst="ellipse">
            <a:avLst/>
          </a:prstGeom>
          <a:noFill/>
          <a:ln w="19050">
            <a:solidFill>
              <a:srgbClr val="41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12000" y="10541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Amazon Ember"/>
              </a:rPr>
              <a:t>Feature 1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5930900" y="2876550"/>
            <a:ext cx="1689100" cy="552450"/>
          </a:xfrm>
          <a:prstGeom prst="line">
            <a:avLst/>
          </a:prstGeom>
          <a:ln w="19050">
            <a:solidFill>
              <a:srgbClr val="FFF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727700" y="2673350"/>
            <a:ext cx="406400" cy="406400"/>
          </a:xfrm>
          <a:prstGeom prst="ellipse">
            <a:avLst/>
          </a:prstGeom>
          <a:noFill/>
          <a:ln w="19050">
            <a:solidFill>
              <a:srgbClr val="41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35500" y="27178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r"/>
            <a:r>
              <a:rPr sz="1400">
                <a:solidFill>
                  <a:srgbClr val="FFFFFF"/>
                </a:solidFill>
                <a:latin typeface="Amazon Ember"/>
              </a:rPr>
              <a:t>Feature 2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572250" y="3429000"/>
            <a:ext cx="1047750" cy="1441450"/>
          </a:xfrm>
          <a:prstGeom prst="line">
            <a:avLst/>
          </a:prstGeom>
          <a:ln w="19050">
            <a:solidFill>
              <a:srgbClr val="FFF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369050" y="4667250"/>
            <a:ext cx="406400" cy="406400"/>
          </a:xfrm>
          <a:prstGeom prst="ellipse">
            <a:avLst/>
          </a:prstGeom>
          <a:noFill/>
          <a:ln w="19050">
            <a:solidFill>
              <a:srgbClr val="41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76850" y="47117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r"/>
            <a:r>
              <a:rPr sz="1400">
                <a:solidFill>
                  <a:srgbClr val="FFFFFF"/>
                </a:solidFill>
                <a:latin typeface="Amazon Ember"/>
              </a:rPr>
              <a:t>Feature 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20000" y="3429000"/>
            <a:ext cx="1047750" cy="1441450"/>
          </a:xfrm>
          <a:prstGeom prst="line">
            <a:avLst/>
          </a:prstGeom>
          <a:ln w="19050">
            <a:solidFill>
              <a:srgbClr val="FFF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464550" y="4667250"/>
            <a:ext cx="406400" cy="406400"/>
          </a:xfrm>
          <a:prstGeom prst="ellipse">
            <a:avLst/>
          </a:prstGeom>
          <a:noFill/>
          <a:ln w="19050">
            <a:solidFill>
              <a:srgbClr val="41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47150" y="47117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sz="1400">
                <a:solidFill>
                  <a:srgbClr val="FFFFFF"/>
                </a:solidFill>
                <a:latin typeface="Amazon Ember"/>
              </a:rPr>
              <a:t>Feature 4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7620000" y="2876550"/>
            <a:ext cx="1689100" cy="552450"/>
          </a:xfrm>
          <a:prstGeom prst="line">
            <a:avLst/>
          </a:prstGeom>
          <a:ln w="19050">
            <a:solidFill>
              <a:srgbClr val="FFFFF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05900" y="2673350"/>
            <a:ext cx="406400" cy="406400"/>
          </a:xfrm>
          <a:prstGeom prst="ellipse">
            <a:avLst/>
          </a:prstGeom>
          <a:noFill/>
          <a:ln w="19050">
            <a:solidFill>
              <a:srgbClr val="41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88500" y="27178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sz="1400">
                <a:solidFill>
                  <a:srgbClr val="FFFFFF"/>
                </a:solidFill>
                <a:latin typeface="Amazon Ember"/>
              </a:rPr>
              <a:t>Feature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3283</Words>
  <Application>Microsoft Macintosh PowerPoint</Application>
  <PresentationFormat>ワイド画面</PresentationFormat>
  <Paragraphs>144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Meiryo</vt:lpstr>
      <vt:lpstr>Amazon Ember</vt:lpstr>
      <vt:lpstr>Arial</vt:lpstr>
      <vt:lpstr>Calibri</vt:lpstr>
      <vt:lpstr>Office Theme</vt:lpstr>
      <vt:lpstr>PowerPoint プレゼンテーション</vt:lpstr>
      <vt:lpstr>Agenda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KATAOKA, SHOTARO</cp:lastModifiedBy>
  <cp:revision>2</cp:revision>
  <dcterms:created xsi:type="dcterms:W3CDTF">2013-01-27T09:14:16Z</dcterms:created>
  <dcterms:modified xsi:type="dcterms:W3CDTF">2026-04-01T14:32:50Z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2026-04-01T14:32:50Z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6b18774a-a26d-422a-8e95-ce014fd75d45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